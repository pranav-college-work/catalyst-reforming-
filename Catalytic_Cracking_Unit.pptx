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12192000"/>
  <p:embeddedFontLst>
    <p:embeddedFont>
      <p:font typeface="Inter"/>
      <p:regular r:id="rId23"/>
      <p:bold r:id="rId24"/>
      <p:italic r:id="rId25"/>
      <p:boldItalic r:id="rId26"/>
    </p:embeddedFont>
    <p:embeddedFont>
      <p:font typeface="Plus Jakarta Sans"/>
      <p:regular r:id="rId27"/>
      <p:bold r:id="rId28"/>
      <p:italic r:id="rId29"/>
      <p:boldItalic r:id="rId30"/>
    </p:embeddedFont>
    <p:embeddedFont>
      <p:font typeface="Space Grotesk"/>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1B7515-B355-47EC-AE86-062E2AFBCA27}">
  <a:tblStyle styleId="{3F1B7515-B355-47EC-AE86-062E2AFBCA2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Inter-bold.fntdata"/><Relationship Id="rId23" Type="http://schemas.openxmlformats.org/officeDocument/2006/relationships/font" Target="fonts/Inter-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boldItalic.fntdata"/><Relationship Id="rId25" Type="http://schemas.openxmlformats.org/officeDocument/2006/relationships/font" Target="fonts/Inter-italic.fntdata"/><Relationship Id="rId28" Type="http://schemas.openxmlformats.org/officeDocument/2006/relationships/font" Target="fonts/PlusJakartaSans-bold.fntdata"/><Relationship Id="rId27" Type="http://schemas.openxmlformats.org/officeDocument/2006/relationships/font" Target="fonts/PlusJakarta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usJakartaSans-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paceGrotesk-regular.fntdata"/><Relationship Id="rId30" Type="http://schemas.openxmlformats.org/officeDocument/2006/relationships/font" Target="fonts/PlusJakartaSans-boldItalic.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SpaceGrotesk-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h41413db4e6fe370a_7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 name="Google Shape;13;h41413db4e6fe370a_7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h41413db4e6fe370a_7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h86d41833b320e2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 name="Google Shape;19;h86d41833b320e22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 name="Google Shape;20;h86d41833b320e22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h86d41833b320e22_1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 name="Google Shape;25;h86d41833b320e22_1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h86d41833b320e22_1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h86d41833b320e22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 name="Google Shape;33;h86d41833b320e22_1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h86d41833b320e22_1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h2a7bf6c6d2f5b1d8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 name="Google Shape;39;h2a7bf6c6d2f5b1d8_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 name="Google Shape;40;h2a7bf6c6d2f5b1d8_0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h41413db4e6fe370a_1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 name="Google Shape;45;h41413db4e6fe370a_1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h41413db4e6fe370a_1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h41413db4e6fe370a_1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 name="Google Shape;51;h41413db4e6fe370a_1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h41413db4e6fe370a_1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h41413db4e6fe370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 name="Google Shape;57;h41413db4e6fe370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h41413db4e6fe370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19f0effd9e44501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2" name="Google Shape;82;h19f0effd9e44501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h19f0effd9e445015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2a7bf6c6d2f5b1d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7" name="Google Shape;127;h2a7bf6c6d2f5b1d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h2a7bf6c6d2f5b1d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h2a7bf6c6d2f5b1d8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6" name="Google Shape;136;h2a7bf6c6d2f5b1d8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h2a7bf6c6d2f5b1d8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Lecture: Cracking and Reforming 1, supplied course PDF, pp. 9–13 and 24. Fahim, M. A., Al-Sahhaf, T. A., and Elkilani, A. S. (2010). Fundamentals of Petroleum Refining. Elsevier. Chapter 8, pp. 199–235. Printed page numbers are used. PDF page = printed page + 17., sections 8.5 and 8.6. The equations are representative balanced examples rather than a unique overall FCC stoichiometry. Cracking of paraffins yields a smaller paraffin and olefin. Hydrogen transfer is illustrated using three propene molecules and a cyclohexane donor: three propane molecules plus benzene result. Isomerisation enriches branched hydrocarbons. Aromatic side chains can crack while aromatic rings are comparatively resistant. Condensation and hydrogen loss lead to polyaromatic coke. Regeneration equation treats coke as carbon for simplicity; real coke contains hydrogen and other elements and partial CO combustion can occur. Overall cracking is endothermic and coke combustion is exothermic.</a:t>
            </a:r>
            <a:endParaRPr/>
          </a:p>
        </p:txBody>
      </p:sp>
      <p:sp>
        <p:nvSpPr>
          <p:cNvPr id="145" name="Google Shape;14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Lecture: Cracking and Reforming 1, supplied course PDF, pp. 11–12. Fahim, M. A., Al-Sahhaf, T. A., and Elkilani, A. S. (2010). Fundamentals of Petroleum Refining. Elsevier. Chapter 8, pp. 199–235. Printed page numbers are used. PDF page = printed page + 17., equations 8.1–8.3 and 8.10, pp. 204–205. Supplement: Semih Eser, Penn State FSC 432, Ionic Chain Reactions, https://courses.ems.psu.edu/fsc432/node/721 (accessed 29 September 2026). H–Z denotes a Brønsted acid site and Z− the conjugate framework site. The equations illustrate the olefin/carbenium route: protonation, beta scission, hydride transfer and proton return. Initial olefins may come from mild thermal cracking. Direct paraffin activation and carbonium-ion paths also exist. Beta scission breaks the C–C bond between the alpha and beta carbons relative to the charged carbon, creating an olefin and a smaller carbenium ion. Rearrangements via hydride/alkyl shifts favour more stable secondary/tertiary ions and help explain branched products. Hydride transfer propagates the ionic chain, whereas deprotonation restores a Brønsted site. Carbonium and carbenium are distinguished in modern terminology; the lecture sometimes uses carbonium broadly.</a:t>
            </a:r>
            <a:endParaRPr/>
          </a:p>
        </p:txBody>
      </p:sp>
      <p:sp>
        <p:nvSpPr>
          <p:cNvPr id="164" name="Google Shape;16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h10f8256a9444aff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2" name="Google Shape;192;h10f8256a9444aff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h10f8256a9444aff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41413db4e6fe370a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9" name="Google Shape;199;h41413db4e6fe370a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h41413db4e6fe370a_1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h10f8256a9444aff6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6" name="Google Shape;206;h10f8256a9444aff6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h10f8256a9444aff6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10f8256a9444aff6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7" name="Google Shape;227;h10f8256a9444aff6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h10f8256a9444aff6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pranav-college-work.github.io/Catalyst-Reforming-/sources.html#lecture" TargetMode="Externa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14.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28.png"/><Relationship Id="rId9"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27.png"/><Relationship Id="rId7" Type="http://schemas.openxmlformats.org/officeDocument/2006/relationships/image" Target="../media/image22.png"/><Relationship Id="rId8"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id="16" name="Google Shape;16;p3"/>
          <p:cNvPicPr preferRelativeResize="0"/>
          <p:nvPr/>
        </p:nvPicPr>
        <p:blipFill>
          <a:blip r:embed="rId3">
            <a:alphaModFix/>
          </a:blip>
          <a:stretch>
            <a:fillRect/>
          </a:stretch>
        </p:blipFill>
        <p:spPr>
          <a:xfrm>
            <a:off x="0" y="0"/>
            <a:ext cx="12191998" cy="69210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pic>
        <p:nvPicPr>
          <p:cNvPr id="22" name="Google Shape;22;p4"/>
          <p:cNvPicPr preferRelativeResize="0"/>
          <p:nvPr/>
        </p:nvPicPr>
        <p:blipFill>
          <a:blip r:embed="rId3">
            <a:alphaModFix/>
          </a:blip>
          <a:stretch>
            <a:fillRect/>
          </a:stretch>
        </p:blipFill>
        <p:spPr>
          <a:xfrm>
            <a:off x="1328325" y="0"/>
            <a:ext cx="9486124"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pic>
        <p:nvPicPr>
          <p:cNvPr id="28" name="Google Shape;28;p5"/>
          <p:cNvPicPr preferRelativeResize="0"/>
          <p:nvPr/>
        </p:nvPicPr>
        <p:blipFill>
          <a:blip r:embed="rId3">
            <a:alphaModFix/>
          </a:blip>
          <a:stretch>
            <a:fillRect/>
          </a:stretch>
        </p:blipFill>
        <p:spPr>
          <a:xfrm>
            <a:off x="0" y="0"/>
            <a:ext cx="8341699" cy="5653949"/>
          </a:xfrm>
          <a:prstGeom prst="rect">
            <a:avLst/>
          </a:prstGeom>
          <a:noFill/>
          <a:ln>
            <a:noFill/>
          </a:ln>
        </p:spPr>
      </p:pic>
      <p:pic>
        <p:nvPicPr>
          <p:cNvPr id="29" name="Google Shape;29;p5"/>
          <p:cNvPicPr preferRelativeResize="0"/>
          <p:nvPr/>
        </p:nvPicPr>
        <p:blipFill>
          <a:blip r:embed="rId4">
            <a:alphaModFix/>
          </a:blip>
          <a:stretch>
            <a:fillRect/>
          </a:stretch>
        </p:blipFill>
        <p:spPr>
          <a:xfrm>
            <a:off x="0" y="5653950"/>
            <a:ext cx="8277224" cy="1204050"/>
          </a:xfrm>
          <a:prstGeom prst="rect">
            <a:avLst/>
          </a:prstGeom>
          <a:noFill/>
          <a:ln>
            <a:noFill/>
          </a:ln>
        </p:spPr>
      </p:pic>
      <p:pic>
        <p:nvPicPr>
          <p:cNvPr id="30" name="Google Shape;30;p5"/>
          <p:cNvPicPr preferRelativeResize="0"/>
          <p:nvPr/>
        </p:nvPicPr>
        <p:blipFill>
          <a:blip r:embed="rId5">
            <a:alphaModFix/>
          </a:blip>
          <a:stretch>
            <a:fillRect/>
          </a:stretch>
        </p:blipFill>
        <p:spPr>
          <a:xfrm>
            <a:off x="8277225" y="730951"/>
            <a:ext cx="3914775" cy="54258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pic>
        <p:nvPicPr>
          <p:cNvPr id="36" name="Google Shape;36;p6"/>
          <p:cNvPicPr preferRelativeResize="0"/>
          <p:nvPr/>
        </p:nvPicPr>
        <p:blipFill rotWithShape="1">
          <a:blip r:embed="rId3">
            <a:alphaModFix/>
          </a:blip>
          <a:srcRect b="3568" l="0" r="0" t="0"/>
          <a:stretch/>
        </p:blipFill>
        <p:spPr>
          <a:xfrm>
            <a:off x="152400" y="152400"/>
            <a:ext cx="11610575" cy="62750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pic>
        <p:nvPicPr>
          <p:cNvPr id="42" name="Google Shape;42;p7" title="ChatGPT Image Sep 30, 2026, 09_13_54 PM.png"/>
          <p:cNvPicPr preferRelativeResize="0"/>
          <p:nvPr/>
        </p:nvPicPr>
        <p:blipFill>
          <a:blip r:embed="rId3">
            <a:alphaModFix/>
          </a:blip>
          <a:stretch>
            <a:fillRect/>
          </a:stretch>
        </p:blipFill>
        <p:spPr>
          <a:xfrm>
            <a:off x="152400" y="152400"/>
            <a:ext cx="11643946" cy="65532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pic>
        <p:nvPicPr>
          <p:cNvPr id="48" name="Google Shape;48;p8" title="ChatGPT Image Sep 30, 2026, 09_19_15 PM.png"/>
          <p:cNvPicPr preferRelativeResize="0"/>
          <p:nvPr/>
        </p:nvPicPr>
        <p:blipFill>
          <a:blip r:embed="rId3">
            <a:alphaModFix/>
          </a:blip>
          <a:stretch>
            <a:fillRect/>
          </a:stretch>
        </p:blipFill>
        <p:spPr>
          <a:xfrm>
            <a:off x="152400" y="152400"/>
            <a:ext cx="9829801" cy="65532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9" title="ChatGPT Image Sep 30, 2026, 09_27_01 PM.png"/>
          <p:cNvPicPr preferRelativeResize="0"/>
          <p:nvPr/>
        </p:nvPicPr>
        <p:blipFill>
          <a:blip r:embed="rId3">
            <a:alphaModFix/>
          </a:blip>
          <a:stretch>
            <a:fillRect/>
          </a:stretch>
        </p:blipFill>
        <p:spPr>
          <a:xfrm>
            <a:off x="152400" y="152400"/>
            <a:ext cx="9829801" cy="65532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0"/>
          <p:cNvSpPr/>
          <p:nvPr/>
        </p:nvSpPr>
        <p:spPr>
          <a:xfrm>
            <a:off x="2218912" y="2287077"/>
            <a:ext cx="2773200" cy="2158500"/>
          </a:xfrm>
          <a:prstGeom prst="roundRect">
            <a:avLst>
              <a:gd fmla="val 5429" name="adj"/>
            </a:avLst>
          </a:prstGeom>
          <a:solidFill>
            <a:srgbClr val="FFFFFF"/>
          </a:solidFill>
          <a:ln cap="flat" cmpd="sng" w="43675">
            <a:solidFill>
              <a:srgbClr val="3B82F6"/>
            </a:solidFill>
            <a:prstDash val="solid"/>
            <a:round/>
            <a:headEnd len="sm" w="sm" type="none"/>
            <a:tailEnd len="sm" w="sm" type="none"/>
          </a:ln>
        </p:spPr>
        <p:txBody>
          <a:bodyPr anchorCtr="0" anchor="ctr" bIns="52375" lIns="104775" spcFirstLastPara="1" rIns="104775" wrap="square" tIns="52375">
            <a:noAutofit/>
          </a:bodyPr>
          <a:lstStyle/>
          <a:p>
            <a:pPr indent="0" lvl="0" marL="0" marR="0" rtl="0" algn="ctr">
              <a:spcBef>
                <a:spcPts val="0"/>
              </a:spcBef>
              <a:spcAft>
                <a:spcPts val="0"/>
              </a:spcAft>
              <a:buNone/>
            </a:pPr>
            <a:r>
              <a:t/>
            </a:r>
            <a:endParaRPr b="0" i="0" sz="2063" u="none" cap="none" strike="noStrike">
              <a:solidFill>
                <a:srgbClr val="000000"/>
              </a:solidFill>
              <a:latin typeface="Calibri"/>
              <a:ea typeface="Calibri"/>
              <a:cs typeface="Calibri"/>
              <a:sym typeface="Calibri"/>
            </a:endParaRPr>
          </a:p>
        </p:txBody>
      </p:sp>
      <p:sp>
        <p:nvSpPr>
          <p:cNvPr id="61" name="Google Shape;61;p10"/>
          <p:cNvSpPr/>
          <p:nvPr/>
        </p:nvSpPr>
        <p:spPr>
          <a:xfrm>
            <a:off x="7111188" y="2251802"/>
            <a:ext cx="2772900" cy="2158500"/>
          </a:xfrm>
          <a:prstGeom prst="roundRect">
            <a:avLst>
              <a:gd fmla="val 5429" name="adj"/>
            </a:avLst>
          </a:prstGeom>
          <a:solidFill>
            <a:srgbClr val="FFFFFF"/>
          </a:solidFill>
          <a:ln cap="flat" cmpd="sng" w="43675">
            <a:solidFill>
              <a:srgbClr val="F97316"/>
            </a:solidFill>
            <a:prstDash val="solid"/>
            <a:round/>
            <a:headEnd len="sm" w="sm" type="none"/>
            <a:tailEnd len="sm" w="sm" type="none"/>
          </a:ln>
        </p:spPr>
        <p:txBody>
          <a:bodyPr anchorCtr="0" anchor="ctr" bIns="52375" lIns="104775" spcFirstLastPara="1" rIns="104775" wrap="square" tIns="52375">
            <a:noAutofit/>
          </a:bodyPr>
          <a:lstStyle/>
          <a:p>
            <a:pPr indent="0" lvl="0" marL="0" marR="0" rtl="0" algn="ctr">
              <a:spcBef>
                <a:spcPts val="0"/>
              </a:spcBef>
              <a:spcAft>
                <a:spcPts val="0"/>
              </a:spcAft>
              <a:buNone/>
            </a:pPr>
            <a:r>
              <a:t/>
            </a:r>
            <a:endParaRPr b="0" i="0" sz="2063" u="none" cap="none" strike="noStrike">
              <a:solidFill>
                <a:srgbClr val="000000"/>
              </a:solidFill>
              <a:latin typeface="Calibri"/>
              <a:ea typeface="Calibri"/>
              <a:cs typeface="Calibri"/>
              <a:sym typeface="Calibri"/>
            </a:endParaRPr>
          </a:p>
        </p:txBody>
      </p:sp>
      <p:sp>
        <p:nvSpPr>
          <p:cNvPr id="62" name="Google Shape;62;p10"/>
          <p:cNvSpPr/>
          <p:nvPr/>
        </p:nvSpPr>
        <p:spPr>
          <a:xfrm>
            <a:off x="2158255" y="4601875"/>
            <a:ext cx="2863500" cy="2158500"/>
          </a:xfrm>
          <a:prstGeom prst="roundRect">
            <a:avLst>
              <a:gd fmla="val 5607" name="adj"/>
            </a:avLst>
          </a:prstGeom>
          <a:solidFill>
            <a:srgbClr val="FFFFFF"/>
          </a:solidFill>
          <a:ln cap="flat" cmpd="sng" w="45100">
            <a:solidFill>
              <a:srgbClr val="10B981"/>
            </a:solidFill>
            <a:prstDash val="solid"/>
            <a:round/>
            <a:headEnd len="sm" w="sm" type="none"/>
            <a:tailEnd len="sm" w="sm" type="none"/>
          </a:ln>
        </p:spPr>
        <p:txBody>
          <a:bodyPr anchorCtr="0" anchor="ctr" bIns="54075" lIns="108200" spcFirstLastPara="1" rIns="108200" wrap="square" tIns="54075">
            <a:noAutofit/>
          </a:bodyPr>
          <a:lstStyle/>
          <a:p>
            <a:pPr indent="0" lvl="0" marL="0" marR="0" rtl="0" algn="ctr">
              <a:spcBef>
                <a:spcPts val="0"/>
              </a:spcBef>
              <a:spcAft>
                <a:spcPts val="0"/>
              </a:spcAft>
              <a:buNone/>
            </a:pPr>
            <a:r>
              <a:t/>
            </a:r>
            <a:endParaRPr b="0" i="0" sz="2130" u="none" cap="none" strike="noStrike">
              <a:solidFill>
                <a:srgbClr val="000000"/>
              </a:solidFill>
              <a:latin typeface="Calibri"/>
              <a:ea typeface="Calibri"/>
              <a:cs typeface="Calibri"/>
              <a:sym typeface="Calibri"/>
            </a:endParaRPr>
          </a:p>
        </p:txBody>
      </p:sp>
      <p:sp>
        <p:nvSpPr>
          <p:cNvPr id="63" name="Google Shape;63;p10"/>
          <p:cNvSpPr/>
          <p:nvPr/>
        </p:nvSpPr>
        <p:spPr>
          <a:xfrm>
            <a:off x="7141475" y="4593575"/>
            <a:ext cx="2772900" cy="2158500"/>
          </a:xfrm>
          <a:prstGeom prst="roundRect">
            <a:avLst>
              <a:gd fmla="val 5607" name="adj"/>
            </a:avLst>
          </a:prstGeom>
          <a:solidFill>
            <a:srgbClr val="FFFFFF"/>
          </a:solidFill>
          <a:ln cap="flat" cmpd="sng" w="45100">
            <a:solidFill>
              <a:srgbClr val="9900FF"/>
            </a:solidFill>
            <a:prstDash val="solid"/>
            <a:round/>
            <a:headEnd len="sm" w="sm" type="none"/>
            <a:tailEnd len="sm" w="sm" type="none"/>
          </a:ln>
        </p:spPr>
        <p:txBody>
          <a:bodyPr anchorCtr="0" anchor="ctr" bIns="54075" lIns="108200" spcFirstLastPara="1" rIns="108200" wrap="square" tIns="54075">
            <a:noAutofit/>
          </a:bodyPr>
          <a:lstStyle/>
          <a:p>
            <a:pPr indent="0" lvl="0" marL="0" marR="0" rtl="0" algn="ctr">
              <a:spcBef>
                <a:spcPts val="0"/>
              </a:spcBef>
              <a:spcAft>
                <a:spcPts val="0"/>
              </a:spcAft>
              <a:buNone/>
            </a:pPr>
            <a:r>
              <a:t/>
            </a:r>
            <a:endParaRPr b="0" i="0" sz="2130" u="none" cap="none" strike="noStrike">
              <a:solidFill>
                <a:srgbClr val="000000"/>
              </a:solidFill>
              <a:latin typeface="Calibri"/>
              <a:ea typeface="Calibri"/>
              <a:cs typeface="Calibri"/>
              <a:sym typeface="Calibri"/>
            </a:endParaRPr>
          </a:p>
        </p:txBody>
      </p:sp>
      <p:sp>
        <p:nvSpPr>
          <p:cNvPr id="64" name="Google Shape;64;p10"/>
          <p:cNvSpPr txBox="1"/>
          <p:nvPr/>
        </p:nvSpPr>
        <p:spPr>
          <a:xfrm>
            <a:off x="-190500" y="454715"/>
            <a:ext cx="125730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600" u="none" cap="none" strike="noStrike">
                <a:solidFill>
                  <a:srgbClr val="0F172A"/>
                </a:solidFill>
                <a:latin typeface="Inter"/>
                <a:ea typeface="Inter"/>
                <a:cs typeface="Inter"/>
                <a:sym typeface="Inter"/>
              </a:rPr>
              <a:t>FCC Operating Conditions</a:t>
            </a:r>
            <a:endParaRPr/>
          </a:p>
        </p:txBody>
      </p:sp>
      <p:sp>
        <p:nvSpPr>
          <p:cNvPr id="65" name="Google Shape;65;p10"/>
          <p:cNvSpPr txBox="1"/>
          <p:nvPr/>
        </p:nvSpPr>
        <p:spPr>
          <a:xfrm>
            <a:off x="1333500" y="1106971"/>
            <a:ext cx="95250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64748B"/>
                </a:solidFill>
                <a:latin typeface="Inter"/>
                <a:ea typeface="Inter"/>
                <a:cs typeface="Inter"/>
                <a:sym typeface="Inter"/>
              </a:rPr>
              <a:t>A analysis of critical pressure, temperature and material profiles for optimization of the conversion of heavy gas oil and continuous catalyst regeneration.</a:t>
            </a:r>
            <a:endParaRPr sz="1800"/>
          </a:p>
        </p:txBody>
      </p:sp>
      <p:sp>
        <p:nvSpPr>
          <p:cNvPr id="66" name="Google Shape;66;p10"/>
          <p:cNvSpPr txBox="1"/>
          <p:nvPr/>
        </p:nvSpPr>
        <p:spPr>
          <a:xfrm>
            <a:off x="2705420" y="2701941"/>
            <a:ext cx="2596500" cy="335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178" u="none" cap="none" strike="noStrike">
                <a:solidFill>
                  <a:srgbClr val="3B82F6"/>
                </a:solidFill>
                <a:latin typeface="Inter"/>
                <a:ea typeface="Inter"/>
                <a:cs typeface="Inter"/>
                <a:sym typeface="Inter"/>
              </a:rPr>
              <a:t>Riser Reactor</a:t>
            </a:r>
            <a:endParaRPr sz="2178">
              <a:solidFill>
                <a:srgbClr val="3B82F6"/>
              </a:solidFill>
            </a:endParaRPr>
          </a:p>
        </p:txBody>
      </p:sp>
      <p:sp>
        <p:nvSpPr>
          <p:cNvPr id="67" name="Google Shape;67;p10"/>
          <p:cNvSpPr txBox="1"/>
          <p:nvPr/>
        </p:nvSpPr>
        <p:spPr>
          <a:xfrm>
            <a:off x="2593670" y="3247805"/>
            <a:ext cx="2811300" cy="423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751" u="none" cap="none" strike="noStrike">
                <a:solidFill>
                  <a:srgbClr val="000000"/>
                </a:solidFill>
                <a:latin typeface="Inter"/>
                <a:ea typeface="Inter"/>
                <a:cs typeface="Inter"/>
                <a:sym typeface="Inter"/>
              </a:rPr>
              <a:t>480–550 °C</a:t>
            </a:r>
            <a:endParaRPr sz="1605">
              <a:solidFill>
                <a:srgbClr val="000000"/>
              </a:solidFill>
            </a:endParaRPr>
          </a:p>
        </p:txBody>
      </p:sp>
      <p:sp>
        <p:nvSpPr>
          <p:cNvPr id="68" name="Google Shape;68;p10"/>
          <p:cNvSpPr txBox="1"/>
          <p:nvPr/>
        </p:nvSpPr>
        <p:spPr>
          <a:xfrm>
            <a:off x="2944729" y="3684496"/>
            <a:ext cx="2811300" cy="4233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1" i="0" lang="en-US" sz="2751" u="none" cap="none" strike="noStrike">
                <a:solidFill>
                  <a:srgbClr val="0F172A"/>
                </a:solidFill>
                <a:latin typeface="Inter"/>
                <a:ea typeface="Inter"/>
                <a:cs typeface="Inter"/>
                <a:sym typeface="Inter"/>
              </a:rPr>
              <a:t>1–5 bar</a:t>
            </a:r>
            <a:endParaRPr sz="2751"/>
          </a:p>
        </p:txBody>
      </p:sp>
      <p:sp>
        <p:nvSpPr>
          <p:cNvPr id="69" name="Google Shape;69;p10"/>
          <p:cNvSpPr txBox="1"/>
          <p:nvPr/>
        </p:nvSpPr>
        <p:spPr>
          <a:xfrm>
            <a:off x="2480934" y="4121187"/>
            <a:ext cx="2811300" cy="246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sz="1605"/>
          </a:p>
        </p:txBody>
      </p:sp>
      <p:sp>
        <p:nvSpPr>
          <p:cNvPr id="70" name="Google Shape;70;p10"/>
          <p:cNvSpPr txBox="1"/>
          <p:nvPr/>
        </p:nvSpPr>
        <p:spPr>
          <a:xfrm>
            <a:off x="7673296" y="2666633"/>
            <a:ext cx="2596200" cy="335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178" u="none" cap="none" strike="noStrike">
                <a:solidFill>
                  <a:srgbClr val="F97316"/>
                </a:solidFill>
                <a:latin typeface="Inter"/>
                <a:ea typeface="Inter"/>
                <a:cs typeface="Inter"/>
                <a:sym typeface="Inter"/>
              </a:rPr>
              <a:t>Regenerator</a:t>
            </a:r>
            <a:endParaRPr sz="2178">
              <a:solidFill>
                <a:srgbClr val="F97316"/>
              </a:solidFill>
            </a:endParaRPr>
          </a:p>
        </p:txBody>
      </p:sp>
      <p:sp>
        <p:nvSpPr>
          <p:cNvPr id="71" name="Google Shape;71;p10"/>
          <p:cNvSpPr txBox="1"/>
          <p:nvPr/>
        </p:nvSpPr>
        <p:spPr>
          <a:xfrm>
            <a:off x="7525191" y="3212451"/>
            <a:ext cx="2811000" cy="423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751" u="none" cap="none" strike="noStrike">
                <a:solidFill>
                  <a:srgbClr val="000000"/>
                </a:solidFill>
                <a:latin typeface="Inter"/>
                <a:ea typeface="Inter"/>
                <a:cs typeface="Inter"/>
                <a:sym typeface="Inter"/>
              </a:rPr>
              <a:t>660–760 °C</a:t>
            </a:r>
            <a:endParaRPr sz="1605">
              <a:solidFill>
                <a:srgbClr val="000000"/>
              </a:solidFill>
            </a:endParaRPr>
          </a:p>
        </p:txBody>
      </p:sp>
      <p:sp>
        <p:nvSpPr>
          <p:cNvPr id="72" name="Google Shape;72;p10"/>
          <p:cNvSpPr txBox="1"/>
          <p:nvPr/>
        </p:nvSpPr>
        <p:spPr>
          <a:xfrm>
            <a:off x="7916707" y="3649105"/>
            <a:ext cx="2811000" cy="423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51" u="none" cap="none" strike="noStrike">
                <a:solidFill>
                  <a:srgbClr val="0F172A"/>
                </a:solidFill>
                <a:latin typeface="Inter"/>
                <a:ea typeface="Inter"/>
                <a:cs typeface="Inter"/>
                <a:sym typeface="Inter"/>
              </a:rPr>
              <a:t>1–3 bar</a:t>
            </a:r>
            <a:endParaRPr sz="2751"/>
          </a:p>
        </p:txBody>
      </p:sp>
      <p:sp>
        <p:nvSpPr>
          <p:cNvPr id="73" name="Google Shape;73;p10"/>
          <p:cNvSpPr txBox="1"/>
          <p:nvPr/>
        </p:nvSpPr>
        <p:spPr>
          <a:xfrm>
            <a:off x="2903929" y="4985137"/>
            <a:ext cx="2704800" cy="346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249" u="none" cap="none" strike="noStrike">
                <a:solidFill>
                  <a:srgbClr val="10B981"/>
                </a:solidFill>
                <a:latin typeface="Inter"/>
                <a:ea typeface="Inter"/>
                <a:cs typeface="Inter"/>
                <a:sym typeface="Inter"/>
              </a:rPr>
              <a:t>VGO Feed</a:t>
            </a:r>
            <a:endParaRPr sz="2249">
              <a:solidFill>
                <a:srgbClr val="10B981"/>
              </a:solidFill>
            </a:endParaRPr>
          </a:p>
        </p:txBody>
      </p:sp>
      <p:sp>
        <p:nvSpPr>
          <p:cNvPr id="74" name="Google Shape;74;p10"/>
          <p:cNvSpPr txBox="1"/>
          <p:nvPr/>
        </p:nvSpPr>
        <p:spPr>
          <a:xfrm>
            <a:off x="2585773" y="5489428"/>
            <a:ext cx="2902800" cy="43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40" u="none" cap="none" strike="noStrike">
                <a:solidFill>
                  <a:srgbClr val="000000"/>
                </a:solidFill>
                <a:latin typeface="Inter"/>
                <a:ea typeface="Inter"/>
                <a:cs typeface="Inter"/>
                <a:sym typeface="Inter"/>
              </a:rPr>
              <a:t>316–566 °C</a:t>
            </a:r>
            <a:endParaRPr sz="1657">
              <a:solidFill>
                <a:srgbClr val="000000"/>
              </a:solidFill>
            </a:endParaRPr>
          </a:p>
        </p:txBody>
      </p:sp>
      <p:sp>
        <p:nvSpPr>
          <p:cNvPr id="75" name="Google Shape;75;p10"/>
          <p:cNvSpPr txBox="1"/>
          <p:nvPr/>
        </p:nvSpPr>
        <p:spPr>
          <a:xfrm>
            <a:off x="2628582" y="5892861"/>
            <a:ext cx="2902800" cy="29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94" u="none" cap="none" strike="noStrike">
                <a:solidFill>
                  <a:srgbClr val="64748B"/>
                </a:solidFill>
                <a:latin typeface="Inter"/>
                <a:ea typeface="Inter"/>
                <a:cs typeface="Inter"/>
                <a:sym typeface="Inter"/>
              </a:rPr>
              <a:t>BOILING RANGE</a:t>
            </a:r>
            <a:endParaRPr sz="1894"/>
          </a:p>
        </p:txBody>
      </p:sp>
      <p:sp>
        <p:nvSpPr>
          <p:cNvPr id="76" name="Google Shape;76;p10"/>
          <p:cNvSpPr txBox="1"/>
          <p:nvPr/>
        </p:nvSpPr>
        <p:spPr>
          <a:xfrm>
            <a:off x="7992905" y="4976833"/>
            <a:ext cx="2645400" cy="346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249" u="none" cap="none" strike="noStrike">
                <a:solidFill>
                  <a:srgbClr val="9900FF"/>
                </a:solidFill>
                <a:latin typeface="Inter"/>
                <a:ea typeface="Inter"/>
                <a:cs typeface="Inter"/>
                <a:sym typeface="Inter"/>
              </a:rPr>
              <a:t>Zeolite</a:t>
            </a:r>
            <a:endParaRPr sz="2249">
              <a:solidFill>
                <a:srgbClr val="9900FF"/>
              </a:solidFill>
            </a:endParaRPr>
          </a:p>
        </p:txBody>
      </p:sp>
      <p:sp>
        <p:nvSpPr>
          <p:cNvPr id="77" name="Google Shape;77;p10"/>
          <p:cNvSpPr txBox="1"/>
          <p:nvPr/>
        </p:nvSpPr>
        <p:spPr>
          <a:xfrm>
            <a:off x="7806606" y="5481118"/>
            <a:ext cx="2902800" cy="43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40" u="none" cap="none" strike="noStrike">
                <a:solidFill>
                  <a:srgbClr val="000000"/>
                </a:solidFill>
                <a:latin typeface="Inter"/>
                <a:ea typeface="Inter"/>
                <a:cs typeface="Inter"/>
                <a:sym typeface="Inter"/>
              </a:rPr>
              <a:t>~70 μm</a:t>
            </a:r>
            <a:endParaRPr sz="1657">
              <a:solidFill>
                <a:srgbClr val="000000"/>
              </a:solidFill>
            </a:endParaRPr>
          </a:p>
        </p:txBody>
      </p:sp>
      <p:sp>
        <p:nvSpPr>
          <p:cNvPr id="78" name="Google Shape;78;p10"/>
          <p:cNvSpPr txBox="1"/>
          <p:nvPr/>
        </p:nvSpPr>
        <p:spPr>
          <a:xfrm>
            <a:off x="7720989" y="5884546"/>
            <a:ext cx="2902800" cy="29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94" u="none" cap="none" strike="noStrike">
                <a:solidFill>
                  <a:srgbClr val="64748B"/>
                </a:solidFill>
                <a:latin typeface="Inter"/>
                <a:ea typeface="Inter"/>
                <a:cs typeface="Inter"/>
                <a:sym typeface="Inter"/>
              </a:rPr>
              <a:t>AV</a:t>
            </a:r>
            <a:r>
              <a:rPr b="1" lang="en-US" sz="1894">
                <a:solidFill>
                  <a:srgbClr val="64748B"/>
                </a:solidFill>
                <a:latin typeface="Inter"/>
                <a:ea typeface="Inter"/>
                <a:cs typeface="Inter"/>
                <a:sym typeface="Inter"/>
              </a:rPr>
              <a:t>ERA</a:t>
            </a:r>
            <a:r>
              <a:rPr b="1" i="0" lang="en-US" sz="1894" u="none" cap="none" strike="noStrike">
                <a:solidFill>
                  <a:srgbClr val="64748B"/>
                </a:solidFill>
                <a:latin typeface="Inter"/>
                <a:ea typeface="Inter"/>
                <a:cs typeface="Inter"/>
                <a:sym typeface="Inter"/>
              </a:rPr>
              <a:t>GE SIZE</a:t>
            </a:r>
            <a:endParaRPr sz="1894"/>
          </a:p>
        </p:txBody>
      </p:sp>
      <p:sp>
        <p:nvSpPr>
          <p:cNvPr id="79" name="Google Shape;79;p10"/>
          <p:cNvSpPr txBox="1"/>
          <p:nvPr/>
        </p:nvSpPr>
        <p:spPr>
          <a:xfrm>
            <a:off x="7321439" y="6217375"/>
            <a:ext cx="2902800" cy="255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sz="1657"/>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1"/>
          <p:cNvSpPr/>
          <p:nvPr/>
        </p:nvSpPr>
        <p:spPr>
          <a:xfrm>
            <a:off x="609600" y="1659135"/>
            <a:ext cx="2600400" cy="1356000"/>
          </a:xfrm>
          <a:prstGeom prst="roundRect">
            <a:avLst>
              <a:gd fmla="val 8428"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86" name="Google Shape;86;p11"/>
          <p:cNvSpPr/>
          <p:nvPr/>
        </p:nvSpPr>
        <p:spPr>
          <a:xfrm>
            <a:off x="3400425" y="1659135"/>
            <a:ext cx="2600400" cy="1356000"/>
          </a:xfrm>
          <a:prstGeom prst="roundRect">
            <a:avLst>
              <a:gd fmla="val 8428"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87" name="Google Shape;87;p11"/>
          <p:cNvSpPr/>
          <p:nvPr/>
        </p:nvSpPr>
        <p:spPr>
          <a:xfrm>
            <a:off x="6191250" y="1659135"/>
            <a:ext cx="2600400" cy="1356000"/>
          </a:xfrm>
          <a:prstGeom prst="roundRect">
            <a:avLst>
              <a:gd fmla="val 8428"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88" name="Google Shape;88;p11"/>
          <p:cNvSpPr/>
          <p:nvPr/>
        </p:nvSpPr>
        <p:spPr>
          <a:xfrm>
            <a:off x="8982075" y="1659135"/>
            <a:ext cx="2600400" cy="1356000"/>
          </a:xfrm>
          <a:prstGeom prst="roundRect">
            <a:avLst>
              <a:gd fmla="val 8428"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89" name="Google Shape;89;p11"/>
          <p:cNvSpPr/>
          <p:nvPr/>
        </p:nvSpPr>
        <p:spPr>
          <a:xfrm>
            <a:off x="609600" y="3874591"/>
            <a:ext cx="3530700" cy="1895400"/>
          </a:xfrm>
          <a:prstGeom prst="roundRect">
            <a:avLst>
              <a:gd fmla="val 6030"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90" name="Google Shape;90;p11"/>
          <p:cNvSpPr/>
          <p:nvPr/>
        </p:nvSpPr>
        <p:spPr>
          <a:xfrm>
            <a:off x="4330749" y="3874591"/>
            <a:ext cx="3530700" cy="1895400"/>
          </a:xfrm>
          <a:prstGeom prst="roundRect">
            <a:avLst>
              <a:gd fmla="val 6030"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91" name="Google Shape;91;p11"/>
          <p:cNvSpPr/>
          <p:nvPr/>
        </p:nvSpPr>
        <p:spPr>
          <a:xfrm>
            <a:off x="8051899" y="3874591"/>
            <a:ext cx="3530700" cy="1895400"/>
          </a:xfrm>
          <a:prstGeom prst="roundRect">
            <a:avLst>
              <a:gd fmla="val 6030"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descr="image.png" id="92" name="Google Shape;92;p11"/>
          <p:cNvSpPr/>
          <p:nvPr/>
        </p:nvSpPr>
        <p:spPr>
          <a:xfrm>
            <a:off x="847725" y="4174628"/>
            <a:ext cx="190500" cy="190500"/>
          </a:xfrm>
          <a:prstGeom prst="rect">
            <a:avLst/>
          </a:prstGeom>
          <a:noFill/>
          <a:ln>
            <a:noFill/>
          </a:ln>
        </p:spPr>
      </p:sp>
      <p:sp>
        <p:nvSpPr>
          <p:cNvPr descr="image.png" id="93" name="Google Shape;93;p11"/>
          <p:cNvSpPr/>
          <p:nvPr/>
        </p:nvSpPr>
        <p:spPr>
          <a:xfrm>
            <a:off x="4568874" y="4174628"/>
            <a:ext cx="238125" cy="190500"/>
          </a:xfrm>
          <a:prstGeom prst="rect">
            <a:avLst/>
          </a:prstGeom>
          <a:noFill/>
          <a:ln>
            <a:noFill/>
          </a:ln>
        </p:spPr>
      </p:sp>
      <p:sp>
        <p:nvSpPr>
          <p:cNvPr descr="image.png" id="94" name="Google Shape;94;p11"/>
          <p:cNvSpPr/>
          <p:nvPr/>
        </p:nvSpPr>
        <p:spPr>
          <a:xfrm>
            <a:off x="8290024" y="4174628"/>
            <a:ext cx="190500" cy="190500"/>
          </a:xfrm>
          <a:prstGeom prst="rect">
            <a:avLst/>
          </a:prstGeom>
          <a:noFill/>
          <a:ln>
            <a:noFill/>
          </a:ln>
        </p:spPr>
      </p:sp>
      <p:sp>
        <p:nvSpPr>
          <p:cNvPr id="95" name="Google Shape;95;p11"/>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Space Grotesk"/>
                <a:ea typeface="Space Grotesk"/>
                <a:cs typeface="Space Grotesk"/>
                <a:sym typeface="Space Grotesk"/>
              </a:rPr>
              <a:t>REFINERY PROCESS SPECIFICATIONS</a:t>
            </a:r>
            <a:endParaRPr/>
          </a:p>
        </p:txBody>
      </p:sp>
      <p:sp>
        <p:nvSpPr>
          <p:cNvPr id="96" name="Google Shape;96;p11"/>
          <p:cNvSpPr txBox="1"/>
          <p:nvPr/>
        </p:nvSpPr>
        <p:spPr>
          <a:xfrm>
            <a:off x="609600" y="704850"/>
            <a:ext cx="11582400" cy="415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700" u="none" cap="none" strike="noStrike">
                <a:solidFill>
                  <a:srgbClr val="0F172A"/>
                </a:solidFill>
                <a:latin typeface="Plus Jakarta Sans"/>
                <a:ea typeface="Plus Jakarta Sans"/>
                <a:cs typeface="Plus Jakarta Sans"/>
                <a:sym typeface="Plus Jakarta Sans"/>
              </a:rPr>
              <a:t>Fluid Catalytic Cracking (FCC)</a:t>
            </a:r>
            <a:endParaRPr/>
          </a:p>
        </p:txBody>
      </p:sp>
      <p:sp>
        <p:nvSpPr>
          <p:cNvPr id="97" name="Google Shape;97;p11"/>
          <p:cNvSpPr txBox="1"/>
          <p:nvPr/>
        </p:nvSpPr>
        <p:spPr>
          <a:xfrm>
            <a:off x="609600" y="1173360"/>
            <a:ext cx="115824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64748B"/>
                </a:solidFill>
                <a:latin typeface="Plus Jakarta Sans"/>
                <a:ea typeface="Plus Jakarta Sans"/>
                <a:cs typeface="Plus Jakarta Sans"/>
                <a:sym typeface="Plus Jakarta Sans"/>
              </a:rPr>
              <a:t>Key operating window, catalyst regime, and yield distribution</a:t>
            </a:r>
            <a:endParaRPr/>
          </a:p>
        </p:txBody>
      </p:sp>
      <p:sp>
        <p:nvSpPr>
          <p:cNvPr id="98" name="Google Shape;98;p11"/>
          <p:cNvSpPr txBox="1"/>
          <p:nvPr/>
        </p:nvSpPr>
        <p:spPr>
          <a:xfrm>
            <a:off x="847725" y="1859160"/>
            <a:ext cx="26550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EA580C"/>
                </a:solidFill>
                <a:latin typeface="Space Grotesk"/>
                <a:ea typeface="Space Grotesk"/>
                <a:cs typeface="Space Grotesk"/>
                <a:sym typeface="Space Grotesk"/>
              </a:rPr>
              <a:t>650–750°C</a:t>
            </a:r>
            <a:endParaRPr/>
          </a:p>
        </p:txBody>
      </p:sp>
      <p:sp>
        <p:nvSpPr>
          <p:cNvPr id="99" name="Google Shape;99;p11"/>
          <p:cNvSpPr txBox="1"/>
          <p:nvPr/>
        </p:nvSpPr>
        <p:spPr>
          <a:xfrm>
            <a:off x="847725" y="2240160"/>
            <a:ext cx="2655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64748B"/>
                </a:solidFill>
                <a:latin typeface="Plus Jakarta Sans"/>
                <a:ea typeface="Plus Jakarta Sans"/>
                <a:cs typeface="Plus Jakarta Sans"/>
                <a:sym typeface="Plus Jakarta Sans"/>
              </a:rPr>
              <a:t>REGENERATOR TEMP</a:t>
            </a:r>
            <a:endParaRPr/>
          </a:p>
        </p:txBody>
      </p:sp>
      <p:sp>
        <p:nvSpPr>
          <p:cNvPr id="100" name="Google Shape;100;p11"/>
          <p:cNvSpPr txBox="1"/>
          <p:nvPr/>
        </p:nvSpPr>
        <p:spPr>
          <a:xfrm>
            <a:off x="847725" y="2468760"/>
            <a:ext cx="2219400" cy="371700"/>
          </a:xfrm>
          <a:prstGeom prst="rect">
            <a:avLst/>
          </a:prstGeom>
          <a:noFill/>
          <a:ln>
            <a:noFill/>
          </a:ln>
        </p:spPr>
        <p:txBody>
          <a:bodyPr anchorCtr="0" anchor="t" bIns="0" lIns="0" spcFirstLastPara="1" rIns="0" wrap="square" tIns="0">
            <a:spAutoFit/>
          </a:bodyPr>
          <a:lstStyle/>
          <a:p>
            <a:pPr indent="0" lvl="0" marL="0" marR="0" rtl="0" algn="l">
              <a:lnSpc>
                <a:spcPct val="129904"/>
              </a:lnSpc>
              <a:spcBef>
                <a:spcPts val="0"/>
              </a:spcBef>
              <a:spcAft>
                <a:spcPts val="0"/>
              </a:spcAft>
              <a:buNone/>
            </a:pPr>
            <a:r>
              <a:rPr b="0" i="0" lang="en-US" sz="1050" u="none" cap="none" strike="noStrike">
                <a:solidFill>
                  <a:srgbClr val="0F172A"/>
                </a:solidFill>
                <a:latin typeface="Plus Jakarta Sans"/>
                <a:ea typeface="Plus Jakarta Sans"/>
                <a:cs typeface="Plus Jakarta Sans"/>
                <a:sym typeface="Plus Jakarta Sans"/>
              </a:rPr>
              <a:t>Coke combustion &amp; catalyst reheating</a:t>
            </a:r>
            <a:endParaRPr/>
          </a:p>
        </p:txBody>
      </p:sp>
      <p:sp>
        <p:nvSpPr>
          <p:cNvPr id="101" name="Google Shape;101;p11"/>
          <p:cNvSpPr txBox="1"/>
          <p:nvPr/>
        </p:nvSpPr>
        <p:spPr>
          <a:xfrm>
            <a:off x="3638550" y="1859160"/>
            <a:ext cx="26550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0284C7"/>
                </a:solidFill>
                <a:latin typeface="Space Grotesk"/>
                <a:ea typeface="Space Grotesk"/>
                <a:cs typeface="Space Grotesk"/>
                <a:sym typeface="Space Grotesk"/>
              </a:rPr>
              <a:t>1.5–3 bar</a:t>
            </a:r>
            <a:endParaRPr/>
          </a:p>
        </p:txBody>
      </p:sp>
      <p:sp>
        <p:nvSpPr>
          <p:cNvPr id="102" name="Google Shape;102;p11"/>
          <p:cNvSpPr txBox="1"/>
          <p:nvPr/>
        </p:nvSpPr>
        <p:spPr>
          <a:xfrm>
            <a:off x="3638550" y="2240160"/>
            <a:ext cx="2655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64748B"/>
                </a:solidFill>
                <a:latin typeface="Plus Jakarta Sans"/>
                <a:ea typeface="Plus Jakarta Sans"/>
                <a:cs typeface="Plus Jakarta Sans"/>
                <a:sym typeface="Plus Jakarta Sans"/>
              </a:rPr>
              <a:t>OPERATING PRESSURE</a:t>
            </a:r>
            <a:endParaRPr/>
          </a:p>
        </p:txBody>
      </p:sp>
      <p:sp>
        <p:nvSpPr>
          <p:cNvPr id="103" name="Google Shape;103;p11"/>
          <p:cNvSpPr txBox="1"/>
          <p:nvPr/>
        </p:nvSpPr>
        <p:spPr>
          <a:xfrm>
            <a:off x="3638550" y="2468760"/>
            <a:ext cx="2655000" cy="161700"/>
          </a:xfrm>
          <a:prstGeom prst="rect">
            <a:avLst/>
          </a:prstGeom>
          <a:noFill/>
          <a:ln>
            <a:noFill/>
          </a:ln>
        </p:spPr>
        <p:txBody>
          <a:bodyPr anchorCtr="0" anchor="t" bIns="0" lIns="0" spcFirstLastPara="1" rIns="0" wrap="square" tIns="0">
            <a:spAutoFit/>
          </a:bodyPr>
          <a:lstStyle/>
          <a:p>
            <a:pPr indent="0" lvl="0" marL="0" marR="0" rtl="0" algn="l">
              <a:lnSpc>
                <a:spcPct val="129904"/>
              </a:lnSpc>
              <a:spcBef>
                <a:spcPts val="0"/>
              </a:spcBef>
              <a:spcAft>
                <a:spcPts val="0"/>
              </a:spcAft>
              <a:buNone/>
            </a:pPr>
            <a:r>
              <a:rPr b="0" i="0" lang="en-US" sz="1050" u="none" cap="none" strike="noStrike">
                <a:solidFill>
                  <a:srgbClr val="0F172A"/>
                </a:solidFill>
                <a:latin typeface="Plus Jakarta Sans"/>
                <a:ea typeface="Plus Jakarta Sans"/>
                <a:cs typeface="Plus Jakarta Sans"/>
                <a:sym typeface="Plus Jakarta Sans"/>
              </a:rPr>
              <a:t>Vapor expansion &amp; riser transport</a:t>
            </a:r>
            <a:endParaRPr/>
          </a:p>
        </p:txBody>
      </p:sp>
      <p:sp>
        <p:nvSpPr>
          <p:cNvPr id="104" name="Google Shape;104;p11"/>
          <p:cNvSpPr txBox="1"/>
          <p:nvPr/>
        </p:nvSpPr>
        <p:spPr>
          <a:xfrm>
            <a:off x="6429375" y="1859160"/>
            <a:ext cx="26550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0F172A"/>
                </a:solidFill>
                <a:latin typeface="Space Grotesk"/>
                <a:ea typeface="Space Grotesk"/>
                <a:cs typeface="Space Grotesk"/>
                <a:sym typeface="Space Grotesk"/>
              </a:rPr>
              <a:t>2–5 s</a:t>
            </a:r>
            <a:endParaRPr/>
          </a:p>
        </p:txBody>
      </p:sp>
      <p:sp>
        <p:nvSpPr>
          <p:cNvPr id="105" name="Google Shape;105;p11"/>
          <p:cNvSpPr txBox="1"/>
          <p:nvPr/>
        </p:nvSpPr>
        <p:spPr>
          <a:xfrm>
            <a:off x="6429375" y="2240160"/>
            <a:ext cx="2655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64748B"/>
                </a:solidFill>
                <a:latin typeface="Plus Jakarta Sans"/>
                <a:ea typeface="Plus Jakarta Sans"/>
                <a:cs typeface="Plus Jakarta Sans"/>
                <a:sym typeface="Plus Jakarta Sans"/>
              </a:rPr>
              <a:t>RISER CONTACT TIME</a:t>
            </a:r>
            <a:endParaRPr/>
          </a:p>
        </p:txBody>
      </p:sp>
      <p:sp>
        <p:nvSpPr>
          <p:cNvPr id="106" name="Google Shape;106;p11"/>
          <p:cNvSpPr txBox="1"/>
          <p:nvPr/>
        </p:nvSpPr>
        <p:spPr>
          <a:xfrm>
            <a:off x="6429375" y="2468760"/>
            <a:ext cx="2219400" cy="371700"/>
          </a:xfrm>
          <a:prstGeom prst="rect">
            <a:avLst/>
          </a:prstGeom>
          <a:noFill/>
          <a:ln>
            <a:noFill/>
          </a:ln>
        </p:spPr>
        <p:txBody>
          <a:bodyPr anchorCtr="0" anchor="t" bIns="0" lIns="0" spcFirstLastPara="1" rIns="0" wrap="square" tIns="0">
            <a:spAutoFit/>
          </a:bodyPr>
          <a:lstStyle/>
          <a:p>
            <a:pPr indent="0" lvl="0" marL="0" marR="0" rtl="0" algn="l">
              <a:lnSpc>
                <a:spcPct val="129904"/>
              </a:lnSpc>
              <a:spcBef>
                <a:spcPts val="0"/>
              </a:spcBef>
              <a:spcAft>
                <a:spcPts val="0"/>
              </a:spcAft>
              <a:buNone/>
            </a:pPr>
            <a:r>
              <a:rPr b="0" i="0" lang="en-US" sz="1050" u="none" cap="none" strike="noStrike">
                <a:solidFill>
                  <a:srgbClr val="0F172A"/>
                </a:solidFill>
                <a:latin typeface="Plus Jakarta Sans"/>
                <a:ea typeface="Plus Jakarta Sans"/>
                <a:cs typeface="Plus Jakarta Sans"/>
                <a:sym typeface="Plus Jakarta Sans"/>
              </a:rPr>
              <a:t>Suppresses secondary overcracking</a:t>
            </a:r>
            <a:endParaRPr/>
          </a:p>
        </p:txBody>
      </p:sp>
      <p:sp>
        <p:nvSpPr>
          <p:cNvPr id="107" name="Google Shape;107;p11"/>
          <p:cNvSpPr txBox="1"/>
          <p:nvPr/>
        </p:nvSpPr>
        <p:spPr>
          <a:xfrm>
            <a:off x="9220200" y="1859160"/>
            <a:ext cx="26550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16A34A"/>
                </a:solidFill>
                <a:latin typeface="Space Grotesk"/>
                <a:ea typeface="Space Grotesk"/>
                <a:cs typeface="Space Grotesk"/>
                <a:sym typeface="Space Grotesk"/>
              </a:rPr>
              <a:t>65–80%</a:t>
            </a:r>
            <a:endParaRPr/>
          </a:p>
        </p:txBody>
      </p:sp>
      <p:sp>
        <p:nvSpPr>
          <p:cNvPr id="108" name="Google Shape;108;p11"/>
          <p:cNvSpPr txBox="1"/>
          <p:nvPr/>
        </p:nvSpPr>
        <p:spPr>
          <a:xfrm>
            <a:off x="9220200" y="2240160"/>
            <a:ext cx="2655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64748B"/>
                </a:solidFill>
                <a:latin typeface="Plus Jakarta Sans"/>
                <a:ea typeface="Plus Jakarta Sans"/>
                <a:cs typeface="Plus Jakarta Sans"/>
                <a:sym typeface="Plus Jakarta Sans"/>
              </a:rPr>
              <a:t>TYPICAL CONVERSION</a:t>
            </a:r>
            <a:endParaRPr/>
          </a:p>
        </p:txBody>
      </p:sp>
      <p:sp>
        <p:nvSpPr>
          <p:cNvPr id="109" name="Google Shape;109;p11"/>
          <p:cNvSpPr txBox="1"/>
          <p:nvPr/>
        </p:nvSpPr>
        <p:spPr>
          <a:xfrm>
            <a:off x="9220200" y="2468760"/>
            <a:ext cx="2219400" cy="371700"/>
          </a:xfrm>
          <a:prstGeom prst="rect">
            <a:avLst/>
          </a:prstGeom>
          <a:noFill/>
          <a:ln>
            <a:noFill/>
          </a:ln>
        </p:spPr>
        <p:txBody>
          <a:bodyPr anchorCtr="0" anchor="t" bIns="0" lIns="0" spcFirstLastPara="1" rIns="0" wrap="square" tIns="0">
            <a:spAutoFit/>
          </a:bodyPr>
          <a:lstStyle/>
          <a:p>
            <a:pPr indent="0" lvl="0" marL="0" marR="0" rtl="0" algn="l">
              <a:lnSpc>
                <a:spcPct val="129904"/>
              </a:lnSpc>
              <a:spcBef>
                <a:spcPts val="0"/>
              </a:spcBef>
              <a:spcAft>
                <a:spcPts val="0"/>
              </a:spcAft>
              <a:buNone/>
            </a:pPr>
            <a:r>
              <a:rPr b="0" i="0" lang="en-US" sz="1050" u="none" cap="none" strike="noStrike">
                <a:solidFill>
                  <a:srgbClr val="0F172A"/>
                </a:solidFill>
                <a:latin typeface="Plus Jakarta Sans"/>
                <a:ea typeface="Plus Jakarta Sans"/>
                <a:cs typeface="Plus Jakarta Sans"/>
                <a:sym typeface="Plus Jakarta Sans"/>
              </a:rPr>
              <a:t>Gas oil conversion to lighter fractions</a:t>
            </a:r>
            <a:endParaRPr/>
          </a:p>
        </p:txBody>
      </p:sp>
      <p:sp>
        <p:nvSpPr>
          <p:cNvPr id="110" name="Google Shape;110;p11"/>
          <p:cNvSpPr txBox="1"/>
          <p:nvPr/>
        </p:nvSpPr>
        <p:spPr>
          <a:xfrm>
            <a:off x="847725" y="4503241"/>
            <a:ext cx="38181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Zeolite-Based (USY)</a:t>
            </a:r>
            <a:endParaRPr/>
          </a:p>
        </p:txBody>
      </p:sp>
      <p:sp>
        <p:nvSpPr>
          <p:cNvPr id="111" name="Google Shape;111;p11"/>
          <p:cNvSpPr txBox="1"/>
          <p:nvPr/>
        </p:nvSpPr>
        <p:spPr>
          <a:xfrm>
            <a:off x="847725" y="4760416"/>
            <a:ext cx="38181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Ultrastable Y-zeolite active cracking matrix</a:t>
            </a:r>
            <a:endParaRPr/>
          </a:p>
        </p:txBody>
      </p:sp>
      <p:sp>
        <p:nvSpPr>
          <p:cNvPr id="112" name="Google Shape;112;p11"/>
          <p:cNvSpPr txBox="1"/>
          <p:nvPr/>
        </p:nvSpPr>
        <p:spPr>
          <a:xfrm>
            <a:off x="847725" y="5055691"/>
            <a:ext cx="38181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4–10 : 1 Cat-to-Oil Ratio</a:t>
            </a:r>
            <a:endParaRPr/>
          </a:p>
        </p:txBody>
      </p:sp>
      <p:sp>
        <p:nvSpPr>
          <p:cNvPr id="113" name="Google Shape;113;p11"/>
          <p:cNvSpPr txBox="1"/>
          <p:nvPr/>
        </p:nvSpPr>
        <p:spPr>
          <a:xfrm>
            <a:off x="847725" y="5312866"/>
            <a:ext cx="38181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Weight-based continuous circulation rate</a:t>
            </a:r>
            <a:endParaRPr/>
          </a:p>
        </p:txBody>
      </p:sp>
      <p:sp>
        <p:nvSpPr>
          <p:cNvPr id="114" name="Google Shape;114;p11"/>
          <p:cNvSpPr txBox="1"/>
          <p:nvPr/>
        </p:nvSpPr>
        <p:spPr>
          <a:xfrm>
            <a:off x="4568874" y="4503241"/>
            <a:ext cx="38181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Feed Atomization</a:t>
            </a:r>
            <a:endParaRPr/>
          </a:p>
        </p:txBody>
      </p:sp>
      <p:sp>
        <p:nvSpPr>
          <p:cNvPr id="115" name="Google Shape;115;p11"/>
          <p:cNvSpPr txBox="1"/>
          <p:nvPr/>
        </p:nvSpPr>
        <p:spPr>
          <a:xfrm>
            <a:off x="4568874" y="4760416"/>
            <a:ext cx="38181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Disperses heavy feed into micro-droplets</a:t>
            </a:r>
            <a:endParaRPr/>
          </a:p>
        </p:txBody>
      </p:sp>
      <p:sp>
        <p:nvSpPr>
          <p:cNvPr id="116" name="Google Shape;116;p11"/>
          <p:cNvSpPr txBox="1"/>
          <p:nvPr/>
        </p:nvSpPr>
        <p:spPr>
          <a:xfrm>
            <a:off x="4568874" y="5055691"/>
            <a:ext cx="38181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Hydrocarbon Stripping</a:t>
            </a:r>
            <a:endParaRPr/>
          </a:p>
        </p:txBody>
      </p:sp>
      <p:sp>
        <p:nvSpPr>
          <p:cNvPr id="117" name="Google Shape;117;p11"/>
          <p:cNvSpPr txBox="1"/>
          <p:nvPr/>
        </p:nvSpPr>
        <p:spPr>
          <a:xfrm>
            <a:off x="4568874" y="5312866"/>
            <a:ext cx="38181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Recovers entrapped oil before regeneration</a:t>
            </a:r>
            <a:endParaRPr/>
          </a:p>
        </p:txBody>
      </p:sp>
      <p:sp>
        <p:nvSpPr>
          <p:cNvPr id="118" name="Google Shape;118;p11"/>
          <p:cNvSpPr txBox="1"/>
          <p:nvPr/>
        </p:nvSpPr>
        <p:spPr>
          <a:xfrm>
            <a:off x="8290024" y="4503241"/>
            <a:ext cx="38181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Gasoline &amp; LPG / Propylene</a:t>
            </a:r>
            <a:endParaRPr/>
          </a:p>
        </p:txBody>
      </p:sp>
      <p:sp>
        <p:nvSpPr>
          <p:cNvPr id="119" name="Google Shape;119;p11"/>
          <p:cNvSpPr txBox="1"/>
          <p:nvPr/>
        </p:nvSpPr>
        <p:spPr>
          <a:xfrm>
            <a:off x="8290024" y="4760416"/>
            <a:ext cx="38181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High-octane fuels &amp; petrochemical olefins</a:t>
            </a:r>
            <a:endParaRPr/>
          </a:p>
        </p:txBody>
      </p:sp>
      <p:sp>
        <p:nvSpPr>
          <p:cNvPr id="120" name="Google Shape;120;p11"/>
          <p:cNvSpPr txBox="1"/>
          <p:nvPr/>
        </p:nvSpPr>
        <p:spPr>
          <a:xfrm>
            <a:off x="8290024" y="5055691"/>
            <a:ext cx="38181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Heavy Cuts &amp; Off-Gas</a:t>
            </a:r>
            <a:endParaRPr/>
          </a:p>
        </p:txBody>
      </p:sp>
      <p:sp>
        <p:nvSpPr>
          <p:cNvPr id="121" name="Google Shape;121;p11"/>
          <p:cNvSpPr txBox="1"/>
          <p:nvPr/>
        </p:nvSpPr>
        <p:spPr>
          <a:xfrm>
            <a:off x="8290024" y="5312866"/>
            <a:ext cx="38181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Light cycle oil, fuel gas, and coke byproduct</a:t>
            </a:r>
            <a:endParaRPr/>
          </a:p>
        </p:txBody>
      </p:sp>
      <p:sp>
        <p:nvSpPr>
          <p:cNvPr id="122" name="Google Shape;122;p11"/>
          <p:cNvSpPr txBox="1"/>
          <p:nvPr/>
        </p:nvSpPr>
        <p:spPr>
          <a:xfrm>
            <a:off x="1133475" y="4150816"/>
            <a:ext cx="19878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Catalyst System</a:t>
            </a:r>
            <a:endParaRPr/>
          </a:p>
        </p:txBody>
      </p:sp>
      <p:sp>
        <p:nvSpPr>
          <p:cNvPr id="123" name="Google Shape;123;p11"/>
          <p:cNvSpPr txBox="1"/>
          <p:nvPr/>
        </p:nvSpPr>
        <p:spPr>
          <a:xfrm>
            <a:off x="4902249" y="4150816"/>
            <a:ext cx="1812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Steam Medium</a:t>
            </a:r>
            <a:endParaRPr/>
          </a:p>
        </p:txBody>
      </p:sp>
      <p:sp>
        <p:nvSpPr>
          <p:cNvPr id="124" name="Google Shape;124;p11"/>
          <p:cNvSpPr txBox="1"/>
          <p:nvPr/>
        </p:nvSpPr>
        <p:spPr>
          <a:xfrm>
            <a:off x="8575774" y="4150816"/>
            <a:ext cx="1737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Main Products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2"/>
          <p:cNvSpPr txBox="1"/>
          <p:nvPr/>
        </p:nvSpPr>
        <p:spPr>
          <a:xfrm>
            <a:off x="0" y="186500"/>
            <a:ext cx="11153700" cy="541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Clr>
                <a:schemeClr val="dk1"/>
              </a:buClr>
              <a:buSzPts val="1100"/>
              <a:buFont typeface="Arial"/>
              <a:buNone/>
            </a:pPr>
            <a:r>
              <a:rPr b="1" lang="en-US" spc="-11" sz="2300">
                <a:solidFill>
                  <a:srgbClr val="FCE5CD"/>
                </a:solidFill>
                <a:highlight>
                  <a:srgbClr val="0F1113"/>
                </a:highlight>
              </a:rPr>
              <a:t>Feed  &amp; catalsyt :-</a:t>
            </a:r>
            <a:endParaRPr b="1" spc="-11" sz="2300">
              <a:solidFill>
                <a:srgbClr val="FCE5CD"/>
              </a:solidFill>
              <a:highlight>
                <a:srgbClr val="0F1113"/>
              </a:highlight>
            </a:endParaRPr>
          </a:p>
          <a:p>
            <a:pPr indent="0" lvl="0" marL="0" rtl="0" algn="l">
              <a:spcBef>
                <a:spcPts val="0"/>
              </a:spcBef>
              <a:spcAft>
                <a:spcPts val="0"/>
              </a:spcAft>
              <a:buNone/>
            </a:pPr>
            <a:r>
              <a:t/>
            </a:r>
            <a:endParaRPr/>
          </a:p>
        </p:txBody>
      </p:sp>
      <p:sp>
        <p:nvSpPr>
          <p:cNvPr id="131" name="Google Shape;131;p12"/>
          <p:cNvSpPr txBox="1"/>
          <p:nvPr/>
        </p:nvSpPr>
        <p:spPr>
          <a:xfrm>
            <a:off x="541450" y="944475"/>
            <a:ext cx="10846500" cy="2580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lnSpc>
                <a:spcPct val="110000"/>
              </a:lnSpc>
              <a:spcBef>
                <a:spcPts val="800"/>
              </a:spcBef>
              <a:spcAft>
                <a:spcPts val="0"/>
              </a:spcAft>
              <a:buClr>
                <a:schemeClr val="dk1"/>
              </a:buClr>
              <a:buSzPts val="1100"/>
              <a:buFont typeface="Arial"/>
              <a:buNone/>
            </a:pPr>
            <a:r>
              <a:rPr b="1" lang="en-US" sz="1800" u="sng">
                <a:solidFill>
                  <a:schemeClr val="dk1"/>
                </a:solidFill>
                <a:highlight>
                  <a:srgbClr val="FCE5CD"/>
                </a:highlight>
              </a:rPr>
              <a:t>Feed :-</a:t>
            </a:r>
            <a:endParaRPr b="1" sz="1800" u="sng">
              <a:solidFill>
                <a:schemeClr val="dk1"/>
              </a:solidFill>
              <a:highlight>
                <a:srgbClr val="FCE5CD"/>
              </a:highlight>
            </a:endParaRPr>
          </a:p>
          <a:p>
            <a:pPr indent="-228600" lvl="0" marL="482600" marR="25400" rtl="0" algn="l">
              <a:spcBef>
                <a:spcPts val="1300"/>
              </a:spcBef>
              <a:spcAft>
                <a:spcPts val="0"/>
              </a:spcAft>
              <a:buClr>
                <a:schemeClr val="dk1"/>
              </a:buClr>
              <a:buSzPts val="1400"/>
              <a:buNone/>
            </a:pPr>
            <a:r>
              <a:rPr b="1" lang="en-US">
                <a:solidFill>
                  <a:schemeClr val="dk1"/>
                </a:solidFill>
                <a:highlight>
                  <a:schemeClr val="lt1"/>
                </a:highlight>
              </a:rPr>
              <a:t>Main feed:</a:t>
            </a:r>
            <a:r>
              <a:rPr lang="en-US">
                <a:solidFill>
                  <a:schemeClr val="dk1"/>
                </a:solidFill>
                <a:highlight>
                  <a:schemeClr val="lt1"/>
                </a:highlight>
              </a:rPr>
              <a:t> gas oil, </a:t>
            </a:r>
            <a:r>
              <a:rPr b="1" lang="en-US">
                <a:solidFill>
                  <a:schemeClr val="dk1"/>
                </a:solidFill>
                <a:highlight>
                  <a:schemeClr val="lt1"/>
                </a:highlight>
              </a:rPr>
              <a:t>316–566 °C</a:t>
            </a:r>
            <a:r>
              <a:rPr lang="en-US">
                <a:solidFill>
                  <a:schemeClr val="dk1"/>
                </a:solidFill>
                <a:highlight>
                  <a:schemeClr val="lt1"/>
                </a:highlight>
              </a:rPr>
              <a:t> (600–1050 °F); aromatic + naphthenic + paraffinic.</a:t>
            </a:r>
            <a:endParaRPr sz="950">
              <a:solidFill>
                <a:schemeClr val="dk1"/>
              </a:solidFill>
              <a:highlight>
                <a:schemeClr val="lt1"/>
              </a:highlight>
              <a:latin typeface="Courier New"/>
              <a:ea typeface="Courier New"/>
              <a:cs typeface="Courier New"/>
              <a:sym typeface="Courier New"/>
            </a:endParaRPr>
          </a:p>
          <a:p>
            <a:pPr indent="-228600" lvl="0" marL="482600" marR="25400" rtl="0" algn="l">
              <a:spcBef>
                <a:spcPts val="0"/>
              </a:spcBef>
              <a:spcAft>
                <a:spcPts val="0"/>
              </a:spcAft>
              <a:buClr>
                <a:schemeClr val="dk1"/>
              </a:buClr>
              <a:buSzPts val="1300"/>
              <a:buNone/>
            </a:pPr>
            <a:r>
              <a:rPr b="1" lang="en-US">
                <a:solidFill>
                  <a:schemeClr val="dk1"/>
                </a:solidFill>
                <a:highlight>
                  <a:schemeClr val="lt1"/>
                </a:highlight>
              </a:rPr>
              <a:t>Primary:</a:t>
            </a:r>
            <a:r>
              <a:rPr lang="en-US">
                <a:solidFill>
                  <a:schemeClr val="dk1"/>
                </a:solidFill>
                <a:highlight>
                  <a:schemeClr val="lt1"/>
                </a:highlight>
              </a:rPr>
              <a:t> AGO, VGO.</a:t>
            </a:r>
            <a:r>
              <a:rPr lang="en-US">
                <a:solidFill>
                  <a:schemeClr val="dk1"/>
                </a:solidFill>
                <a:highlight>
                  <a:schemeClr val="lt1"/>
                </a:highlight>
                <a:uFill>
                  <a:noFill/>
                </a:uFill>
                <a:hlinkClick r:id="rId3">
                  <a:extLst>
                    <a:ext uri="{A12FA001-AC4F-418D-AE19-62706E023703}">
                      <ahyp:hlinkClr val="tx"/>
                    </a:ext>
                  </a:extLst>
                </a:hlinkClick>
              </a:rPr>
              <a:t> </a:t>
            </a:r>
            <a:r>
              <a:rPr b="1" lang="en-US">
                <a:solidFill>
                  <a:schemeClr val="dk1"/>
                </a:solidFill>
                <a:highlight>
                  <a:schemeClr val="lt1"/>
                </a:highlight>
              </a:rPr>
              <a:t>Others:</a:t>
            </a:r>
            <a:r>
              <a:rPr lang="en-US">
                <a:solidFill>
                  <a:schemeClr val="dk1"/>
                </a:solidFill>
                <a:highlight>
                  <a:schemeClr val="lt1"/>
                </a:highlight>
              </a:rPr>
              <a:t> atmospheric, coker, visbreaker distillates; desulphurised AR; desulphurised + deasphalted VR.</a:t>
            </a:r>
            <a:endParaRPr sz="950">
              <a:solidFill>
                <a:schemeClr val="dk1"/>
              </a:solidFill>
              <a:highlight>
                <a:schemeClr val="lt1"/>
              </a:highlight>
              <a:latin typeface="Courier New"/>
              <a:ea typeface="Courier New"/>
              <a:cs typeface="Courier New"/>
              <a:sym typeface="Courier New"/>
            </a:endParaRPr>
          </a:p>
          <a:p>
            <a:pPr indent="-228600" lvl="0" marL="482600" marR="25400" rtl="0" algn="l">
              <a:spcBef>
                <a:spcPts val="0"/>
              </a:spcBef>
              <a:spcAft>
                <a:spcPts val="0"/>
              </a:spcAft>
              <a:buClr>
                <a:schemeClr val="dk1"/>
              </a:buClr>
              <a:buSzPts val="1400"/>
              <a:buNone/>
            </a:pPr>
            <a:r>
              <a:rPr b="1" lang="en-US">
                <a:solidFill>
                  <a:schemeClr val="dk1"/>
                </a:solidFill>
                <a:highlight>
                  <a:schemeClr val="lt1"/>
                </a:highlight>
              </a:rPr>
              <a:t>Contaminants</a:t>
            </a:r>
            <a:r>
              <a:rPr lang="en-US">
                <a:solidFill>
                  <a:schemeClr val="dk1"/>
                </a:solidFill>
                <a:highlight>
                  <a:schemeClr val="lt1"/>
                </a:highlight>
              </a:rPr>
              <a:t> (S, N, metals) concentrate in heavier fractions → feed normally </a:t>
            </a:r>
            <a:r>
              <a:rPr b="1" lang="en-US">
                <a:solidFill>
                  <a:schemeClr val="dk1"/>
                </a:solidFill>
                <a:highlight>
                  <a:schemeClr val="lt1"/>
                </a:highlight>
              </a:rPr>
              <a:t>hydrotreated</a:t>
            </a:r>
            <a:r>
              <a:rPr lang="en-US">
                <a:solidFill>
                  <a:schemeClr val="dk1"/>
                </a:solidFill>
                <a:highlight>
                  <a:schemeClr val="lt1"/>
                </a:highlight>
              </a:rPr>
              <a:t>.</a:t>
            </a:r>
            <a:endParaRPr sz="950">
              <a:solidFill>
                <a:schemeClr val="dk1"/>
              </a:solidFill>
              <a:highlight>
                <a:schemeClr val="lt1"/>
              </a:highlight>
              <a:latin typeface="Courier New"/>
              <a:ea typeface="Courier New"/>
              <a:cs typeface="Courier New"/>
              <a:sym typeface="Courier New"/>
            </a:endParaRPr>
          </a:p>
          <a:p>
            <a:pPr indent="-228600" lvl="0" marL="457200" rtl="0" algn="l">
              <a:spcBef>
                <a:spcPts val="0"/>
              </a:spcBef>
              <a:spcAft>
                <a:spcPts val="0"/>
              </a:spcAft>
              <a:buClr>
                <a:schemeClr val="dk1"/>
              </a:buClr>
              <a:buSzPts val="1400"/>
              <a:buNone/>
            </a:pPr>
            <a:r>
              <a:rPr b="1" lang="en-US">
                <a:solidFill>
                  <a:schemeClr val="dk1"/>
                </a:solidFill>
                <a:highlight>
                  <a:schemeClr val="lt1"/>
                </a:highlight>
              </a:rPr>
              <a:t>Economics:</a:t>
            </a:r>
            <a:r>
              <a:rPr lang="en-US">
                <a:solidFill>
                  <a:schemeClr val="dk1"/>
                </a:solidFill>
                <a:highlight>
                  <a:schemeClr val="lt1"/>
                </a:highlight>
              </a:rPr>
              <a:t> residual fuel is worth far less than cracking feed → refiners blend AR/VR bottoms into FCC feed.</a:t>
            </a:r>
            <a:endParaRPr>
              <a:solidFill>
                <a:schemeClr val="dk1"/>
              </a:solidFill>
              <a:highlight>
                <a:schemeClr val="lt1"/>
              </a:highlight>
            </a:endParaRPr>
          </a:p>
          <a:p>
            <a:pPr indent="0" lvl="0" marL="0" rtl="0" algn="l">
              <a:spcBef>
                <a:spcPts val="1300"/>
              </a:spcBef>
              <a:spcAft>
                <a:spcPts val="0"/>
              </a:spcAft>
              <a:buNone/>
            </a:pPr>
            <a:r>
              <a:t/>
            </a:r>
            <a:endParaRPr sz="1300">
              <a:solidFill>
                <a:schemeClr val="dk1"/>
              </a:solidFill>
              <a:highlight>
                <a:schemeClr val="lt1"/>
              </a:highlight>
            </a:endParaRPr>
          </a:p>
          <a:p>
            <a:pPr indent="0" lvl="0" marL="0" rtl="0" algn="l">
              <a:spcBef>
                <a:spcPts val="1300"/>
              </a:spcBef>
              <a:spcAft>
                <a:spcPts val="1300"/>
              </a:spcAft>
              <a:buNone/>
            </a:pPr>
            <a:r>
              <a:t/>
            </a:r>
            <a:endParaRPr>
              <a:highlight>
                <a:schemeClr val="lt1"/>
              </a:highlight>
            </a:endParaRPr>
          </a:p>
        </p:txBody>
      </p:sp>
      <p:graphicFrame>
        <p:nvGraphicFramePr>
          <p:cNvPr id="132" name="Google Shape;132;p12"/>
          <p:cNvGraphicFramePr/>
          <p:nvPr/>
        </p:nvGraphicFramePr>
        <p:xfrm>
          <a:off x="541438" y="3080450"/>
          <a:ext cx="3000000" cy="3000000"/>
        </p:xfrm>
        <a:graphic>
          <a:graphicData uri="http://schemas.openxmlformats.org/drawingml/2006/table">
            <a:tbl>
              <a:tblPr>
                <a:noFill/>
                <a:tableStyleId>{3F1B7515-B355-47EC-AE86-062E2AFBCA27}</a:tableStyleId>
              </a:tblPr>
              <a:tblGrid>
                <a:gridCol w="2774025"/>
                <a:gridCol w="2660725"/>
              </a:tblGrid>
              <a:tr h="452700">
                <a:tc>
                  <a:txBody>
                    <a:bodyPr/>
                    <a:lstStyle/>
                    <a:p>
                      <a:pPr indent="0" lvl="0" marL="0" rtl="0" algn="l">
                        <a:spcBef>
                          <a:spcPts val="0"/>
                        </a:spcBef>
                        <a:spcAft>
                          <a:spcPts val="0"/>
                        </a:spcAft>
                        <a:buNone/>
                      </a:pPr>
                      <a:r>
                        <a:rPr lang="en-US">
                          <a:highlight>
                            <a:srgbClr val="E9E7E2"/>
                          </a:highlight>
                        </a:rPr>
                        <a:t>CONTAMINANT</a:t>
                      </a:r>
                      <a:endParaRPr>
                        <a:highlight>
                          <a:srgbClr val="E9E7E2"/>
                        </a:highlight>
                      </a:endParaRPr>
                    </a:p>
                  </a:txBody>
                  <a:tcPr marT="91425" marB="91425" marR="91425" marL="91425"/>
                </a:tc>
                <a:tc>
                  <a:txBody>
                    <a:bodyPr/>
                    <a:lstStyle/>
                    <a:p>
                      <a:pPr indent="0" lvl="0" marL="0" rtl="0" algn="l">
                        <a:spcBef>
                          <a:spcPts val="0"/>
                        </a:spcBef>
                        <a:spcAft>
                          <a:spcPts val="0"/>
                        </a:spcAft>
                        <a:buNone/>
                      </a:pPr>
                      <a:r>
                        <a:rPr lang="en-US">
                          <a:highlight>
                            <a:srgbClr val="E9E7E2"/>
                          </a:highlight>
                        </a:rPr>
                        <a:t>EFFECT</a:t>
                      </a:r>
                      <a:endParaRPr>
                        <a:highlight>
                          <a:srgbClr val="E9E7E2"/>
                        </a:highlight>
                      </a:endParaRPr>
                    </a:p>
                  </a:txBody>
                  <a:tcPr marT="91425" marB="91425" marR="91425" marL="91425"/>
                </a:tc>
              </a:tr>
              <a:tr h="452700">
                <a:tc>
                  <a:txBody>
                    <a:bodyPr/>
                    <a:lstStyle/>
                    <a:p>
                      <a:pPr indent="0" lvl="0" marL="0" rtl="0" algn="l">
                        <a:spcBef>
                          <a:spcPts val="0"/>
                        </a:spcBef>
                        <a:spcAft>
                          <a:spcPts val="0"/>
                        </a:spcAft>
                        <a:buNone/>
                      </a:pPr>
                      <a:r>
                        <a:rPr lang="en-US"/>
                        <a:t>CCR</a:t>
                      </a:r>
                      <a:endParaRPr/>
                    </a:p>
                  </a:txBody>
                  <a:tcPr marT="91425" marB="91425" marR="91425" marL="91425"/>
                </a:tc>
                <a:tc>
                  <a:txBody>
                    <a:bodyPr/>
                    <a:lstStyle/>
                    <a:p>
                      <a:pPr indent="0" lvl="0" marL="0" rtl="0" algn="l">
                        <a:spcBef>
                          <a:spcPts val="0"/>
                        </a:spcBef>
                        <a:spcAft>
                          <a:spcPts val="0"/>
                        </a:spcAft>
                        <a:buNone/>
                      </a:pPr>
                      <a:r>
                        <a:rPr lang="en-US" sz="1150">
                          <a:solidFill>
                            <a:schemeClr val="dk1"/>
                          </a:solidFill>
                          <a:highlight>
                            <a:schemeClr val="lt1"/>
                          </a:highlight>
                        </a:rPr>
                        <a:t>Coke on catalyst</a:t>
                      </a:r>
                      <a:r>
                        <a:rPr lang="en-US" sz="1100">
                          <a:solidFill>
                            <a:schemeClr val="dk1"/>
                          </a:solidFill>
                          <a:highlight>
                            <a:schemeClr val="lt1"/>
                          </a:highlight>
                        </a:rPr>
                        <a:t> </a:t>
                      </a:r>
                      <a:endParaRPr>
                        <a:solidFill>
                          <a:schemeClr val="dk1"/>
                        </a:solidFill>
                        <a:highlight>
                          <a:schemeClr val="lt1"/>
                        </a:highlight>
                      </a:endParaRPr>
                    </a:p>
                  </a:txBody>
                  <a:tcPr marT="91425" marB="91425" marR="91425" marL="91425"/>
                </a:tc>
              </a:tr>
              <a:tr h="452700">
                <a:tc>
                  <a:txBody>
                    <a:bodyPr/>
                    <a:lstStyle/>
                    <a:p>
                      <a:pPr indent="0" lvl="0" marL="0" rtl="0" algn="l">
                        <a:spcBef>
                          <a:spcPts val="0"/>
                        </a:spcBef>
                        <a:spcAft>
                          <a:spcPts val="0"/>
                        </a:spcAft>
                        <a:buNone/>
                      </a:pPr>
                      <a:r>
                        <a:rPr lang="en-US"/>
                        <a:t>NICKEL</a:t>
                      </a:r>
                      <a:endParaRPr/>
                    </a:p>
                  </a:txBody>
                  <a:tcPr marT="91425" marB="91425" marR="91425" marL="91425"/>
                </a:tc>
                <a:tc>
                  <a:txBody>
                    <a:bodyPr/>
                    <a:lstStyle/>
                    <a:p>
                      <a:pPr indent="0" lvl="0" marL="0" rtl="0" algn="l">
                        <a:spcBef>
                          <a:spcPts val="0"/>
                        </a:spcBef>
                        <a:spcAft>
                          <a:spcPts val="0"/>
                        </a:spcAft>
                        <a:buNone/>
                      </a:pPr>
                      <a:r>
                        <a:rPr lang="en-US" sz="1150">
                          <a:solidFill>
                            <a:schemeClr val="dk1"/>
                          </a:solidFill>
                          <a:highlight>
                            <a:schemeClr val="lt1"/>
                          </a:highlight>
                        </a:rPr>
                        <a:t>More coke + H₂ (dehydrogenation)</a:t>
                      </a:r>
                      <a:r>
                        <a:rPr lang="en-US" sz="1100">
                          <a:solidFill>
                            <a:schemeClr val="dk1"/>
                          </a:solidFill>
                          <a:highlight>
                            <a:schemeClr val="lt1"/>
                          </a:highlight>
                        </a:rPr>
                        <a:t> </a:t>
                      </a:r>
                      <a:endParaRPr>
                        <a:solidFill>
                          <a:schemeClr val="dk1"/>
                        </a:solidFill>
                        <a:highlight>
                          <a:schemeClr val="lt1"/>
                        </a:highlight>
                      </a:endParaRPr>
                    </a:p>
                  </a:txBody>
                  <a:tcPr marT="91425" marB="91425" marR="91425" marL="91425"/>
                </a:tc>
              </a:tr>
              <a:tr h="452700">
                <a:tc>
                  <a:txBody>
                    <a:bodyPr/>
                    <a:lstStyle/>
                    <a:p>
                      <a:pPr indent="0" lvl="0" marL="0" rtl="0" algn="l">
                        <a:spcBef>
                          <a:spcPts val="0"/>
                        </a:spcBef>
                        <a:spcAft>
                          <a:spcPts val="0"/>
                        </a:spcAft>
                        <a:buNone/>
                      </a:pPr>
                      <a:r>
                        <a:rPr lang="en-US"/>
                        <a:t>VANADIUM </a:t>
                      </a:r>
                      <a:endParaRPr/>
                    </a:p>
                  </a:txBody>
                  <a:tcPr marT="91425" marB="91425" marR="91425" marL="91425"/>
                </a:tc>
                <a:tc>
                  <a:txBody>
                    <a:bodyPr/>
                    <a:lstStyle/>
                    <a:p>
                      <a:pPr indent="0" lvl="0" marL="0" rtl="0" algn="l">
                        <a:spcBef>
                          <a:spcPts val="0"/>
                        </a:spcBef>
                        <a:spcAft>
                          <a:spcPts val="0"/>
                        </a:spcAft>
                        <a:buNone/>
                      </a:pPr>
                      <a:r>
                        <a:rPr lang="en-US" sz="1150">
                          <a:solidFill>
                            <a:schemeClr val="dk1"/>
                          </a:solidFill>
                          <a:highlight>
                            <a:schemeClr val="lt1"/>
                          </a:highlight>
                        </a:rPr>
                        <a:t>Main metal cause of activity loss</a:t>
                      </a:r>
                      <a:r>
                        <a:rPr lang="en-US" sz="1100">
                          <a:solidFill>
                            <a:schemeClr val="dk1"/>
                          </a:solidFill>
                          <a:highlight>
                            <a:schemeClr val="lt1"/>
                          </a:highlight>
                        </a:rPr>
                        <a:t> </a:t>
                      </a:r>
                      <a:endParaRPr>
                        <a:solidFill>
                          <a:schemeClr val="dk1"/>
                        </a:solidFill>
                        <a:highlight>
                          <a:schemeClr val="lt1"/>
                        </a:highlight>
                      </a:endParaRPr>
                    </a:p>
                  </a:txBody>
                  <a:tcPr marT="91425" marB="91425" marR="91425" marL="91425"/>
                </a:tc>
              </a:tr>
              <a:tr h="452700">
                <a:tc>
                  <a:txBody>
                    <a:bodyPr/>
                    <a:lstStyle/>
                    <a:p>
                      <a:pPr indent="0" lvl="0" marL="0" rtl="0" algn="l">
                        <a:spcBef>
                          <a:spcPts val="0"/>
                        </a:spcBef>
                        <a:spcAft>
                          <a:spcPts val="0"/>
                        </a:spcAft>
                        <a:buNone/>
                      </a:pPr>
                      <a:r>
                        <a:rPr lang="en-US"/>
                        <a:t>NITROGEN</a:t>
                      </a:r>
                      <a:endParaRPr/>
                    </a:p>
                  </a:txBody>
                  <a:tcPr marT="91425" marB="91425" marR="91425" marL="91425"/>
                </a:tc>
                <a:tc>
                  <a:txBody>
                    <a:bodyPr/>
                    <a:lstStyle/>
                    <a:p>
                      <a:pPr indent="0" lvl="0" marL="0" rtl="0" algn="l">
                        <a:spcBef>
                          <a:spcPts val="0"/>
                        </a:spcBef>
                        <a:spcAft>
                          <a:spcPts val="0"/>
                        </a:spcAft>
                        <a:buNone/>
                      </a:pPr>
                      <a:r>
                        <a:rPr lang="en-US" sz="1150">
                          <a:solidFill>
                            <a:schemeClr val="dk1"/>
                          </a:solidFill>
                          <a:highlight>
                            <a:schemeClr val="lt1"/>
                          </a:highlight>
                        </a:rPr>
                        <a:t>Neutralises acid sites</a:t>
                      </a:r>
                      <a:r>
                        <a:rPr lang="en-US" sz="1100">
                          <a:solidFill>
                            <a:schemeClr val="dk1"/>
                          </a:solidFill>
                          <a:highlight>
                            <a:schemeClr val="lt1"/>
                          </a:highlight>
                        </a:rPr>
                        <a:t> </a:t>
                      </a:r>
                      <a:endParaRPr>
                        <a:solidFill>
                          <a:schemeClr val="dk1"/>
                        </a:solidFill>
                        <a:highlight>
                          <a:schemeClr val="lt1"/>
                        </a:highlight>
                      </a:endParaRPr>
                    </a:p>
                  </a:txBody>
                  <a:tcPr marT="91425" marB="91425" marR="91425" marL="91425"/>
                </a:tc>
              </a:tr>
              <a:tr h="452700">
                <a:tc>
                  <a:txBody>
                    <a:bodyPr/>
                    <a:lstStyle/>
                    <a:p>
                      <a:pPr indent="0" lvl="0" marL="0" rtl="0" algn="l">
                        <a:spcBef>
                          <a:spcPts val="0"/>
                        </a:spcBef>
                        <a:spcAft>
                          <a:spcPts val="0"/>
                        </a:spcAft>
                        <a:buNone/>
                      </a:pPr>
                      <a:r>
                        <a:rPr lang="en-US"/>
                        <a:t>SULPHUR</a:t>
                      </a:r>
                      <a:endParaRPr/>
                    </a:p>
                  </a:txBody>
                  <a:tcPr marT="91425" marB="91425" marR="91425" marL="91425"/>
                </a:tc>
                <a:tc>
                  <a:txBody>
                    <a:bodyPr/>
                    <a:lstStyle/>
                    <a:p>
                      <a:pPr indent="0" lvl="0" marL="0" rtl="0" algn="l">
                        <a:spcBef>
                          <a:spcPts val="0"/>
                        </a:spcBef>
                        <a:spcAft>
                          <a:spcPts val="0"/>
                        </a:spcAft>
                        <a:buNone/>
                      </a:pPr>
                      <a:r>
                        <a:rPr lang="en-US" sz="1150">
                          <a:solidFill>
                            <a:schemeClr val="dk1"/>
                          </a:solidFill>
                          <a:highlight>
                            <a:schemeClr val="lt1"/>
                          </a:highlight>
                        </a:rPr>
                        <a:t>coke → SOₓ in flue gas</a:t>
                      </a:r>
                      <a:r>
                        <a:rPr lang="en-US" sz="1100">
                          <a:solidFill>
                            <a:schemeClr val="dk1"/>
                          </a:solidFill>
                          <a:highlight>
                            <a:schemeClr val="lt1"/>
                          </a:highlight>
                        </a:rPr>
                        <a:t> </a:t>
                      </a:r>
                      <a:endParaRPr>
                        <a:solidFill>
                          <a:schemeClr val="dk1"/>
                        </a:solidFill>
                        <a:highlight>
                          <a:schemeClr val="lt1"/>
                        </a:highlight>
                      </a:endParaRPr>
                    </a:p>
                  </a:txBody>
                  <a:tcPr marT="91425" marB="91425" marR="91425" marL="91425"/>
                </a:tc>
              </a:tr>
              <a:tr h="589075">
                <a:tc>
                  <a:txBody>
                    <a:bodyPr/>
                    <a:lstStyle/>
                    <a:p>
                      <a:pPr indent="0" lvl="0" marL="0" rtl="0" algn="l">
                        <a:spcBef>
                          <a:spcPts val="0"/>
                        </a:spcBef>
                        <a:spcAft>
                          <a:spcPts val="0"/>
                        </a:spcAft>
                        <a:buNone/>
                      </a:pPr>
                      <a:r>
                        <a:rPr lang="en-US"/>
                        <a:t>ORGANOMETALLICS</a:t>
                      </a:r>
                      <a:endParaRPr/>
                    </a:p>
                  </a:txBody>
                  <a:tcPr marT="91425" marB="91425" marR="91425" marL="91425"/>
                </a:tc>
                <a:tc>
                  <a:txBody>
                    <a:bodyPr/>
                    <a:lstStyle/>
                    <a:p>
                      <a:pPr indent="0" lvl="0" marL="0" rtl="0" algn="l">
                        <a:spcBef>
                          <a:spcPts val="0"/>
                        </a:spcBef>
                        <a:spcAft>
                          <a:spcPts val="0"/>
                        </a:spcAft>
                        <a:buNone/>
                      </a:pPr>
                      <a:r>
                        <a:rPr lang="en-US" sz="1150">
                          <a:solidFill>
                            <a:schemeClr val="dk1"/>
                          </a:solidFill>
                          <a:highlight>
                            <a:schemeClr val="lt1"/>
                          </a:highlight>
                        </a:rPr>
                        <a:t>Deposit metals during desulphurisation</a:t>
                      </a:r>
                      <a:r>
                        <a:rPr lang="en-US" sz="1100">
                          <a:solidFill>
                            <a:schemeClr val="dk1"/>
                          </a:solidFill>
                          <a:highlight>
                            <a:schemeClr val="lt1"/>
                          </a:highlight>
                        </a:rPr>
                        <a:t> </a:t>
                      </a:r>
                      <a:endParaRPr>
                        <a:solidFill>
                          <a:schemeClr val="dk1"/>
                        </a:solidFill>
                        <a:highlight>
                          <a:schemeClr val="lt1"/>
                        </a:highlight>
                      </a:endParaRPr>
                    </a:p>
                  </a:txBody>
                  <a:tcPr marT="91425" marB="91425" marR="91425" marL="91425"/>
                </a:tc>
              </a:tr>
            </a:tbl>
          </a:graphicData>
        </a:graphic>
      </p:graphicFrame>
      <p:pic>
        <p:nvPicPr>
          <p:cNvPr id="133" name="Google Shape;133;p12"/>
          <p:cNvPicPr preferRelativeResize="0"/>
          <p:nvPr/>
        </p:nvPicPr>
        <p:blipFill>
          <a:blip r:embed="rId4">
            <a:alphaModFix/>
          </a:blip>
          <a:stretch>
            <a:fillRect/>
          </a:stretch>
        </p:blipFill>
        <p:spPr>
          <a:xfrm>
            <a:off x="6072850" y="2702900"/>
            <a:ext cx="6003348" cy="38287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3"/>
          <p:cNvSpPr txBox="1"/>
          <p:nvPr/>
        </p:nvSpPr>
        <p:spPr>
          <a:xfrm>
            <a:off x="144375" y="169700"/>
            <a:ext cx="3843900" cy="3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highlight>
                  <a:srgbClr val="FCE5CD"/>
                </a:highlight>
              </a:rPr>
              <a:t>CATALYST :</a:t>
            </a:r>
            <a:r>
              <a:rPr b="1" lang="en-US">
                <a:highlight>
                  <a:srgbClr val="FCE5CD"/>
                </a:highlight>
              </a:rPr>
              <a:t>-</a:t>
            </a:r>
            <a:endParaRPr b="1">
              <a:highlight>
                <a:srgbClr val="FCE5CD"/>
              </a:highlight>
            </a:endParaRPr>
          </a:p>
        </p:txBody>
      </p:sp>
      <p:sp>
        <p:nvSpPr>
          <p:cNvPr id="140" name="Google Shape;140;p13"/>
          <p:cNvSpPr txBox="1"/>
          <p:nvPr/>
        </p:nvSpPr>
        <p:spPr>
          <a:xfrm>
            <a:off x="144375" y="800100"/>
            <a:ext cx="9817800" cy="4114800"/>
          </a:xfrm>
          <a:prstGeom prst="rect">
            <a:avLst/>
          </a:prstGeom>
          <a:noFill/>
          <a:ln>
            <a:noFill/>
          </a:ln>
        </p:spPr>
        <p:txBody>
          <a:bodyPr anchorCtr="0" anchor="t" bIns="91425" lIns="91425" spcFirstLastPara="1" rIns="91425" wrap="square" tIns="91425">
            <a:noAutofit/>
          </a:bodyPr>
          <a:lstStyle/>
          <a:p>
            <a:pPr indent="-228600" lvl="0" marL="482600" marR="25400" rtl="0" algn="l">
              <a:spcBef>
                <a:spcPts val="1300"/>
              </a:spcBef>
              <a:spcAft>
                <a:spcPts val="0"/>
              </a:spcAft>
              <a:buClr>
                <a:schemeClr val="dk1"/>
              </a:buClr>
              <a:buSzPts val="1300"/>
              <a:buNone/>
            </a:pPr>
            <a:r>
              <a:rPr b="1" lang="en-US">
                <a:solidFill>
                  <a:schemeClr val="dk1"/>
                </a:solidFill>
                <a:highlight>
                  <a:schemeClr val="lt1"/>
                </a:highlight>
              </a:rPr>
              <a:t>Must be acidic:</a:t>
            </a:r>
            <a:r>
              <a:rPr lang="en-US">
                <a:solidFill>
                  <a:schemeClr val="dk1"/>
                </a:solidFill>
                <a:highlight>
                  <a:schemeClr val="lt1"/>
                </a:highlight>
              </a:rPr>
              <a:t> supplies a proton (Brønsted); Lewis acids (BF₃, AlCl₃, FeCl₃) also form carbenium ions.</a:t>
            </a:r>
            <a:endParaRPr sz="950">
              <a:solidFill>
                <a:schemeClr val="dk1"/>
              </a:solidFill>
              <a:highlight>
                <a:schemeClr val="lt1"/>
              </a:highlight>
              <a:latin typeface="Courier New"/>
              <a:ea typeface="Courier New"/>
              <a:cs typeface="Courier New"/>
              <a:sym typeface="Courier New"/>
            </a:endParaRPr>
          </a:p>
          <a:p>
            <a:pPr indent="-228600" lvl="0" marL="482600" marR="25400" rtl="0" algn="l">
              <a:spcBef>
                <a:spcPts val="0"/>
              </a:spcBef>
              <a:spcAft>
                <a:spcPts val="0"/>
              </a:spcAft>
              <a:buClr>
                <a:schemeClr val="dk1"/>
              </a:buClr>
              <a:buSzPts val="1300"/>
              <a:buNone/>
            </a:pPr>
            <a:r>
              <a:rPr b="1" lang="en-US">
                <a:solidFill>
                  <a:schemeClr val="dk1"/>
                </a:solidFill>
                <a:highlight>
                  <a:schemeClr val="lt1"/>
                </a:highlight>
              </a:rPr>
              <a:t>Cracking needs the strongest acid sites</a:t>
            </a:r>
            <a:r>
              <a:rPr lang="en-US">
                <a:solidFill>
                  <a:schemeClr val="dk1"/>
                </a:solidFill>
                <a:highlight>
                  <a:schemeClr val="lt1"/>
                </a:highlight>
              </a:rPr>
              <a:t> of all acid reactions </a:t>
            </a:r>
            <a:endParaRPr sz="950">
              <a:solidFill>
                <a:schemeClr val="dk1"/>
              </a:solidFill>
              <a:highlight>
                <a:schemeClr val="lt1"/>
              </a:highlight>
              <a:latin typeface="Courier New"/>
              <a:ea typeface="Courier New"/>
              <a:cs typeface="Courier New"/>
              <a:sym typeface="Courier New"/>
            </a:endParaRPr>
          </a:p>
          <a:p>
            <a:pPr indent="-228600" lvl="0" marL="457200" rtl="0" algn="l">
              <a:spcBef>
                <a:spcPts val="0"/>
              </a:spcBef>
              <a:spcAft>
                <a:spcPts val="0"/>
              </a:spcAft>
              <a:buClr>
                <a:schemeClr val="dk1"/>
              </a:buClr>
              <a:buSzPts val="1400"/>
              <a:buNone/>
            </a:pPr>
            <a:r>
              <a:rPr b="1" lang="en-US">
                <a:solidFill>
                  <a:schemeClr val="dk1"/>
                </a:solidFill>
                <a:highlight>
                  <a:schemeClr val="lt1"/>
                </a:highlight>
              </a:rPr>
              <a:t>Generations:</a:t>
            </a:r>
            <a:r>
              <a:rPr lang="en-US">
                <a:solidFill>
                  <a:schemeClr val="dk1"/>
                </a:solidFill>
                <a:highlight>
                  <a:schemeClr val="lt1"/>
                </a:highlight>
              </a:rPr>
              <a:t> ① acid-treated natural aluminosilicates (clays) → ② amorphous synthetic silica–alumina → ③ </a:t>
            </a:r>
            <a:r>
              <a:rPr b="1" lang="en-US">
                <a:solidFill>
                  <a:schemeClr val="dk1"/>
                </a:solidFill>
                <a:highlight>
                  <a:schemeClr val="lt1"/>
                </a:highlight>
              </a:rPr>
              <a:t>crystalline zeolites</a:t>
            </a:r>
            <a:r>
              <a:rPr lang="en-US">
                <a:solidFill>
                  <a:schemeClr val="dk1"/>
                </a:solidFill>
                <a:highlight>
                  <a:schemeClr val="lt1"/>
                </a:highlight>
              </a:rPr>
              <a:t> (molecular sieves: more active sites + adsorption → faster cracking)</a:t>
            </a:r>
            <a:endParaRPr>
              <a:solidFill>
                <a:schemeClr val="dk1"/>
              </a:solidFill>
              <a:highlight>
                <a:schemeClr val="lt1"/>
              </a:highlight>
            </a:endParaRPr>
          </a:p>
          <a:p>
            <a:pPr indent="0" lvl="0" marL="0" rtl="0" algn="l">
              <a:spcBef>
                <a:spcPts val="1300"/>
              </a:spcBef>
              <a:spcAft>
                <a:spcPts val="0"/>
              </a:spcAft>
              <a:buNone/>
            </a:pPr>
            <a:r>
              <a:rPr b="1" lang="en-US">
                <a:solidFill>
                  <a:srgbClr val="980000"/>
                </a:solidFill>
                <a:highlight>
                  <a:srgbClr val="FFF2CC"/>
                </a:highlight>
              </a:rPr>
              <a:t>ZEOLITE :-</a:t>
            </a:r>
            <a:endParaRPr b="1">
              <a:solidFill>
                <a:srgbClr val="980000"/>
              </a:solidFill>
              <a:highlight>
                <a:srgbClr val="FFF2CC"/>
              </a:highlight>
            </a:endParaRPr>
          </a:p>
          <a:p>
            <a:pPr indent="0" lvl="0" marL="0" rtl="0" algn="l">
              <a:spcBef>
                <a:spcPts val="1300"/>
              </a:spcBef>
              <a:spcAft>
                <a:spcPts val="0"/>
              </a:spcAft>
              <a:buClr>
                <a:schemeClr val="dk1"/>
              </a:buClr>
              <a:buSzPts val="1100"/>
              <a:buFont typeface="Arial"/>
              <a:buNone/>
            </a:pPr>
            <a:r>
              <a:rPr b="1" lang="en-US" sz="1200">
                <a:solidFill>
                  <a:schemeClr val="dk1"/>
                </a:solidFill>
              </a:rPr>
              <a:t>Zeolite Y is the active component</a:t>
            </a:r>
            <a:r>
              <a:rPr lang="en-US" sz="1200">
                <a:solidFill>
                  <a:schemeClr val="dk1"/>
                </a:solidFill>
              </a:rPr>
              <a:t> of FCC catalyst. It is a synthetic form of </a:t>
            </a:r>
            <a:r>
              <a:rPr b="1" lang="en-US" sz="1200">
                <a:solidFill>
                  <a:schemeClr val="dk1"/>
                </a:solidFill>
              </a:rPr>
              <a:t>faujasite</a:t>
            </a:r>
            <a:r>
              <a:rPr lang="en-US" sz="1200">
                <a:solidFill>
                  <a:schemeClr val="dk1"/>
                </a:solidFill>
              </a:rPr>
              <a:t> and helps break large hydrocarbons into smaller useful products.</a:t>
            </a:r>
            <a:endParaRPr sz="1200">
              <a:solidFill>
                <a:schemeClr val="dk1"/>
              </a:solidFill>
            </a:endParaRPr>
          </a:p>
          <a:p>
            <a:pPr indent="0" lvl="0" marL="0" rtl="0" algn="l">
              <a:spcBef>
                <a:spcPts val="1300"/>
              </a:spcBef>
              <a:spcAft>
                <a:spcPts val="0"/>
              </a:spcAft>
              <a:buClr>
                <a:schemeClr val="dk1"/>
              </a:buClr>
              <a:buSzPts val="1100"/>
              <a:buFont typeface="Arial"/>
              <a:buNone/>
            </a:pPr>
            <a:r>
              <a:rPr b="1" lang="en-US" sz="1200">
                <a:solidFill>
                  <a:schemeClr val="dk1"/>
                </a:solidFill>
              </a:rPr>
              <a:t>Sodium form (Na-Y) has low acidity</a:t>
            </a:r>
            <a:r>
              <a:rPr lang="en-US" sz="1200">
                <a:solidFill>
                  <a:schemeClr val="dk1"/>
                </a:solidFill>
              </a:rPr>
              <a:t>, so Na⁺ is replaced by </a:t>
            </a:r>
            <a:r>
              <a:rPr b="1" lang="en-US" sz="1200">
                <a:solidFill>
                  <a:schemeClr val="dk1"/>
                </a:solidFill>
              </a:rPr>
              <a:t>rare-earth ions like lanthanum/cerium</a:t>
            </a:r>
            <a:r>
              <a:rPr lang="en-US" sz="1200">
                <a:solidFill>
                  <a:schemeClr val="dk1"/>
                </a:solidFill>
              </a:rPr>
              <a:t> to increase acidity and cracking activity.</a:t>
            </a:r>
            <a:endParaRPr sz="1200">
              <a:solidFill>
                <a:schemeClr val="dk1"/>
              </a:solidFill>
            </a:endParaRPr>
          </a:p>
          <a:p>
            <a:pPr indent="0" lvl="0" marL="0" rtl="0" algn="l">
              <a:spcBef>
                <a:spcPts val="1300"/>
              </a:spcBef>
              <a:spcAft>
                <a:spcPts val="0"/>
              </a:spcAft>
              <a:buClr>
                <a:schemeClr val="dk1"/>
              </a:buClr>
              <a:buSzPts val="1100"/>
              <a:buFont typeface="Arial"/>
              <a:buNone/>
            </a:pPr>
            <a:r>
              <a:rPr lang="en-US" sz="1200">
                <a:solidFill>
                  <a:schemeClr val="dk1"/>
                </a:solidFill>
              </a:rPr>
              <a:t>Zeolite Y has </a:t>
            </a:r>
            <a:r>
              <a:rPr b="1" lang="en-US" sz="1200">
                <a:solidFill>
                  <a:schemeClr val="dk1"/>
                </a:solidFill>
              </a:rPr>
              <a:t>tiny pores and a large surface area (~800 m²/g)</a:t>
            </a:r>
            <a:r>
              <a:rPr lang="en-US" sz="1200">
                <a:solidFill>
                  <a:schemeClr val="dk1"/>
                </a:solidFill>
              </a:rPr>
              <a:t>, allowing VGO molecules to enter and react at the acidic sites.</a:t>
            </a:r>
            <a:endParaRPr sz="1200">
              <a:solidFill>
                <a:schemeClr val="dk1"/>
              </a:solidFill>
            </a:endParaRPr>
          </a:p>
          <a:p>
            <a:pPr indent="0" lvl="0" marL="0" rtl="0" algn="l">
              <a:spcBef>
                <a:spcPts val="1300"/>
              </a:spcBef>
              <a:spcAft>
                <a:spcPts val="0"/>
              </a:spcAft>
              <a:buClr>
                <a:schemeClr val="dk1"/>
              </a:buClr>
              <a:buSzPts val="1100"/>
              <a:buFont typeface="Arial"/>
              <a:buNone/>
            </a:pPr>
            <a:r>
              <a:rPr b="1" lang="en-US" sz="1200">
                <a:solidFill>
                  <a:schemeClr val="dk1"/>
                </a:solidFill>
              </a:rPr>
              <a:t>Matrix supports the zeolite:</a:t>
            </a:r>
            <a:r>
              <a:rPr lang="en-US" sz="1200">
                <a:solidFill>
                  <a:schemeClr val="dk1"/>
                </a:solidFill>
              </a:rPr>
              <a:t> binder acts like </a:t>
            </a:r>
            <a:r>
              <a:rPr b="1" lang="en-US" sz="1200">
                <a:solidFill>
                  <a:schemeClr val="dk1"/>
                </a:solidFill>
              </a:rPr>
              <a:t>glue</a:t>
            </a:r>
            <a:r>
              <a:rPr lang="en-US" sz="1200">
                <a:solidFill>
                  <a:schemeClr val="dk1"/>
                </a:solidFill>
              </a:rPr>
              <a:t>, while kaolin acts as a </a:t>
            </a:r>
            <a:r>
              <a:rPr b="1" lang="en-US" sz="1200">
                <a:solidFill>
                  <a:schemeClr val="dk1"/>
                </a:solidFill>
              </a:rPr>
              <a:t>filler/body</a:t>
            </a:r>
            <a:r>
              <a:rPr lang="en-US" sz="1200">
                <a:solidFill>
                  <a:schemeClr val="dk1"/>
                </a:solidFill>
              </a:rPr>
              <a:t>, giving strength and resistance to attrition.</a:t>
            </a:r>
            <a:endParaRPr sz="1200">
              <a:solidFill>
                <a:schemeClr val="dk1"/>
              </a:solidFill>
            </a:endParaRPr>
          </a:p>
          <a:p>
            <a:pPr indent="0" lvl="0" marL="0" rtl="0" algn="l">
              <a:spcBef>
                <a:spcPts val="1300"/>
              </a:spcBef>
              <a:spcAft>
                <a:spcPts val="0"/>
              </a:spcAft>
              <a:buClr>
                <a:schemeClr val="dk1"/>
              </a:buClr>
              <a:buSzPts val="1100"/>
              <a:buFont typeface="Arial"/>
              <a:buNone/>
            </a:pPr>
            <a:r>
              <a:rPr b="1" lang="en-US" sz="1200">
                <a:solidFill>
                  <a:schemeClr val="dk1"/>
                </a:solidFill>
              </a:rPr>
              <a:t>Additives control unwanted effects:</a:t>
            </a:r>
            <a:r>
              <a:rPr lang="en-US" sz="1200">
                <a:solidFill>
                  <a:schemeClr val="dk1"/>
                </a:solidFill>
              </a:rPr>
              <a:t> some help convert </a:t>
            </a:r>
            <a:r>
              <a:rPr b="1" lang="en-US" sz="1200">
                <a:solidFill>
                  <a:schemeClr val="dk1"/>
                </a:solidFill>
              </a:rPr>
              <a:t>CO → CO₂</a:t>
            </a:r>
            <a:r>
              <a:rPr lang="en-US" sz="1200">
                <a:solidFill>
                  <a:schemeClr val="dk1"/>
                </a:solidFill>
              </a:rPr>
              <a:t> in the regenerator, while metal oxides </a:t>
            </a:r>
            <a:r>
              <a:rPr b="1" lang="en-US" sz="1200">
                <a:solidFill>
                  <a:schemeClr val="dk1"/>
                </a:solidFill>
              </a:rPr>
              <a:t>capture SOx</a:t>
            </a:r>
            <a:r>
              <a:rPr lang="en-US" sz="1200">
                <a:solidFill>
                  <a:schemeClr val="dk1"/>
                </a:solidFill>
              </a:rPr>
              <a:t>, which is later released mainly as </a:t>
            </a:r>
            <a:r>
              <a:rPr b="1" lang="en-US" sz="1200">
                <a:solidFill>
                  <a:schemeClr val="dk1"/>
                </a:solidFill>
              </a:rPr>
              <a:t>H₂S</a:t>
            </a:r>
            <a:r>
              <a:rPr lang="en-US" sz="1200">
                <a:solidFill>
                  <a:schemeClr val="dk1"/>
                </a:solidFill>
              </a:rPr>
              <a:t> in the reactor. </a:t>
            </a:r>
            <a:endParaRPr sz="1200">
              <a:solidFill>
                <a:schemeClr val="dk1"/>
              </a:solidFill>
            </a:endParaRPr>
          </a:p>
          <a:p>
            <a:pPr indent="0" lvl="0" marL="0" rtl="0" algn="l">
              <a:spcBef>
                <a:spcPts val="1300"/>
              </a:spcBef>
              <a:spcAft>
                <a:spcPts val="0"/>
              </a:spcAft>
              <a:buNone/>
            </a:pPr>
            <a:r>
              <a:t/>
            </a:r>
            <a:endParaRPr>
              <a:solidFill>
                <a:schemeClr val="dk1"/>
              </a:solidFill>
              <a:highlight>
                <a:schemeClr val="lt1"/>
              </a:highlight>
            </a:endParaRPr>
          </a:p>
          <a:p>
            <a:pPr indent="0" lvl="0" marL="0" rtl="0" algn="l">
              <a:spcBef>
                <a:spcPts val="1300"/>
              </a:spcBef>
              <a:spcAft>
                <a:spcPts val="0"/>
              </a:spcAft>
              <a:buNone/>
            </a:pPr>
            <a:r>
              <a:t/>
            </a:r>
            <a:endParaRPr/>
          </a:p>
        </p:txBody>
      </p:sp>
      <p:pic>
        <p:nvPicPr>
          <p:cNvPr id="141" name="Google Shape;141;p13"/>
          <p:cNvPicPr preferRelativeResize="0"/>
          <p:nvPr/>
        </p:nvPicPr>
        <p:blipFill>
          <a:blip r:embed="rId3">
            <a:alphaModFix/>
          </a:blip>
          <a:stretch>
            <a:fillRect/>
          </a:stretch>
        </p:blipFill>
        <p:spPr>
          <a:xfrm>
            <a:off x="2948175" y="4328825"/>
            <a:ext cx="6295650" cy="2529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sp>
        <p:nvSpPr>
          <p:cNvPr id="147" name="Google Shape;147;p14"/>
          <p:cNvSpPr txBox="1"/>
          <p:nvPr/>
        </p:nvSpPr>
        <p:spPr>
          <a:xfrm>
            <a:off x="502920" y="256032"/>
            <a:ext cx="9144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B"/>
              </a:buClr>
              <a:buSzPts val="1050"/>
              <a:buFont typeface="Arial"/>
              <a:buNone/>
            </a:pPr>
            <a:r>
              <a:rPr b="0" i="0" lang="en-US" sz="1050" u="none" cap="none" strike="noStrike">
                <a:solidFill>
                  <a:srgbClr val="56636B"/>
                </a:solidFill>
                <a:latin typeface="Arial"/>
                <a:ea typeface="Arial"/>
                <a:cs typeface="Arial"/>
                <a:sym typeface="Arial"/>
              </a:rPr>
              <a:t>Petroleum Refining Engineering</a:t>
            </a:r>
            <a:endParaRPr b="0" i="0" sz="1050" u="none" cap="none" strike="noStrike">
              <a:solidFill>
                <a:schemeClr val="dk1"/>
              </a:solidFill>
              <a:latin typeface="Arial"/>
              <a:ea typeface="Arial"/>
              <a:cs typeface="Arial"/>
              <a:sym typeface="Arial"/>
            </a:endParaRPr>
          </a:p>
        </p:txBody>
      </p:sp>
      <p:sp>
        <p:nvSpPr>
          <p:cNvPr id="148" name="Google Shape;148;p14"/>
          <p:cNvSpPr txBox="1"/>
          <p:nvPr/>
        </p:nvSpPr>
        <p:spPr>
          <a:xfrm>
            <a:off x="502920" y="713232"/>
            <a:ext cx="11155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B32"/>
              </a:buClr>
              <a:buSzPts val="3000"/>
              <a:buFont typeface="Arial"/>
              <a:buNone/>
            </a:pPr>
            <a:r>
              <a:rPr b="1" i="0" lang="en-US" sz="3000" u="none" cap="none" strike="noStrike">
                <a:solidFill>
                  <a:srgbClr val="202B32"/>
                </a:solidFill>
                <a:latin typeface="Arial"/>
                <a:ea typeface="Arial"/>
                <a:cs typeface="Arial"/>
                <a:sym typeface="Arial"/>
              </a:rPr>
              <a:t>Reactions in FCC</a:t>
            </a:r>
            <a:endParaRPr b="0" i="0" sz="3000" u="none" cap="none" strike="noStrike">
              <a:solidFill>
                <a:schemeClr val="dk1"/>
              </a:solidFill>
              <a:latin typeface="Arial"/>
              <a:ea typeface="Arial"/>
              <a:cs typeface="Arial"/>
              <a:sym typeface="Arial"/>
            </a:endParaRPr>
          </a:p>
        </p:txBody>
      </p:sp>
      <p:sp>
        <p:nvSpPr>
          <p:cNvPr id="149" name="Google Shape;149;p14"/>
          <p:cNvSpPr txBox="1"/>
          <p:nvPr/>
        </p:nvSpPr>
        <p:spPr>
          <a:xfrm>
            <a:off x="502920" y="6419088"/>
            <a:ext cx="106984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B"/>
              </a:buClr>
              <a:buSzPts val="930"/>
              <a:buFont typeface="Arial"/>
              <a:buNone/>
            </a:pPr>
            <a:r>
              <a:rPr b="0" i="0" lang="en-US" sz="930" u="none" cap="none" strike="noStrike">
                <a:solidFill>
                  <a:srgbClr val="56636B"/>
                </a:solidFill>
                <a:latin typeface="Arial"/>
                <a:ea typeface="Arial"/>
                <a:cs typeface="Arial"/>
                <a:sym typeface="Arial"/>
              </a:rPr>
              <a:t>[L] pp. 9–13, 24  ·  [B] §§8.5–8.6, pp. 202–208</a:t>
            </a:r>
            <a:endParaRPr b="0" i="0" sz="930" u="none" cap="none" strike="noStrike">
              <a:solidFill>
                <a:schemeClr val="dk1"/>
              </a:solidFill>
              <a:latin typeface="Arial"/>
              <a:ea typeface="Arial"/>
              <a:cs typeface="Arial"/>
              <a:sym typeface="Arial"/>
            </a:endParaRPr>
          </a:p>
        </p:txBody>
      </p:sp>
      <p:sp>
        <p:nvSpPr>
          <p:cNvPr id="150" name="Google Shape;150;p14"/>
          <p:cNvSpPr txBox="1"/>
          <p:nvPr/>
        </p:nvSpPr>
        <p:spPr>
          <a:xfrm>
            <a:off x="548640" y="1508760"/>
            <a:ext cx="3840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5129"/>
              </a:buClr>
              <a:buSzPts val="2000"/>
              <a:buFont typeface="Arial"/>
              <a:buNone/>
            </a:pPr>
            <a:r>
              <a:rPr b="1" i="0" lang="en-US" sz="2000" u="none" cap="none" strike="noStrike">
                <a:solidFill>
                  <a:srgbClr val="BD5129"/>
                </a:solidFill>
                <a:latin typeface="Arial"/>
                <a:ea typeface="Arial"/>
                <a:cs typeface="Arial"/>
                <a:sym typeface="Arial"/>
              </a:rPr>
              <a:t>1  Primary cracking</a:t>
            </a:r>
            <a:endParaRPr b="0" i="0" sz="2000" u="none" cap="none" strike="noStrike">
              <a:solidFill>
                <a:schemeClr val="dk1"/>
              </a:solidFill>
              <a:latin typeface="Arial"/>
              <a:ea typeface="Arial"/>
              <a:cs typeface="Arial"/>
              <a:sym typeface="Arial"/>
            </a:endParaRPr>
          </a:p>
        </p:txBody>
      </p:sp>
      <p:pic>
        <p:nvPicPr>
          <p:cNvPr descr="C:\Users\BIT\Downloads\PRE\1st Oct presentation\presentation-assets\eq-cracking.png" id="151" name="Google Shape;151;p14"/>
          <p:cNvPicPr preferRelativeResize="0"/>
          <p:nvPr/>
        </p:nvPicPr>
        <p:blipFill rotWithShape="1">
          <a:blip r:embed="rId3">
            <a:alphaModFix/>
          </a:blip>
          <a:srcRect b="0" l="0" r="0" t="0"/>
          <a:stretch/>
        </p:blipFill>
        <p:spPr>
          <a:xfrm>
            <a:off x="548640" y="2013194"/>
            <a:ext cx="7132320" cy="499891"/>
          </a:xfrm>
          <a:prstGeom prst="rect">
            <a:avLst/>
          </a:prstGeom>
          <a:noFill/>
          <a:ln>
            <a:noFill/>
          </a:ln>
        </p:spPr>
      </p:pic>
      <p:sp>
        <p:nvSpPr>
          <p:cNvPr id="152" name="Google Shape;152;p14"/>
          <p:cNvSpPr txBox="1"/>
          <p:nvPr/>
        </p:nvSpPr>
        <p:spPr>
          <a:xfrm>
            <a:off x="548640" y="2679192"/>
            <a:ext cx="7132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B"/>
              </a:buClr>
              <a:buSzPts val="1800"/>
              <a:buFont typeface="Arial"/>
              <a:buNone/>
            </a:pPr>
            <a:r>
              <a:rPr b="0" i="0" lang="en-US" sz="1800" u="none" cap="none" strike="noStrike">
                <a:solidFill>
                  <a:srgbClr val="56636B"/>
                </a:solidFill>
                <a:latin typeface="Arial"/>
                <a:ea typeface="Arial"/>
                <a:cs typeface="Arial"/>
                <a:sym typeface="Arial"/>
              </a:rPr>
              <a:t>Large paraffin gives smaller paraffin + olefin.</a:t>
            </a:r>
            <a:endParaRPr b="0" i="0" sz="1800" u="none" cap="none" strike="noStrike">
              <a:solidFill>
                <a:schemeClr val="dk1"/>
              </a:solidFill>
              <a:latin typeface="Arial"/>
              <a:ea typeface="Arial"/>
              <a:cs typeface="Arial"/>
              <a:sym typeface="Arial"/>
            </a:endParaRPr>
          </a:p>
        </p:txBody>
      </p:sp>
      <p:sp>
        <p:nvSpPr>
          <p:cNvPr id="153" name="Google Shape;153;p14"/>
          <p:cNvSpPr txBox="1"/>
          <p:nvPr/>
        </p:nvSpPr>
        <p:spPr>
          <a:xfrm>
            <a:off x="548640" y="3273552"/>
            <a:ext cx="3840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5129"/>
              </a:buClr>
              <a:buSzPts val="2000"/>
              <a:buFont typeface="Arial"/>
              <a:buNone/>
            </a:pPr>
            <a:r>
              <a:rPr b="1" i="0" lang="en-US" sz="2000" u="none" cap="none" strike="noStrike">
                <a:solidFill>
                  <a:srgbClr val="BD5129"/>
                </a:solidFill>
                <a:latin typeface="Arial"/>
                <a:ea typeface="Arial"/>
                <a:cs typeface="Arial"/>
                <a:sym typeface="Arial"/>
              </a:rPr>
              <a:t>2  Hydrogen transfer</a:t>
            </a:r>
            <a:endParaRPr b="0" i="0" sz="2000" u="none" cap="none" strike="noStrike">
              <a:solidFill>
                <a:schemeClr val="dk1"/>
              </a:solidFill>
              <a:latin typeface="Arial"/>
              <a:ea typeface="Arial"/>
              <a:cs typeface="Arial"/>
              <a:sym typeface="Arial"/>
            </a:endParaRPr>
          </a:p>
        </p:txBody>
      </p:sp>
      <p:pic>
        <p:nvPicPr>
          <p:cNvPr descr="C:\Users\BIT\Downloads\PRE\1st Oct presentation\presentation-assets\eq-hydrogen-transfer.png" id="154" name="Google Shape;154;p14"/>
          <p:cNvPicPr preferRelativeResize="0"/>
          <p:nvPr/>
        </p:nvPicPr>
        <p:blipFill rotWithShape="1">
          <a:blip r:embed="rId4">
            <a:alphaModFix/>
          </a:blip>
          <a:srcRect b="0" l="0" r="0" t="0"/>
          <a:stretch/>
        </p:blipFill>
        <p:spPr>
          <a:xfrm>
            <a:off x="548640" y="3842160"/>
            <a:ext cx="7132320" cy="389832"/>
          </a:xfrm>
          <a:prstGeom prst="rect">
            <a:avLst/>
          </a:prstGeom>
          <a:noFill/>
          <a:ln>
            <a:noFill/>
          </a:ln>
        </p:spPr>
      </p:pic>
      <p:sp>
        <p:nvSpPr>
          <p:cNvPr id="155" name="Google Shape;155;p14"/>
          <p:cNvSpPr txBox="1"/>
          <p:nvPr/>
        </p:nvSpPr>
        <p:spPr>
          <a:xfrm>
            <a:off x="548640" y="4471416"/>
            <a:ext cx="7132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B"/>
              </a:buClr>
              <a:buSzPts val="1800"/>
              <a:buFont typeface="Arial"/>
              <a:buNone/>
            </a:pPr>
            <a:r>
              <a:rPr b="0" i="0" lang="en-US" sz="1800" u="none" cap="none" strike="noStrike">
                <a:solidFill>
                  <a:srgbClr val="56636B"/>
                </a:solidFill>
                <a:latin typeface="Arial"/>
                <a:ea typeface="Arial"/>
                <a:cs typeface="Arial"/>
                <a:sym typeface="Arial"/>
              </a:rPr>
              <a:t>Olefin + naphthene donor give paraffin + aromatic.</a:t>
            </a:r>
            <a:endParaRPr b="0" i="0" sz="1800" u="none" cap="none" strike="noStrike">
              <a:solidFill>
                <a:schemeClr val="dk1"/>
              </a:solidFill>
              <a:latin typeface="Arial"/>
              <a:ea typeface="Arial"/>
              <a:cs typeface="Arial"/>
              <a:sym typeface="Arial"/>
            </a:endParaRPr>
          </a:p>
        </p:txBody>
      </p:sp>
      <p:sp>
        <p:nvSpPr>
          <p:cNvPr id="156" name="Google Shape;156;p14"/>
          <p:cNvSpPr txBox="1"/>
          <p:nvPr/>
        </p:nvSpPr>
        <p:spPr>
          <a:xfrm>
            <a:off x="548640" y="5020056"/>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5129"/>
              </a:buClr>
              <a:buSzPts val="2000"/>
              <a:buFont typeface="Arial"/>
              <a:buNone/>
            </a:pPr>
            <a:r>
              <a:rPr b="1" i="0" lang="en-US" sz="2000" u="none" cap="none" strike="noStrike">
                <a:solidFill>
                  <a:srgbClr val="BD5129"/>
                </a:solidFill>
                <a:latin typeface="Arial"/>
                <a:ea typeface="Arial"/>
                <a:cs typeface="Arial"/>
                <a:sym typeface="Arial"/>
              </a:rPr>
              <a:t>3  Coke combustion in the regenerator</a:t>
            </a:r>
            <a:endParaRPr b="0" i="0" sz="2000" u="none" cap="none" strike="noStrike">
              <a:solidFill>
                <a:schemeClr val="dk1"/>
              </a:solidFill>
              <a:latin typeface="Arial"/>
              <a:ea typeface="Arial"/>
              <a:cs typeface="Arial"/>
              <a:sym typeface="Arial"/>
            </a:endParaRPr>
          </a:p>
        </p:txBody>
      </p:sp>
      <p:pic>
        <p:nvPicPr>
          <p:cNvPr descr="C:\Users\BIT\Downloads\PRE\1st Oct presentation\presentation-assets\eq-regeneration.png" id="157" name="Google Shape;157;p14"/>
          <p:cNvPicPr preferRelativeResize="0"/>
          <p:nvPr/>
        </p:nvPicPr>
        <p:blipFill rotWithShape="1">
          <a:blip r:embed="rId5">
            <a:alphaModFix/>
          </a:blip>
          <a:srcRect b="0" l="0" r="0" t="0"/>
          <a:stretch/>
        </p:blipFill>
        <p:spPr>
          <a:xfrm>
            <a:off x="599461" y="5522976"/>
            <a:ext cx="7030677" cy="548640"/>
          </a:xfrm>
          <a:prstGeom prst="rect">
            <a:avLst/>
          </a:prstGeom>
          <a:noFill/>
          <a:ln>
            <a:noFill/>
          </a:ln>
        </p:spPr>
      </p:pic>
      <p:sp>
        <p:nvSpPr>
          <p:cNvPr id="158" name="Google Shape;158;p14"/>
          <p:cNvSpPr txBox="1"/>
          <p:nvPr/>
        </p:nvSpPr>
        <p:spPr>
          <a:xfrm>
            <a:off x="8229600" y="1554480"/>
            <a:ext cx="33832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B32"/>
              </a:buClr>
              <a:buSzPts val="2400"/>
              <a:buFont typeface="Arial"/>
              <a:buNone/>
            </a:pPr>
            <a:r>
              <a:rPr b="1" i="0" lang="en-US" sz="2400" u="none" cap="none" strike="noStrike">
                <a:solidFill>
                  <a:srgbClr val="202B32"/>
                </a:solidFill>
                <a:latin typeface="Arial"/>
                <a:ea typeface="Arial"/>
                <a:cs typeface="Arial"/>
                <a:sym typeface="Arial"/>
              </a:rPr>
              <a:t>Also occurring</a:t>
            </a:r>
            <a:endParaRPr b="0" i="0" sz="2400" u="none" cap="none" strike="noStrike">
              <a:solidFill>
                <a:schemeClr val="dk1"/>
              </a:solidFill>
              <a:latin typeface="Arial"/>
              <a:ea typeface="Arial"/>
              <a:cs typeface="Arial"/>
              <a:sym typeface="Arial"/>
            </a:endParaRPr>
          </a:p>
        </p:txBody>
      </p:sp>
      <p:sp>
        <p:nvSpPr>
          <p:cNvPr id="159" name="Google Shape;159;p14"/>
          <p:cNvSpPr txBox="1"/>
          <p:nvPr/>
        </p:nvSpPr>
        <p:spPr>
          <a:xfrm>
            <a:off x="8229600" y="2286000"/>
            <a:ext cx="3337560" cy="33558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B"/>
              </a:buClr>
              <a:buSzPts val="1900"/>
              <a:buFont typeface="Arial"/>
              <a:buNone/>
            </a:pPr>
            <a:r>
              <a:rPr b="0" i="0" lang="en-US" sz="1900" u="none" cap="none" strike="noStrike">
                <a:solidFill>
                  <a:srgbClr val="56636B"/>
                </a:solidFill>
                <a:latin typeface="Arial"/>
                <a:ea typeface="Arial"/>
                <a:cs typeface="Arial"/>
                <a:sym typeface="Arial"/>
              </a:rPr>
              <a:t>Isomerisation</a:t>
            </a:r>
            <a:endParaRPr b="0" i="0" sz="1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56636B"/>
              </a:buClr>
              <a:buSzPts val="1900"/>
              <a:buFont typeface="Arial"/>
              <a:buNone/>
            </a:pPr>
            <a:r>
              <a:rPr b="0" i="0" lang="en-US" sz="1900" u="none" cap="none" strike="noStrike">
                <a:solidFill>
                  <a:srgbClr val="56636B"/>
                </a:solidFill>
                <a:latin typeface="Arial"/>
                <a:ea typeface="Arial"/>
                <a:cs typeface="Arial"/>
                <a:sym typeface="Arial"/>
              </a:rPr>
              <a:t>Branched products</a:t>
            </a:r>
            <a:endParaRPr b="0" i="0" sz="19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900"/>
              <a:buFont typeface="Arial"/>
              <a:buNone/>
            </a:pPr>
            <a:r>
              <a:t/>
            </a:r>
            <a:endParaRPr b="0" i="0" sz="1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56636B"/>
              </a:buClr>
              <a:buSzPts val="1900"/>
              <a:buFont typeface="Arial"/>
              <a:buNone/>
            </a:pPr>
            <a:r>
              <a:rPr b="0" i="0" lang="en-US" sz="1900" u="none" cap="none" strike="noStrike">
                <a:solidFill>
                  <a:srgbClr val="56636B"/>
                </a:solidFill>
                <a:latin typeface="Arial"/>
                <a:ea typeface="Arial"/>
                <a:cs typeface="Arial"/>
                <a:sym typeface="Arial"/>
              </a:rPr>
              <a:t>Side-chain cracking</a:t>
            </a:r>
            <a:endParaRPr b="0" i="0" sz="1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56636B"/>
              </a:buClr>
              <a:buSzPts val="1900"/>
              <a:buFont typeface="Arial"/>
              <a:buNone/>
            </a:pPr>
            <a:r>
              <a:rPr b="0" i="0" lang="en-US" sz="1900" u="none" cap="none" strike="noStrike">
                <a:solidFill>
                  <a:srgbClr val="56636B"/>
                </a:solidFill>
                <a:latin typeface="Arial"/>
                <a:ea typeface="Arial"/>
                <a:cs typeface="Arial"/>
                <a:sym typeface="Arial"/>
              </a:rPr>
              <a:t>Aromatics + olefins</a:t>
            </a:r>
            <a:endParaRPr b="0" i="0" sz="19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900"/>
              <a:buFont typeface="Arial"/>
              <a:buNone/>
            </a:pPr>
            <a:r>
              <a:t/>
            </a:r>
            <a:endParaRPr b="0" i="0" sz="1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56636B"/>
              </a:buClr>
              <a:buSzPts val="1900"/>
              <a:buFont typeface="Arial"/>
              <a:buNone/>
            </a:pPr>
            <a:r>
              <a:rPr b="0" i="0" lang="en-US" sz="1900" u="none" cap="none" strike="noStrike">
                <a:solidFill>
                  <a:srgbClr val="56636B"/>
                </a:solidFill>
                <a:latin typeface="Arial"/>
                <a:ea typeface="Arial"/>
                <a:cs typeface="Arial"/>
                <a:sym typeface="Arial"/>
              </a:rPr>
              <a:t>Condensation</a:t>
            </a:r>
            <a:endParaRPr b="0" i="0" sz="1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56636B"/>
              </a:buClr>
              <a:buSzPts val="1900"/>
              <a:buFont typeface="Arial"/>
              <a:buNone/>
            </a:pPr>
            <a:r>
              <a:rPr b="0" i="0" lang="en-US" sz="1900" u="none" cap="none" strike="noStrike">
                <a:solidFill>
                  <a:srgbClr val="56636B"/>
                </a:solidFill>
                <a:latin typeface="Arial"/>
                <a:ea typeface="Arial"/>
                <a:cs typeface="Arial"/>
                <a:sym typeface="Arial"/>
              </a:rPr>
              <a:t>Polyaromatics + coke</a:t>
            </a:r>
            <a:endParaRPr b="0" i="0" sz="1900" u="none" cap="none" strike="noStrike">
              <a:solidFill>
                <a:schemeClr val="dk1"/>
              </a:solidFill>
              <a:latin typeface="Arial"/>
              <a:ea typeface="Arial"/>
              <a:cs typeface="Arial"/>
              <a:sym typeface="Arial"/>
            </a:endParaRPr>
          </a:p>
        </p:txBody>
      </p:sp>
      <p:pic>
        <p:nvPicPr>
          <p:cNvPr id="160" name="Google Shape;160;p14" title="1000163576.png"/>
          <p:cNvPicPr preferRelativeResize="0"/>
          <p:nvPr/>
        </p:nvPicPr>
        <p:blipFill>
          <a:blip r:embed="rId6">
            <a:alphaModFix amt="10000"/>
          </a:blip>
          <a:stretch>
            <a:fillRect/>
          </a:stretch>
        </p:blipFill>
        <p:spPr>
          <a:xfrm>
            <a:off x="11807480" y="6278888"/>
            <a:ext cx="384521" cy="4998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15"/>
          <p:cNvSpPr txBox="1"/>
          <p:nvPr/>
        </p:nvSpPr>
        <p:spPr>
          <a:xfrm>
            <a:off x="502920" y="256032"/>
            <a:ext cx="9144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B"/>
              </a:buClr>
              <a:buSzPts val="1050"/>
              <a:buFont typeface="Arial"/>
              <a:buNone/>
            </a:pPr>
            <a:r>
              <a:rPr b="0" i="0" lang="en-US" sz="1050" u="none" cap="none" strike="noStrike">
                <a:solidFill>
                  <a:srgbClr val="56636B"/>
                </a:solidFill>
                <a:latin typeface="Arial"/>
                <a:ea typeface="Arial"/>
                <a:cs typeface="Arial"/>
                <a:sym typeface="Arial"/>
              </a:rPr>
              <a:t>Petroleum Refining Engineering</a:t>
            </a:r>
            <a:endParaRPr b="0" i="0" sz="1050" u="none" cap="none" strike="noStrike">
              <a:solidFill>
                <a:schemeClr val="dk1"/>
              </a:solidFill>
              <a:latin typeface="Arial"/>
              <a:ea typeface="Arial"/>
              <a:cs typeface="Arial"/>
              <a:sym typeface="Arial"/>
            </a:endParaRPr>
          </a:p>
        </p:txBody>
      </p:sp>
      <p:sp>
        <p:nvSpPr>
          <p:cNvPr id="167" name="Google Shape;167;p15"/>
          <p:cNvSpPr txBox="1"/>
          <p:nvPr/>
        </p:nvSpPr>
        <p:spPr>
          <a:xfrm>
            <a:off x="502920" y="713232"/>
            <a:ext cx="11155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B32"/>
              </a:buClr>
              <a:buSzPts val="3000"/>
              <a:buFont typeface="Arial"/>
              <a:buNone/>
            </a:pPr>
            <a:r>
              <a:rPr b="1" i="0" lang="en-US" sz="3000" u="none" cap="none" strike="noStrike">
                <a:solidFill>
                  <a:srgbClr val="202B32"/>
                </a:solidFill>
                <a:latin typeface="Arial"/>
                <a:ea typeface="Arial"/>
                <a:cs typeface="Arial"/>
                <a:sym typeface="Arial"/>
              </a:rPr>
              <a:t>Reaction mechanism</a:t>
            </a:r>
            <a:endParaRPr b="0" i="0" sz="3000" u="none" cap="none" strike="noStrike">
              <a:solidFill>
                <a:schemeClr val="dk1"/>
              </a:solidFill>
              <a:latin typeface="Arial"/>
              <a:ea typeface="Arial"/>
              <a:cs typeface="Arial"/>
              <a:sym typeface="Arial"/>
            </a:endParaRPr>
          </a:p>
        </p:txBody>
      </p:sp>
      <p:sp>
        <p:nvSpPr>
          <p:cNvPr id="168" name="Google Shape;168;p15"/>
          <p:cNvSpPr txBox="1"/>
          <p:nvPr/>
        </p:nvSpPr>
        <p:spPr>
          <a:xfrm>
            <a:off x="502920" y="6419088"/>
            <a:ext cx="106984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B"/>
              </a:buClr>
              <a:buSzPts val="930"/>
              <a:buFont typeface="Arial"/>
              <a:buNone/>
            </a:pPr>
            <a:r>
              <a:rPr b="0" i="0" lang="en-US" sz="930" u="none" cap="none" strike="noStrike">
                <a:solidFill>
                  <a:srgbClr val="56636B"/>
                </a:solidFill>
                <a:latin typeface="Arial"/>
                <a:ea typeface="Arial"/>
                <a:cs typeface="Arial"/>
                <a:sym typeface="Arial"/>
              </a:rPr>
              <a:t>[L] pp. 11–12  ·  [B] Eqs. 8.1–8.3, 8.10  ·  Penn State FSC 432, “Ionic Chain Reactions”</a:t>
            </a:r>
            <a:endParaRPr b="0" i="0" sz="930" u="none" cap="none" strike="noStrike">
              <a:solidFill>
                <a:schemeClr val="dk1"/>
              </a:solidFill>
              <a:latin typeface="Arial"/>
              <a:ea typeface="Arial"/>
              <a:cs typeface="Arial"/>
              <a:sym typeface="Arial"/>
            </a:endParaRPr>
          </a:p>
        </p:txBody>
      </p:sp>
      <p:sp>
        <p:nvSpPr>
          <p:cNvPr id="169" name="Google Shape;169;p15"/>
          <p:cNvSpPr txBox="1"/>
          <p:nvPr/>
        </p:nvSpPr>
        <p:spPr>
          <a:xfrm>
            <a:off x="530352" y="1490472"/>
            <a:ext cx="43891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5129"/>
              </a:buClr>
              <a:buSzPts val="1700"/>
              <a:buFont typeface="Arial"/>
              <a:buNone/>
            </a:pPr>
            <a:r>
              <a:rPr b="1" i="0" lang="en-US" sz="1700" u="none" cap="none" strike="noStrike">
                <a:solidFill>
                  <a:srgbClr val="BD5129"/>
                </a:solidFill>
                <a:latin typeface="Arial"/>
                <a:ea typeface="Arial"/>
                <a:cs typeface="Arial"/>
                <a:sym typeface="Arial"/>
              </a:rPr>
              <a:t>01</a:t>
            </a:r>
            <a:endParaRPr b="0" i="0" sz="1700" u="none" cap="none" strike="noStrike">
              <a:solidFill>
                <a:schemeClr val="dk1"/>
              </a:solidFill>
              <a:latin typeface="Arial"/>
              <a:ea typeface="Arial"/>
              <a:cs typeface="Arial"/>
              <a:sym typeface="Arial"/>
            </a:endParaRPr>
          </a:p>
        </p:txBody>
      </p:sp>
      <p:sp>
        <p:nvSpPr>
          <p:cNvPr id="170" name="Google Shape;170;p15"/>
          <p:cNvSpPr txBox="1"/>
          <p:nvPr/>
        </p:nvSpPr>
        <p:spPr>
          <a:xfrm>
            <a:off x="1097280" y="1490472"/>
            <a:ext cx="217627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B32"/>
              </a:buClr>
              <a:buSzPts val="1900"/>
              <a:buFont typeface="Arial"/>
              <a:buNone/>
            </a:pPr>
            <a:r>
              <a:rPr b="1" i="0" lang="en-US" sz="1900" u="none" cap="none" strike="noStrike">
                <a:solidFill>
                  <a:srgbClr val="202B32"/>
                </a:solidFill>
                <a:latin typeface="Arial"/>
                <a:ea typeface="Arial"/>
                <a:cs typeface="Arial"/>
                <a:sym typeface="Arial"/>
              </a:rPr>
              <a:t>Protonation</a:t>
            </a:r>
            <a:endParaRPr b="0" i="0" sz="1900" u="none" cap="none" strike="noStrike">
              <a:solidFill>
                <a:schemeClr val="dk1"/>
              </a:solidFill>
              <a:latin typeface="Arial"/>
              <a:ea typeface="Arial"/>
              <a:cs typeface="Arial"/>
              <a:sym typeface="Arial"/>
            </a:endParaRPr>
          </a:p>
        </p:txBody>
      </p:sp>
      <p:pic>
        <p:nvPicPr>
          <p:cNvPr descr="C:\Users\BIT\Downloads\PRE\1st Oct presentation\presentation-assets\eq-protonation.png" id="171" name="Google Shape;171;p15"/>
          <p:cNvPicPr preferRelativeResize="0"/>
          <p:nvPr/>
        </p:nvPicPr>
        <p:blipFill rotWithShape="1">
          <a:blip r:embed="rId3">
            <a:alphaModFix/>
          </a:blip>
          <a:srcRect b="0" l="0" r="0" t="0"/>
          <a:stretch/>
        </p:blipFill>
        <p:spPr>
          <a:xfrm>
            <a:off x="3246120" y="1495930"/>
            <a:ext cx="8339328" cy="409709"/>
          </a:xfrm>
          <a:prstGeom prst="rect">
            <a:avLst/>
          </a:prstGeom>
          <a:noFill/>
          <a:ln>
            <a:noFill/>
          </a:ln>
        </p:spPr>
      </p:pic>
      <p:sp>
        <p:nvSpPr>
          <p:cNvPr id="172" name="Google Shape;172;p15"/>
          <p:cNvSpPr txBox="1"/>
          <p:nvPr/>
        </p:nvSpPr>
        <p:spPr>
          <a:xfrm>
            <a:off x="3246120" y="2039112"/>
            <a:ext cx="8302752"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B"/>
              </a:buClr>
              <a:buSzPts val="1650"/>
              <a:buFont typeface="Arial"/>
              <a:buNone/>
            </a:pPr>
            <a:r>
              <a:rPr b="0" i="0" lang="en-US" sz="1650" u="none" cap="none" strike="noStrike">
                <a:solidFill>
                  <a:srgbClr val="56636B"/>
                </a:solidFill>
                <a:latin typeface="Arial"/>
                <a:ea typeface="Arial"/>
                <a:cs typeface="Arial"/>
                <a:sym typeface="Arial"/>
              </a:rPr>
              <a:t>Olefin accepts a proton from H–Z.</a:t>
            </a:r>
            <a:endParaRPr b="0" i="0" sz="1650" u="none" cap="none" strike="noStrike">
              <a:solidFill>
                <a:schemeClr val="dk1"/>
              </a:solidFill>
              <a:latin typeface="Arial"/>
              <a:ea typeface="Arial"/>
              <a:cs typeface="Arial"/>
              <a:sym typeface="Arial"/>
            </a:endParaRPr>
          </a:p>
        </p:txBody>
      </p:sp>
      <p:cxnSp>
        <p:nvCxnSpPr>
          <p:cNvPr id="173" name="Google Shape;173;p15"/>
          <p:cNvCxnSpPr/>
          <p:nvPr/>
        </p:nvCxnSpPr>
        <p:spPr>
          <a:xfrm>
            <a:off x="548640" y="2432304"/>
            <a:ext cx="11064240" cy="0"/>
          </a:xfrm>
          <a:prstGeom prst="straightConnector1">
            <a:avLst/>
          </a:prstGeom>
          <a:noFill/>
          <a:ln cap="flat" cmpd="sng" w="10150">
            <a:solidFill>
              <a:srgbClr val="CBD5DA"/>
            </a:solidFill>
            <a:prstDash val="solid"/>
            <a:round/>
            <a:headEnd len="sm" w="sm" type="none"/>
            <a:tailEnd len="sm" w="sm" type="none"/>
          </a:ln>
        </p:spPr>
      </p:cxnSp>
      <p:sp>
        <p:nvSpPr>
          <p:cNvPr id="174" name="Google Shape;174;p15"/>
          <p:cNvSpPr txBox="1"/>
          <p:nvPr/>
        </p:nvSpPr>
        <p:spPr>
          <a:xfrm>
            <a:off x="530352" y="2587752"/>
            <a:ext cx="43891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5129"/>
              </a:buClr>
              <a:buSzPts val="1700"/>
              <a:buFont typeface="Arial"/>
              <a:buNone/>
            </a:pPr>
            <a:r>
              <a:rPr b="1" i="0" lang="en-US" sz="1700" u="none" cap="none" strike="noStrike">
                <a:solidFill>
                  <a:srgbClr val="BD5129"/>
                </a:solidFill>
                <a:latin typeface="Arial"/>
                <a:ea typeface="Arial"/>
                <a:cs typeface="Arial"/>
                <a:sym typeface="Arial"/>
              </a:rPr>
              <a:t>02</a:t>
            </a:r>
            <a:endParaRPr b="0" i="0" sz="1700" u="none" cap="none" strike="noStrike">
              <a:solidFill>
                <a:schemeClr val="dk1"/>
              </a:solidFill>
              <a:latin typeface="Arial"/>
              <a:ea typeface="Arial"/>
              <a:cs typeface="Arial"/>
              <a:sym typeface="Arial"/>
            </a:endParaRPr>
          </a:p>
        </p:txBody>
      </p:sp>
      <p:sp>
        <p:nvSpPr>
          <p:cNvPr id="175" name="Google Shape;175;p15"/>
          <p:cNvSpPr txBox="1"/>
          <p:nvPr/>
        </p:nvSpPr>
        <p:spPr>
          <a:xfrm>
            <a:off x="1097280" y="2587752"/>
            <a:ext cx="217627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B32"/>
              </a:buClr>
              <a:buSzPts val="1900"/>
              <a:buFont typeface="Arial"/>
              <a:buNone/>
            </a:pPr>
            <a:r>
              <a:rPr b="1" i="0" lang="en-US" sz="1900" u="none" cap="none" strike="noStrike">
                <a:solidFill>
                  <a:srgbClr val="202B32"/>
                </a:solidFill>
                <a:latin typeface="Arial"/>
                <a:ea typeface="Arial"/>
                <a:cs typeface="Arial"/>
                <a:sym typeface="Arial"/>
              </a:rPr>
              <a:t>β-scission</a:t>
            </a:r>
            <a:endParaRPr b="0" i="0" sz="1900" u="none" cap="none" strike="noStrike">
              <a:solidFill>
                <a:schemeClr val="dk1"/>
              </a:solidFill>
              <a:latin typeface="Arial"/>
              <a:ea typeface="Arial"/>
              <a:cs typeface="Arial"/>
              <a:sym typeface="Arial"/>
            </a:endParaRPr>
          </a:p>
        </p:txBody>
      </p:sp>
      <p:pic>
        <p:nvPicPr>
          <p:cNvPr descr="C:\Users\BIT\Downloads\PRE\1st Oct presentation\presentation-assets\eq-beta-scission.png" id="176" name="Google Shape;176;p15"/>
          <p:cNvPicPr preferRelativeResize="0"/>
          <p:nvPr/>
        </p:nvPicPr>
        <p:blipFill rotWithShape="1">
          <a:blip r:embed="rId4">
            <a:alphaModFix/>
          </a:blip>
          <a:srcRect b="0" l="0" r="0" t="0"/>
          <a:stretch/>
        </p:blipFill>
        <p:spPr>
          <a:xfrm>
            <a:off x="3246120" y="2630630"/>
            <a:ext cx="8339328" cy="334868"/>
          </a:xfrm>
          <a:prstGeom prst="rect">
            <a:avLst/>
          </a:prstGeom>
          <a:noFill/>
          <a:ln>
            <a:noFill/>
          </a:ln>
        </p:spPr>
      </p:pic>
      <p:sp>
        <p:nvSpPr>
          <p:cNvPr id="177" name="Google Shape;177;p15"/>
          <p:cNvSpPr txBox="1"/>
          <p:nvPr/>
        </p:nvSpPr>
        <p:spPr>
          <a:xfrm>
            <a:off x="3246120" y="3136392"/>
            <a:ext cx="8302752"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B"/>
              </a:buClr>
              <a:buSzPts val="1650"/>
              <a:buFont typeface="Arial"/>
              <a:buNone/>
            </a:pPr>
            <a:r>
              <a:rPr b="0" i="0" lang="en-US" sz="1650" u="none" cap="none" strike="noStrike">
                <a:solidFill>
                  <a:srgbClr val="56636B"/>
                </a:solidFill>
                <a:latin typeface="Arial"/>
                <a:ea typeface="Arial"/>
                <a:cs typeface="Arial"/>
                <a:sym typeface="Arial"/>
              </a:rPr>
              <a:t>A C–C bond breaks to form an olefin + smaller ion.</a:t>
            </a:r>
            <a:endParaRPr b="0" i="0" sz="1650" u="none" cap="none" strike="noStrike">
              <a:solidFill>
                <a:schemeClr val="dk1"/>
              </a:solidFill>
              <a:latin typeface="Arial"/>
              <a:ea typeface="Arial"/>
              <a:cs typeface="Arial"/>
              <a:sym typeface="Arial"/>
            </a:endParaRPr>
          </a:p>
        </p:txBody>
      </p:sp>
      <p:cxnSp>
        <p:nvCxnSpPr>
          <p:cNvPr id="178" name="Google Shape;178;p15"/>
          <p:cNvCxnSpPr/>
          <p:nvPr/>
        </p:nvCxnSpPr>
        <p:spPr>
          <a:xfrm>
            <a:off x="548640" y="3529584"/>
            <a:ext cx="11064240" cy="0"/>
          </a:xfrm>
          <a:prstGeom prst="straightConnector1">
            <a:avLst/>
          </a:prstGeom>
          <a:noFill/>
          <a:ln cap="flat" cmpd="sng" w="10150">
            <a:solidFill>
              <a:srgbClr val="CBD5DA"/>
            </a:solidFill>
            <a:prstDash val="solid"/>
            <a:round/>
            <a:headEnd len="sm" w="sm" type="none"/>
            <a:tailEnd len="sm" w="sm" type="none"/>
          </a:ln>
        </p:spPr>
      </p:cxnSp>
      <p:sp>
        <p:nvSpPr>
          <p:cNvPr id="179" name="Google Shape;179;p15"/>
          <p:cNvSpPr txBox="1"/>
          <p:nvPr/>
        </p:nvSpPr>
        <p:spPr>
          <a:xfrm>
            <a:off x="530352" y="3685032"/>
            <a:ext cx="43891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5129"/>
              </a:buClr>
              <a:buSzPts val="1700"/>
              <a:buFont typeface="Arial"/>
              <a:buNone/>
            </a:pPr>
            <a:r>
              <a:rPr b="1" i="0" lang="en-US" sz="1700" u="none" cap="none" strike="noStrike">
                <a:solidFill>
                  <a:srgbClr val="BD5129"/>
                </a:solidFill>
                <a:latin typeface="Arial"/>
                <a:ea typeface="Arial"/>
                <a:cs typeface="Arial"/>
                <a:sym typeface="Arial"/>
              </a:rPr>
              <a:t>03</a:t>
            </a:r>
            <a:endParaRPr b="0" i="0" sz="1700" u="none" cap="none" strike="noStrike">
              <a:solidFill>
                <a:schemeClr val="dk1"/>
              </a:solidFill>
              <a:latin typeface="Arial"/>
              <a:ea typeface="Arial"/>
              <a:cs typeface="Arial"/>
              <a:sym typeface="Arial"/>
            </a:endParaRPr>
          </a:p>
        </p:txBody>
      </p:sp>
      <p:sp>
        <p:nvSpPr>
          <p:cNvPr id="180" name="Google Shape;180;p15"/>
          <p:cNvSpPr txBox="1"/>
          <p:nvPr/>
        </p:nvSpPr>
        <p:spPr>
          <a:xfrm>
            <a:off x="1097280" y="3685032"/>
            <a:ext cx="217627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B32"/>
              </a:buClr>
              <a:buSzPts val="1900"/>
              <a:buFont typeface="Arial"/>
              <a:buNone/>
            </a:pPr>
            <a:r>
              <a:rPr b="1" i="0" lang="en-US" sz="1900" u="none" cap="none" strike="noStrike">
                <a:solidFill>
                  <a:srgbClr val="202B32"/>
                </a:solidFill>
                <a:latin typeface="Arial"/>
                <a:ea typeface="Arial"/>
                <a:cs typeface="Arial"/>
                <a:sym typeface="Arial"/>
              </a:rPr>
              <a:t>Hydride transfer</a:t>
            </a:r>
            <a:endParaRPr b="0" i="0" sz="1900" u="none" cap="none" strike="noStrike">
              <a:solidFill>
                <a:schemeClr val="dk1"/>
              </a:solidFill>
              <a:latin typeface="Arial"/>
              <a:ea typeface="Arial"/>
              <a:cs typeface="Arial"/>
              <a:sym typeface="Arial"/>
            </a:endParaRPr>
          </a:p>
        </p:txBody>
      </p:sp>
      <p:pic>
        <p:nvPicPr>
          <p:cNvPr descr="C:\Users\BIT\Downloads\PRE\1st Oct presentation\presentation-assets\eq-hydride-transfer.png" id="181" name="Google Shape;181;p15"/>
          <p:cNvPicPr preferRelativeResize="0"/>
          <p:nvPr/>
        </p:nvPicPr>
        <p:blipFill rotWithShape="1">
          <a:blip r:embed="rId5">
            <a:alphaModFix/>
          </a:blip>
          <a:srcRect b="0" l="0" r="0" t="0"/>
          <a:stretch/>
        </p:blipFill>
        <p:spPr>
          <a:xfrm>
            <a:off x="4262195" y="3630168"/>
            <a:ext cx="6307178" cy="530352"/>
          </a:xfrm>
          <a:prstGeom prst="rect">
            <a:avLst/>
          </a:prstGeom>
          <a:noFill/>
          <a:ln>
            <a:noFill/>
          </a:ln>
        </p:spPr>
      </p:pic>
      <p:sp>
        <p:nvSpPr>
          <p:cNvPr id="182" name="Google Shape;182;p15"/>
          <p:cNvSpPr txBox="1"/>
          <p:nvPr/>
        </p:nvSpPr>
        <p:spPr>
          <a:xfrm>
            <a:off x="3246120" y="4233672"/>
            <a:ext cx="8302752"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B"/>
              </a:buClr>
              <a:buSzPts val="1650"/>
              <a:buFont typeface="Arial"/>
              <a:buNone/>
            </a:pPr>
            <a:r>
              <a:rPr b="0" i="0" lang="en-US" sz="1650" u="none" cap="none" strike="noStrike">
                <a:solidFill>
                  <a:srgbClr val="56636B"/>
                </a:solidFill>
                <a:latin typeface="Arial"/>
                <a:ea typeface="Arial"/>
                <a:cs typeface="Arial"/>
                <a:sym typeface="Arial"/>
              </a:rPr>
              <a:t>Paraffin forms and a new carbenium ion continues the chain.</a:t>
            </a:r>
            <a:endParaRPr b="0" i="0" sz="1650" u="none" cap="none" strike="noStrike">
              <a:solidFill>
                <a:schemeClr val="dk1"/>
              </a:solidFill>
              <a:latin typeface="Arial"/>
              <a:ea typeface="Arial"/>
              <a:cs typeface="Arial"/>
              <a:sym typeface="Arial"/>
            </a:endParaRPr>
          </a:p>
        </p:txBody>
      </p:sp>
      <p:cxnSp>
        <p:nvCxnSpPr>
          <p:cNvPr id="183" name="Google Shape;183;p15"/>
          <p:cNvCxnSpPr/>
          <p:nvPr/>
        </p:nvCxnSpPr>
        <p:spPr>
          <a:xfrm>
            <a:off x="548640" y="4626864"/>
            <a:ext cx="11064240" cy="0"/>
          </a:xfrm>
          <a:prstGeom prst="straightConnector1">
            <a:avLst/>
          </a:prstGeom>
          <a:noFill/>
          <a:ln cap="flat" cmpd="sng" w="10150">
            <a:solidFill>
              <a:srgbClr val="CBD5DA"/>
            </a:solidFill>
            <a:prstDash val="solid"/>
            <a:round/>
            <a:headEnd len="sm" w="sm" type="none"/>
            <a:tailEnd len="sm" w="sm" type="none"/>
          </a:ln>
        </p:spPr>
      </p:cxnSp>
      <p:sp>
        <p:nvSpPr>
          <p:cNvPr id="184" name="Google Shape;184;p15"/>
          <p:cNvSpPr txBox="1"/>
          <p:nvPr/>
        </p:nvSpPr>
        <p:spPr>
          <a:xfrm>
            <a:off x="530352" y="4782312"/>
            <a:ext cx="43891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5129"/>
              </a:buClr>
              <a:buSzPts val="1700"/>
              <a:buFont typeface="Arial"/>
              <a:buNone/>
            </a:pPr>
            <a:r>
              <a:rPr b="1" i="0" lang="en-US" sz="1700" u="none" cap="none" strike="noStrike">
                <a:solidFill>
                  <a:srgbClr val="BD5129"/>
                </a:solidFill>
                <a:latin typeface="Arial"/>
                <a:ea typeface="Arial"/>
                <a:cs typeface="Arial"/>
                <a:sym typeface="Arial"/>
              </a:rPr>
              <a:t>04</a:t>
            </a:r>
            <a:endParaRPr b="0" i="0" sz="1700" u="none" cap="none" strike="noStrike">
              <a:solidFill>
                <a:schemeClr val="dk1"/>
              </a:solidFill>
              <a:latin typeface="Arial"/>
              <a:ea typeface="Arial"/>
              <a:cs typeface="Arial"/>
              <a:sym typeface="Arial"/>
            </a:endParaRPr>
          </a:p>
        </p:txBody>
      </p:sp>
      <p:sp>
        <p:nvSpPr>
          <p:cNvPr id="185" name="Google Shape;185;p15"/>
          <p:cNvSpPr txBox="1"/>
          <p:nvPr/>
        </p:nvSpPr>
        <p:spPr>
          <a:xfrm>
            <a:off x="1097280" y="4782312"/>
            <a:ext cx="217627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B32"/>
              </a:buClr>
              <a:buSzPts val="1900"/>
              <a:buFont typeface="Arial"/>
              <a:buNone/>
            </a:pPr>
            <a:r>
              <a:rPr b="1" i="0" lang="en-US" sz="1900" u="none" cap="none" strike="noStrike">
                <a:solidFill>
                  <a:srgbClr val="202B32"/>
                </a:solidFill>
                <a:latin typeface="Arial"/>
                <a:ea typeface="Arial"/>
                <a:cs typeface="Arial"/>
                <a:sym typeface="Arial"/>
              </a:rPr>
              <a:t>Proton return</a:t>
            </a:r>
            <a:endParaRPr b="0" i="0" sz="1900" u="none" cap="none" strike="noStrike">
              <a:solidFill>
                <a:schemeClr val="dk1"/>
              </a:solidFill>
              <a:latin typeface="Arial"/>
              <a:ea typeface="Arial"/>
              <a:cs typeface="Arial"/>
              <a:sym typeface="Arial"/>
            </a:endParaRPr>
          </a:p>
        </p:txBody>
      </p:sp>
      <p:pic>
        <p:nvPicPr>
          <p:cNvPr descr="C:\Users\BIT\Downloads\PRE\1st Oct presentation\presentation-assets\eq-site-regeneration.png" id="186" name="Google Shape;186;p15"/>
          <p:cNvPicPr preferRelativeResize="0"/>
          <p:nvPr/>
        </p:nvPicPr>
        <p:blipFill rotWithShape="1">
          <a:blip r:embed="rId6">
            <a:alphaModFix/>
          </a:blip>
          <a:srcRect b="0" l="0" r="0" t="0"/>
          <a:stretch/>
        </p:blipFill>
        <p:spPr>
          <a:xfrm>
            <a:off x="3246120" y="4787770"/>
            <a:ext cx="8339328" cy="409709"/>
          </a:xfrm>
          <a:prstGeom prst="rect">
            <a:avLst/>
          </a:prstGeom>
          <a:noFill/>
          <a:ln>
            <a:noFill/>
          </a:ln>
        </p:spPr>
      </p:pic>
      <p:sp>
        <p:nvSpPr>
          <p:cNvPr id="187" name="Google Shape;187;p15"/>
          <p:cNvSpPr txBox="1"/>
          <p:nvPr/>
        </p:nvSpPr>
        <p:spPr>
          <a:xfrm>
            <a:off x="3246120" y="5330952"/>
            <a:ext cx="8302752"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B"/>
              </a:buClr>
              <a:buSzPts val="1650"/>
              <a:buFont typeface="Arial"/>
              <a:buNone/>
            </a:pPr>
            <a:r>
              <a:rPr b="0" i="0" lang="en-US" sz="1650" u="none" cap="none" strike="noStrike">
                <a:solidFill>
                  <a:srgbClr val="56636B"/>
                </a:solidFill>
                <a:latin typeface="Arial"/>
                <a:ea typeface="Arial"/>
                <a:cs typeface="Arial"/>
                <a:sym typeface="Arial"/>
              </a:rPr>
              <a:t>Olefin leaves and the acid site regenerates.</a:t>
            </a:r>
            <a:endParaRPr b="0" i="0" sz="1650" u="none" cap="none" strike="noStrike">
              <a:solidFill>
                <a:schemeClr val="dk1"/>
              </a:solidFill>
              <a:latin typeface="Arial"/>
              <a:ea typeface="Arial"/>
              <a:cs typeface="Arial"/>
              <a:sym typeface="Arial"/>
            </a:endParaRPr>
          </a:p>
        </p:txBody>
      </p:sp>
      <p:sp>
        <p:nvSpPr>
          <p:cNvPr id="188" name="Google Shape;188;p15"/>
          <p:cNvSpPr txBox="1"/>
          <p:nvPr/>
        </p:nvSpPr>
        <p:spPr>
          <a:xfrm>
            <a:off x="548640" y="6016752"/>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6B88"/>
              </a:buClr>
              <a:buSzPts val="1600"/>
              <a:buFont typeface="Arial"/>
              <a:buNone/>
            </a:pPr>
            <a:r>
              <a:rPr b="0" i="0" lang="en-US" sz="1600" u="none" cap="none" strike="noStrike">
                <a:solidFill>
                  <a:srgbClr val="246B88"/>
                </a:solidFill>
                <a:latin typeface="Arial"/>
                <a:ea typeface="Arial"/>
                <a:cs typeface="Arial"/>
                <a:sym typeface="Arial"/>
              </a:rPr>
              <a:t>H–Z = Brønsted acid site. Rearrangements favour more stable ions and branched products.</a:t>
            </a:r>
            <a:endParaRPr b="0" i="0" sz="1600" u="none" cap="none" strike="noStrike">
              <a:solidFill>
                <a:schemeClr val="dk1"/>
              </a:solidFill>
              <a:latin typeface="Arial"/>
              <a:ea typeface="Arial"/>
              <a:cs typeface="Arial"/>
              <a:sym typeface="Arial"/>
            </a:endParaRPr>
          </a:p>
        </p:txBody>
      </p:sp>
      <p:pic>
        <p:nvPicPr>
          <p:cNvPr id="189" name="Google Shape;189;p15" title="1000163576.png"/>
          <p:cNvPicPr preferRelativeResize="0"/>
          <p:nvPr/>
        </p:nvPicPr>
        <p:blipFill>
          <a:blip r:embed="rId7">
            <a:alphaModFix amt="10000"/>
          </a:blip>
          <a:stretch>
            <a:fillRect/>
          </a:stretch>
        </p:blipFill>
        <p:spPr>
          <a:xfrm>
            <a:off x="11807480" y="6278888"/>
            <a:ext cx="384521" cy="499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16"/>
          <p:cNvPicPr preferRelativeResize="0"/>
          <p:nvPr/>
        </p:nvPicPr>
        <p:blipFill>
          <a:blip r:embed="rId3">
            <a:alphaModFix/>
          </a:blip>
          <a:stretch>
            <a:fillRect/>
          </a:stretch>
        </p:blipFill>
        <p:spPr>
          <a:xfrm>
            <a:off x="152400" y="793925"/>
            <a:ext cx="11887200" cy="5467072"/>
          </a:xfrm>
          <a:prstGeom prst="rect">
            <a:avLst/>
          </a:prstGeom>
          <a:noFill/>
          <a:ln>
            <a:noFill/>
          </a:ln>
        </p:spPr>
      </p:pic>
      <p:sp>
        <p:nvSpPr>
          <p:cNvPr id="196" name="Google Shape;196;p16"/>
          <p:cNvSpPr txBox="1"/>
          <p:nvPr/>
        </p:nvSpPr>
        <p:spPr>
          <a:xfrm>
            <a:off x="526775" y="404100"/>
            <a:ext cx="5606700" cy="60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50">
                <a:solidFill>
                  <a:schemeClr val="dk1"/>
                </a:solidFill>
              </a:rPr>
              <a:t>FCC block flow diagram</a:t>
            </a:r>
            <a:endParaRPr b="1" sz="2300">
              <a:solidFill>
                <a:schemeClr val="dk1"/>
              </a:solidFill>
            </a:endParaRPr>
          </a:p>
          <a:p>
            <a:pPr indent="0" lvl="0" marL="0" rtl="0" algn="l">
              <a:spcBef>
                <a:spcPts val="0"/>
              </a:spcBef>
              <a:spcAft>
                <a:spcPts val="0"/>
              </a:spcAft>
              <a:buClr>
                <a:schemeClr val="dk1"/>
              </a:buClr>
              <a:buSzPts val="1100"/>
              <a:buFont typeface="Arial"/>
              <a:buNone/>
            </a:pPr>
            <a:r>
              <a:t/>
            </a:r>
            <a:endParaRPr b="1" sz="1350">
              <a:solidFill>
                <a:srgbClr val="E9E7E2"/>
              </a:solidFill>
            </a:endParaRPr>
          </a:p>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17"/>
          <p:cNvPicPr preferRelativeResize="0"/>
          <p:nvPr/>
        </p:nvPicPr>
        <p:blipFill>
          <a:blip r:embed="rId3">
            <a:alphaModFix/>
          </a:blip>
          <a:stretch>
            <a:fillRect/>
          </a:stretch>
        </p:blipFill>
        <p:spPr>
          <a:xfrm>
            <a:off x="929988" y="675925"/>
            <a:ext cx="10569675" cy="6553199"/>
          </a:xfrm>
          <a:prstGeom prst="rect">
            <a:avLst/>
          </a:prstGeom>
          <a:noFill/>
          <a:ln>
            <a:noFill/>
          </a:ln>
        </p:spPr>
      </p:pic>
      <p:sp>
        <p:nvSpPr>
          <p:cNvPr id="203" name="Google Shape;203;p17"/>
          <p:cNvSpPr txBox="1"/>
          <p:nvPr/>
        </p:nvSpPr>
        <p:spPr>
          <a:xfrm flipH="1">
            <a:off x="930000" y="144937"/>
            <a:ext cx="8073600" cy="53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2250">
                <a:solidFill>
                  <a:schemeClr val="dk1"/>
                </a:solidFill>
              </a:rPr>
              <a:t>FCC process flow diagram, side-by-side type</a:t>
            </a:r>
            <a:endParaRPr b="1" sz="225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8"/>
          <p:cNvSpPr txBox="1"/>
          <p:nvPr/>
        </p:nvSpPr>
        <p:spPr>
          <a:xfrm>
            <a:off x="49800" y="0"/>
            <a:ext cx="12092400" cy="87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US" sz="2700" u="sng">
                <a:solidFill>
                  <a:srgbClr val="122035"/>
                </a:solidFill>
                <a:highlight>
                  <a:srgbClr val="FFD966"/>
                </a:highlight>
              </a:rPr>
              <a:t>Optimising Catalytic Cracking</a:t>
            </a:r>
            <a:r>
              <a:rPr lang="en-US" sz="2700" u="sng">
                <a:solidFill>
                  <a:srgbClr val="122035"/>
                </a:solidFill>
                <a:highlight>
                  <a:srgbClr val="FFD966"/>
                </a:highlight>
              </a:rPr>
              <a:t>: </a:t>
            </a:r>
            <a:r>
              <a:rPr i="1" lang="en-US" sz="2700" u="sng">
                <a:solidFill>
                  <a:srgbClr val="122035"/>
                </a:solidFill>
                <a:highlight>
                  <a:srgbClr val="FFD966"/>
                </a:highlight>
              </a:rPr>
              <a:t>control the severity, control the product slate</a:t>
            </a:r>
            <a:endParaRPr i="1" sz="2700" u="sng">
              <a:solidFill>
                <a:srgbClr val="122035"/>
              </a:solidFill>
              <a:highlight>
                <a:srgbClr val="FFD966"/>
              </a:highlight>
            </a:endParaRPr>
          </a:p>
          <a:p>
            <a:pPr indent="0" lvl="0" marL="0" rtl="0" algn="l">
              <a:spcBef>
                <a:spcPts val="0"/>
              </a:spcBef>
              <a:spcAft>
                <a:spcPts val="0"/>
              </a:spcAft>
              <a:buNone/>
            </a:pPr>
            <a:r>
              <a:t/>
            </a:r>
            <a:endParaRPr i="1" u="sng"/>
          </a:p>
        </p:txBody>
      </p:sp>
      <p:sp>
        <p:nvSpPr>
          <p:cNvPr id="210" name="Google Shape;210;p18"/>
          <p:cNvSpPr txBox="1"/>
          <p:nvPr/>
        </p:nvSpPr>
        <p:spPr>
          <a:xfrm>
            <a:off x="-75" y="878100"/>
            <a:ext cx="12192000" cy="66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i="1" lang="en-US" sz="1500">
                <a:solidFill>
                  <a:schemeClr val="accent1"/>
                </a:solidFill>
              </a:rPr>
              <a:t>FCC optimisation is a balance: maximise valuable liquids while avoiding over-cracking, coke and catalyst deactivation.</a:t>
            </a:r>
            <a:endParaRPr b="1" i="1" sz="1500">
              <a:solidFill>
                <a:schemeClr val="accent1"/>
              </a:solidFill>
            </a:endParaRPr>
          </a:p>
          <a:p>
            <a:pPr indent="0" lvl="0" marL="0" rtl="0" algn="l">
              <a:spcBef>
                <a:spcPts val="0"/>
              </a:spcBef>
              <a:spcAft>
                <a:spcPts val="0"/>
              </a:spcAft>
              <a:buNone/>
            </a:pPr>
            <a:r>
              <a:t/>
            </a:r>
            <a:endParaRPr/>
          </a:p>
        </p:txBody>
      </p:sp>
      <p:pic>
        <p:nvPicPr>
          <p:cNvPr id="211" name="Google Shape;211;p18"/>
          <p:cNvPicPr preferRelativeResize="0"/>
          <p:nvPr/>
        </p:nvPicPr>
        <p:blipFill>
          <a:blip r:embed="rId3">
            <a:alphaModFix/>
          </a:blip>
          <a:stretch>
            <a:fillRect/>
          </a:stretch>
        </p:blipFill>
        <p:spPr>
          <a:xfrm>
            <a:off x="120875" y="1634875"/>
            <a:ext cx="2143125" cy="4426075"/>
          </a:xfrm>
          <a:prstGeom prst="rect">
            <a:avLst/>
          </a:prstGeom>
          <a:noFill/>
          <a:ln>
            <a:noFill/>
          </a:ln>
        </p:spPr>
      </p:pic>
      <p:pic>
        <p:nvPicPr>
          <p:cNvPr id="212" name="Google Shape;212;p18"/>
          <p:cNvPicPr preferRelativeResize="0"/>
          <p:nvPr/>
        </p:nvPicPr>
        <p:blipFill>
          <a:blip r:embed="rId4">
            <a:alphaModFix/>
          </a:blip>
          <a:stretch>
            <a:fillRect/>
          </a:stretch>
        </p:blipFill>
        <p:spPr>
          <a:xfrm>
            <a:off x="2416400" y="1576375"/>
            <a:ext cx="4167800" cy="1032425"/>
          </a:xfrm>
          <a:prstGeom prst="rect">
            <a:avLst/>
          </a:prstGeom>
          <a:noFill/>
          <a:ln>
            <a:noFill/>
          </a:ln>
        </p:spPr>
      </p:pic>
      <p:pic>
        <p:nvPicPr>
          <p:cNvPr id="213" name="Google Shape;213;p18"/>
          <p:cNvPicPr preferRelativeResize="0"/>
          <p:nvPr/>
        </p:nvPicPr>
        <p:blipFill>
          <a:blip r:embed="rId5">
            <a:alphaModFix/>
          </a:blip>
          <a:stretch>
            <a:fillRect/>
          </a:stretch>
        </p:blipFill>
        <p:spPr>
          <a:xfrm>
            <a:off x="6710175" y="1600950"/>
            <a:ext cx="4549250" cy="1032425"/>
          </a:xfrm>
          <a:prstGeom prst="rect">
            <a:avLst/>
          </a:prstGeom>
          <a:noFill/>
          <a:ln>
            <a:noFill/>
          </a:ln>
        </p:spPr>
      </p:pic>
      <p:pic>
        <p:nvPicPr>
          <p:cNvPr id="214" name="Google Shape;214;p18"/>
          <p:cNvPicPr preferRelativeResize="0"/>
          <p:nvPr/>
        </p:nvPicPr>
        <p:blipFill>
          <a:blip r:embed="rId6">
            <a:alphaModFix/>
          </a:blip>
          <a:stretch>
            <a:fillRect/>
          </a:stretch>
        </p:blipFill>
        <p:spPr>
          <a:xfrm>
            <a:off x="2542375" y="2839502"/>
            <a:ext cx="4167800" cy="1032425"/>
          </a:xfrm>
          <a:prstGeom prst="rect">
            <a:avLst/>
          </a:prstGeom>
          <a:noFill/>
          <a:ln>
            <a:noFill/>
          </a:ln>
        </p:spPr>
      </p:pic>
      <p:pic>
        <p:nvPicPr>
          <p:cNvPr id="215" name="Google Shape;215;p18"/>
          <p:cNvPicPr preferRelativeResize="0"/>
          <p:nvPr/>
        </p:nvPicPr>
        <p:blipFill>
          <a:blip r:embed="rId7">
            <a:alphaModFix/>
          </a:blip>
          <a:stretch>
            <a:fillRect/>
          </a:stretch>
        </p:blipFill>
        <p:spPr>
          <a:xfrm>
            <a:off x="6909425" y="2839502"/>
            <a:ext cx="4549250" cy="1032425"/>
          </a:xfrm>
          <a:prstGeom prst="rect">
            <a:avLst/>
          </a:prstGeom>
          <a:noFill/>
          <a:ln>
            <a:noFill/>
          </a:ln>
        </p:spPr>
      </p:pic>
      <p:sp>
        <p:nvSpPr>
          <p:cNvPr id="216" name="Google Shape;216;p18"/>
          <p:cNvSpPr txBox="1"/>
          <p:nvPr/>
        </p:nvSpPr>
        <p:spPr>
          <a:xfrm>
            <a:off x="332338" y="1794200"/>
            <a:ext cx="17202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1000">
                <a:solidFill>
                  <a:srgbClr val="225B96"/>
                </a:solidFill>
              </a:rPr>
              <a:t>OPTIMISATION TARGET</a:t>
            </a:r>
            <a:endParaRPr b="1" sz="1000">
              <a:solidFill>
                <a:srgbClr val="225B96"/>
              </a:solidFill>
            </a:endParaRPr>
          </a:p>
        </p:txBody>
      </p:sp>
      <p:sp>
        <p:nvSpPr>
          <p:cNvPr id="217" name="Google Shape;217;p18"/>
          <p:cNvSpPr txBox="1"/>
          <p:nvPr/>
        </p:nvSpPr>
        <p:spPr>
          <a:xfrm>
            <a:off x="120925" y="2132900"/>
            <a:ext cx="2143200" cy="91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200">
                <a:solidFill>
                  <a:srgbClr val="122035"/>
                </a:solidFill>
              </a:rPr>
              <a:t>High-value</a:t>
            </a:r>
            <a:br>
              <a:rPr b="1" lang="en-US" sz="2200">
                <a:solidFill>
                  <a:srgbClr val="122035"/>
                </a:solidFill>
              </a:rPr>
            </a:br>
            <a:r>
              <a:rPr b="1" lang="en-US" sz="2200">
                <a:solidFill>
                  <a:srgbClr val="122035"/>
                </a:solidFill>
              </a:rPr>
              <a:t> liquid yield</a:t>
            </a:r>
            <a:endParaRPr b="1" sz="2200">
              <a:solidFill>
                <a:srgbClr val="122035"/>
              </a:solidFill>
            </a:endParaRPr>
          </a:p>
        </p:txBody>
      </p:sp>
      <p:sp>
        <p:nvSpPr>
          <p:cNvPr id="218" name="Google Shape;218;p18"/>
          <p:cNvSpPr txBox="1"/>
          <p:nvPr/>
        </p:nvSpPr>
        <p:spPr>
          <a:xfrm>
            <a:off x="275488" y="3554650"/>
            <a:ext cx="1833900" cy="946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100"/>
              <a:buFont typeface="Arial"/>
              <a:buNone/>
            </a:pPr>
            <a:r>
              <a:rPr b="1" lang="en-US" sz="1500">
                <a:solidFill>
                  <a:srgbClr val="222B36"/>
                </a:solidFill>
              </a:rPr>
              <a:t>↑ gasoline</a:t>
            </a:r>
            <a:br>
              <a:rPr b="1" lang="en-US" sz="1500">
                <a:solidFill>
                  <a:srgbClr val="222B36"/>
                </a:solidFill>
              </a:rPr>
            </a:br>
            <a:r>
              <a:rPr b="1" lang="en-US" sz="1500">
                <a:solidFill>
                  <a:srgbClr val="222B36"/>
                </a:solidFill>
              </a:rPr>
              <a:t> ↑ desired olefins</a:t>
            </a:r>
            <a:br>
              <a:rPr b="1" lang="en-US" sz="1500">
                <a:solidFill>
                  <a:srgbClr val="222B36"/>
                </a:solidFill>
              </a:rPr>
            </a:br>
            <a:r>
              <a:rPr b="1" lang="en-US" sz="1500">
                <a:solidFill>
                  <a:srgbClr val="222B36"/>
                </a:solidFill>
              </a:rPr>
              <a:t> ↓ coke &amp; dry gas</a:t>
            </a:r>
            <a:endParaRPr b="1" sz="1500">
              <a:solidFill>
                <a:srgbClr val="222B36"/>
              </a:solidFill>
            </a:endParaRPr>
          </a:p>
        </p:txBody>
      </p:sp>
      <p:pic>
        <p:nvPicPr>
          <p:cNvPr id="219" name="Google Shape;219;p18"/>
          <p:cNvPicPr preferRelativeResize="0"/>
          <p:nvPr/>
        </p:nvPicPr>
        <p:blipFill>
          <a:blip r:embed="rId8">
            <a:alphaModFix/>
          </a:blip>
          <a:stretch>
            <a:fillRect/>
          </a:stretch>
        </p:blipFill>
        <p:spPr>
          <a:xfrm>
            <a:off x="2416400" y="4383800"/>
            <a:ext cx="9725800" cy="2142100"/>
          </a:xfrm>
          <a:prstGeom prst="rect">
            <a:avLst/>
          </a:prstGeom>
          <a:noFill/>
          <a:ln>
            <a:noFill/>
          </a:ln>
        </p:spPr>
      </p:pic>
      <p:sp>
        <p:nvSpPr>
          <p:cNvPr id="220" name="Google Shape;220;p18"/>
          <p:cNvSpPr txBox="1"/>
          <p:nvPr/>
        </p:nvSpPr>
        <p:spPr>
          <a:xfrm>
            <a:off x="2542375" y="1600950"/>
            <a:ext cx="3921000" cy="113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US">
                <a:solidFill>
                  <a:srgbClr val="225B96"/>
                </a:solidFill>
              </a:rPr>
              <a:t>1.  Severity: temperature + time</a:t>
            </a:r>
            <a:endParaRPr b="1">
              <a:solidFill>
                <a:srgbClr val="225B96"/>
              </a:solidFill>
            </a:endParaRPr>
          </a:p>
          <a:p>
            <a:pPr indent="0" lvl="0" marL="0" rtl="0" algn="l">
              <a:lnSpc>
                <a:spcPct val="115000"/>
              </a:lnSpc>
              <a:spcBef>
                <a:spcPts val="0"/>
              </a:spcBef>
              <a:spcAft>
                <a:spcPts val="0"/>
              </a:spcAft>
              <a:buClr>
                <a:schemeClr val="dk1"/>
              </a:buClr>
              <a:buSzPts val="1100"/>
              <a:buFont typeface="Arial"/>
              <a:buNone/>
            </a:pPr>
            <a:r>
              <a:rPr lang="en-US" sz="1300">
                <a:solidFill>
                  <a:srgbClr val="222B36"/>
                </a:solidFill>
              </a:rPr>
              <a:t>Higher severity → more conversion, but excessive severity over-cracks gasoline to gas/coke.</a:t>
            </a:r>
            <a:endParaRPr sz="1300">
              <a:solidFill>
                <a:srgbClr val="222B36"/>
              </a:solidFill>
            </a:endParaRPr>
          </a:p>
          <a:p>
            <a:pPr indent="0" lvl="0" marL="0" rtl="0" algn="l">
              <a:spcBef>
                <a:spcPts val="0"/>
              </a:spcBef>
              <a:spcAft>
                <a:spcPts val="0"/>
              </a:spcAft>
              <a:buNone/>
            </a:pPr>
            <a:r>
              <a:t/>
            </a:r>
            <a:endParaRPr sz="1600"/>
          </a:p>
        </p:txBody>
      </p:sp>
      <p:sp>
        <p:nvSpPr>
          <p:cNvPr id="221" name="Google Shape;221;p18"/>
          <p:cNvSpPr txBox="1"/>
          <p:nvPr/>
        </p:nvSpPr>
        <p:spPr>
          <a:xfrm>
            <a:off x="6736475" y="1658700"/>
            <a:ext cx="4340700" cy="135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a:solidFill>
                  <a:srgbClr val="1C897E"/>
                </a:solidFill>
              </a:rPr>
              <a:t>2. Catalyst activity &amp; selectivity</a:t>
            </a:r>
            <a:endParaRPr b="1">
              <a:solidFill>
                <a:srgbClr val="1C897E"/>
              </a:solidFill>
            </a:endParaRPr>
          </a:p>
          <a:p>
            <a:pPr indent="0" lvl="0" marL="0" rtl="0" algn="l">
              <a:lnSpc>
                <a:spcPct val="115000"/>
              </a:lnSpc>
              <a:spcBef>
                <a:spcPts val="0"/>
              </a:spcBef>
              <a:spcAft>
                <a:spcPts val="0"/>
              </a:spcAft>
              <a:buNone/>
            </a:pPr>
            <a:r>
              <a:rPr lang="en-US" sz="1300">
                <a:solidFill>
                  <a:srgbClr val="222B36"/>
                </a:solidFill>
              </a:rPr>
              <a:t>Zeolite is highly active; short contact time helps prevent over-cracking and supports gasoline yield.</a:t>
            </a:r>
            <a:endParaRPr sz="1300">
              <a:solidFill>
                <a:srgbClr val="222B36"/>
              </a:solidFill>
            </a:endParaRPr>
          </a:p>
          <a:p>
            <a:pPr indent="0" lvl="0" marL="0" rtl="0" algn="l">
              <a:lnSpc>
                <a:spcPct val="115000"/>
              </a:lnSpc>
              <a:spcBef>
                <a:spcPts val="0"/>
              </a:spcBef>
              <a:spcAft>
                <a:spcPts val="0"/>
              </a:spcAft>
              <a:buClr>
                <a:schemeClr val="dk1"/>
              </a:buClr>
              <a:buSzPts val="1100"/>
              <a:buFont typeface="Arial"/>
              <a:buNone/>
            </a:pPr>
            <a:r>
              <a:t/>
            </a:r>
            <a:endParaRPr b="1">
              <a:solidFill>
                <a:srgbClr val="1C897E"/>
              </a:solidFill>
            </a:endParaRPr>
          </a:p>
          <a:p>
            <a:pPr indent="0" lvl="0" marL="0" rtl="0" algn="l">
              <a:spcBef>
                <a:spcPts val="0"/>
              </a:spcBef>
              <a:spcAft>
                <a:spcPts val="0"/>
              </a:spcAft>
              <a:buNone/>
            </a:pPr>
            <a:r>
              <a:t/>
            </a:r>
            <a:endParaRPr/>
          </a:p>
        </p:txBody>
      </p:sp>
      <p:sp>
        <p:nvSpPr>
          <p:cNvPr id="222" name="Google Shape;222;p18"/>
          <p:cNvSpPr txBox="1"/>
          <p:nvPr/>
        </p:nvSpPr>
        <p:spPr>
          <a:xfrm>
            <a:off x="2654700" y="2907550"/>
            <a:ext cx="3921000" cy="132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a:solidFill>
                  <a:srgbClr val="E2A63B"/>
                </a:solidFill>
              </a:rPr>
              <a:t>3.  Feed quality</a:t>
            </a:r>
            <a:endParaRPr b="1">
              <a:solidFill>
                <a:srgbClr val="E2A63B"/>
              </a:solidFill>
            </a:endParaRPr>
          </a:p>
          <a:p>
            <a:pPr indent="0" lvl="0" marL="0" rtl="0" algn="l">
              <a:lnSpc>
                <a:spcPct val="115000"/>
              </a:lnSpc>
              <a:spcBef>
                <a:spcPts val="0"/>
              </a:spcBef>
              <a:spcAft>
                <a:spcPts val="0"/>
              </a:spcAft>
              <a:buNone/>
            </a:pPr>
            <a:r>
              <a:rPr lang="en-US" sz="1200">
                <a:solidFill>
                  <a:srgbClr val="222B36"/>
                </a:solidFill>
              </a:rPr>
              <a:t>Metals (Ni, V), sulfur and high carbon residue reduce activity, increase coke and can lower gasoline yield.</a:t>
            </a:r>
            <a:endParaRPr sz="1200">
              <a:solidFill>
                <a:srgbClr val="222B36"/>
              </a:solidFill>
            </a:endParaRPr>
          </a:p>
          <a:p>
            <a:pPr indent="0" lvl="0" marL="0" rtl="0" algn="l">
              <a:lnSpc>
                <a:spcPct val="115000"/>
              </a:lnSpc>
              <a:spcBef>
                <a:spcPts val="0"/>
              </a:spcBef>
              <a:spcAft>
                <a:spcPts val="0"/>
              </a:spcAft>
              <a:buClr>
                <a:schemeClr val="dk1"/>
              </a:buClr>
              <a:buSzPts val="1100"/>
              <a:buFont typeface="Arial"/>
              <a:buNone/>
            </a:pPr>
            <a:r>
              <a:t/>
            </a:r>
            <a:endParaRPr b="1">
              <a:solidFill>
                <a:srgbClr val="E2A63B"/>
              </a:solidFill>
            </a:endParaRPr>
          </a:p>
          <a:p>
            <a:pPr indent="0" lvl="0" marL="0" rtl="0" algn="l">
              <a:spcBef>
                <a:spcPts val="0"/>
              </a:spcBef>
              <a:spcAft>
                <a:spcPts val="0"/>
              </a:spcAft>
              <a:buNone/>
            </a:pPr>
            <a:r>
              <a:t/>
            </a:r>
            <a:endParaRPr/>
          </a:p>
        </p:txBody>
      </p:sp>
      <p:sp>
        <p:nvSpPr>
          <p:cNvPr id="223" name="Google Shape;223;p18"/>
          <p:cNvSpPr txBox="1"/>
          <p:nvPr/>
        </p:nvSpPr>
        <p:spPr>
          <a:xfrm>
            <a:off x="7063425" y="2907550"/>
            <a:ext cx="4340700" cy="133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a:solidFill>
                  <a:srgbClr val="B74343"/>
                </a:solidFill>
              </a:rPr>
              <a:t>4. Regeneration</a:t>
            </a:r>
            <a:endParaRPr b="1">
              <a:solidFill>
                <a:srgbClr val="B74343"/>
              </a:solidFill>
            </a:endParaRPr>
          </a:p>
          <a:p>
            <a:pPr indent="0" lvl="0" marL="0" rtl="0" algn="l">
              <a:lnSpc>
                <a:spcPct val="115000"/>
              </a:lnSpc>
              <a:spcBef>
                <a:spcPts val="0"/>
              </a:spcBef>
              <a:spcAft>
                <a:spcPts val="0"/>
              </a:spcAft>
              <a:buNone/>
            </a:pPr>
            <a:r>
              <a:rPr lang="en-US" sz="1250">
                <a:solidFill>
                  <a:srgbClr val="222B36"/>
                </a:solidFill>
              </a:rPr>
              <a:t>Burn coke with controlled air flow; lower residual coke gives a more reactive/selective regenerated catalyst.</a:t>
            </a:r>
            <a:endParaRPr sz="1250">
              <a:solidFill>
                <a:srgbClr val="222B36"/>
              </a:solidFill>
            </a:endParaRPr>
          </a:p>
          <a:p>
            <a:pPr indent="0" lvl="0" marL="0" rtl="0" algn="l">
              <a:lnSpc>
                <a:spcPct val="115000"/>
              </a:lnSpc>
              <a:spcBef>
                <a:spcPts val="0"/>
              </a:spcBef>
              <a:spcAft>
                <a:spcPts val="0"/>
              </a:spcAft>
              <a:buClr>
                <a:schemeClr val="dk1"/>
              </a:buClr>
              <a:buSzPts val="1100"/>
              <a:buFont typeface="Arial"/>
              <a:buNone/>
            </a:pPr>
            <a:r>
              <a:t/>
            </a:r>
            <a:endParaRPr b="1">
              <a:solidFill>
                <a:srgbClr val="B74343"/>
              </a:solidFill>
            </a:endParaRPr>
          </a:p>
          <a:p>
            <a:pPr indent="0" lvl="0" marL="0" rtl="0" algn="l">
              <a:spcBef>
                <a:spcPts val="0"/>
              </a:spcBef>
              <a:spcAft>
                <a:spcPts val="0"/>
              </a:spcAft>
              <a:buNone/>
            </a:pPr>
            <a:r>
              <a:t/>
            </a:r>
            <a:endParaRPr/>
          </a:p>
        </p:txBody>
      </p:sp>
      <p:pic>
        <p:nvPicPr>
          <p:cNvPr id="224" name="Google Shape;224;p18"/>
          <p:cNvPicPr preferRelativeResize="0"/>
          <p:nvPr/>
        </p:nvPicPr>
        <p:blipFill>
          <a:blip r:embed="rId9">
            <a:alphaModFix/>
          </a:blip>
          <a:stretch>
            <a:fillRect/>
          </a:stretch>
        </p:blipFill>
        <p:spPr>
          <a:xfrm>
            <a:off x="2542375" y="4607475"/>
            <a:ext cx="9372225" cy="1665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9"/>
          <p:cNvSpPr txBox="1"/>
          <p:nvPr/>
        </p:nvSpPr>
        <p:spPr>
          <a:xfrm>
            <a:off x="125100" y="0"/>
            <a:ext cx="119418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US" sz="2800" u="sng">
                <a:solidFill>
                  <a:srgbClr val="122035"/>
                </a:solidFill>
                <a:highlight>
                  <a:srgbClr val="FFD966"/>
                </a:highlight>
              </a:rPr>
              <a:t>FCC Products</a:t>
            </a:r>
            <a:r>
              <a:rPr i="1" lang="en-US" sz="2800" u="sng">
                <a:solidFill>
                  <a:srgbClr val="122035"/>
                </a:solidFill>
                <a:highlight>
                  <a:srgbClr val="FFD966"/>
                </a:highlight>
              </a:rPr>
              <a:t>: What comes out and what we are trying  to maximise?</a:t>
            </a:r>
            <a:endParaRPr i="1" sz="2800" u="sng">
              <a:solidFill>
                <a:srgbClr val="122035"/>
              </a:solidFill>
              <a:highlight>
                <a:srgbClr val="FFD966"/>
              </a:highlight>
            </a:endParaRPr>
          </a:p>
          <a:p>
            <a:pPr indent="0" lvl="0" marL="0" rtl="0" algn="l">
              <a:spcBef>
                <a:spcPts val="0"/>
              </a:spcBef>
              <a:spcAft>
                <a:spcPts val="0"/>
              </a:spcAft>
              <a:buNone/>
            </a:pPr>
            <a:r>
              <a:t/>
            </a:r>
            <a:endParaRPr/>
          </a:p>
        </p:txBody>
      </p:sp>
      <p:sp>
        <p:nvSpPr>
          <p:cNvPr id="231" name="Google Shape;231;p19"/>
          <p:cNvSpPr txBox="1"/>
          <p:nvPr/>
        </p:nvSpPr>
        <p:spPr>
          <a:xfrm>
            <a:off x="0" y="952500"/>
            <a:ext cx="1219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232" name="Google Shape;232;p19" title="Screenshot 2026-09-30 at 12.58.02 PM.png"/>
          <p:cNvPicPr preferRelativeResize="0"/>
          <p:nvPr/>
        </p:nvPicPr>
        <p:blipFill>
          <a:blip r:embed="rId3">
            <a:alphaModFix/>
          </a:blip>
          <a:stretch>
            <a:fillRect/>
          </a:stretch>
        </p:blipFill>
        <p:spPr>
          <a:xfrm>
            <a:off x="152400" y="895800"/>
            <a:ext cx="7524474" cy="5486150"/>
          </a:xfrm>
          <a:prstGeom prst="rect">
            <a:avLst/>
          </a:prstGeom>
          <a:noFill/>
          <a:ln>
            <a:noFill/>
          </a:ln>
        </p:spPr>
      </p:pic>
      <p:pic>
        <p:nvPicPr>
          <p:cNvPr id="233" name="Google Shape;233;p19" title="Screenshot 2026-09-30 at 6.32.34 PM.png"/>
          <p:cNvPicPr preferRelativeResize="0"/>
          <p:nvPr/>
        </p:nvPicPr>
        <p:blipFill>
          <a:blip r:embed="rId4">
            <a:alphaModFix/>
          </a:blip>
          <a:stretch>
            <a:fillRect/>
          </a:stretch>
        </p:blipFill>
        <p:spPr>
          <a:xfrm>
            <a:off x="7800800" y="895800"/>
            <a:ext cx="4051275" cy="25641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