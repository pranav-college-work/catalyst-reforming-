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Cracking and Reforming 1, supplied course PDF, pp. 14–16. Fahim, M. A., Al-Sahhaf, T. A., and Elkilani, A. S. (2010). Fundamentals of Petroleum Refining. Elsevier. Chapter 8, pp. 199–235. Printed page numbers are used. PDF page = printed page + 17.
FCC converts heavy gas oils into lower molecular weight products using acidic catalyst. No external hydrogen is added to the FCC reaction loop. Coke is the carbon rejection route and is burned in the regenerator. Diagram is an original simplified block flow based on textbook Fig. 8.1 and the lecture.
Present the refinery objective, then follow the catalyst and oil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Cracking and Reforming 1, supplied course PDF, pp. 14–18. Fahim, M. A., Al-Sahhaf, T. A., and Elkilani, A. S. (2010). Fundamentals of Petroleum Refining. Elsevier. Chapter 8, pp. 199–235. Printed page numbers are used. PDF page = printed page + 17., section 8.8. Fixed bed Houdry units alternated reaction and regeneration. Moving bed TCC circulated larger catalyst beads. FCC circulates fine powder continuously. Side-by-side and stacked/Orthoflow describe FCC vessel arrangements, not different reaction mechanisms. RFCC is a residue-feed adaptation. Hydrocracking is a separate hydrogen-addition process and is outside the scope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Cracking and Reforming 1, supplied course PDF, pp. 12–16 and 20. Fahim, M. A., Al-Sahhaf, T. A., and Elkilani, A. S. (2010). Fundamentals of Petroleum Refining. Elsevier. Chapter 8, pp. 199–235. Printed page numbers are used. PDF page = printed page + 17., sections 8.3 and 8.7. Gas oil boiling range is a feed distillation range, not reactor temperature. The lecture gives about 70 micrometres and the book about 75 micrometres for catalyst particles. Zeolite Y is the acid cracking component. Matrix, binder and kaolin contribute accessibility and particle strength. ZSM-5 is an additive used to increase light olefins and gasoline octane, with a gasoline yield trade-off. Hydrotreating reduces sulfur, nitrogen and metals. The lecture misspells a rare-earth example as cesium; that example is intentionally not reproduced. Nickel promotes hydrogen and coke formation, whereas vanadium damages zeolite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Cracking and Reforming 1, supplied course PDF, p. 13 gives a contact time of about 1–4 s. Fahim, M. A., Al-Sahhaf, T. A., and Elkilani, A. S. (2010). Fundamentals of Petroleum Refining. Elsevier. Chapter 8, pp. 199–235. Printed page numbers are used. PDF page = printed page + 17., p. 208 gives 480–550 °C. Table 8.4 is one maximum-gasoline case, not a universal design range: 446 °F feed, 991 °F riser outlet, 1341 °F regenerator, 30 psig reactor, 33 psig regenerator, catalyst/oil 5.4 and 0.9 wt% dispersion steam. Conversions: Celsius=(Fahrenheit−32)/1.8; barg=psig×0.0689476; absolute pressure uses atmospheric pressure 1.01325 bar. 30 psig=2.068 barg=3.082 bara and 33 psig=2.275 barg=3.289 bara. Do not combine this case with the separate geometry example on slide 8 as one plant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Cracking and Reforming 1, supplied course PDF, pp. 15–17 and Fig. 4.11. Fahim, M. A., Al-Sahhaf, T. A., and Elkilani, A. S. (2010). Fundamentals of Petroleum Refining. Elsevier. Chapter 8, pp. 199–235. Printed page numbers are used. PDF page = printed page + 17., Fig. 8.7, p. 211. Follow the oil: feed preheat, riser, disengager, fractionator, gas recovery. Follow the catalyst: disengager, steam stripper, regenerator, riser. Hot regenerated catalyst supplies heat for feed vaporisation and endothermic cracking. Steam removes adsorbed hydrocarbons from spent catalyst before air regeneration. Cyclones separate solids in the disengager and regenerator. Blue dashed lines denote steam, orange the hot catalyst return, grey the spent catalyst/flue gas and green the lighter hydrocarbon streams. The diagram omits detailed overhead condensers, reflux, recycle, valves and controls. It is a block flow diagram, not a detailed P&amp;ID. Gas recovery also recovers light gasoline; its gasoline joins the gasoline pool. The coke burn flue gas does not enter the hydrocarbon gas recovery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Cracking and Reforming 1, supplied course PDF, pp. 9–13 and 24. Fahim, M. A., Al-Sahhaf, T. A., and Elkilani, A. S. (2010). Fundamentals of Petroleum Refining. Elsevier. Chapter 8, pp. 199–235. Printed page numbers are used. PDF page = printed page + 17., sections 8.5 and 8.6. The equations are representative balanced examples rather than a unique overall FCC stoichiometry. Cracking of paraffins yields a smaller paraffin and olefin. Hydrogen transfer is illustrated using three propene molecules and a cyclohexane donor: three propane molecules plus benzene result. Isomerisation enriches branched hydrocarbons. Aromatic side chains can crack while aromatic rings are comparatively resistant. Condensation and hydrogen loss lead to polyaromatic coke. Regeneration equation treats coke as carbon for simplicity; real coke contains hydrogen and other elements and partial CO combustion can occur. Overall cracking is endothermic and coke combustion is exothermic.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Cracking and Reforming 1, supplied course PDF, pp. 11–12. Fahim, M. A., Al-Sahhaf, T. A., and Elkilani, A. S. (2010). Fundamentals of Petroleum Refining. Elsevier. Chapter 8, pp. 199–235. Printed page numbers are used. PDF page = printed page + 17., equations 8.1–8.3 and 8.10, pp. 204–205. Supplement: Semih Eser, Penn State FSC 432, Ionic Chain Reactions, https://courses.ems.psu.edu/fsc432/node/721 (accessed 29 September 2026). H–Z denotes a Brønsted acid site and Z− the conjugate framework site. The equations illustrate the olefin/carbenium route: protonation, beta scission, hydride transfer and proton return. Initial olefins may come from mild thermal cracking. Direct paraffin activation and carbonium-ion paths also exist. Beta scission breaks the C–C bond between the alpha and beta carbons relative to the charged carbon, creating an olefin and a smaller carbenium ion. Rearrangements via hydride/alkyl shifts favour more stable secondary/tertiary ions and help explain branched products. Hydride transfer propagates the ionic chain, whereas deprotonation restores a Brønsted site. Carbonium and carbenium are distinguished in modern terminology; the lecture sometimes uses carbonium broadly.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Cracking and Reforming 1, supplied course PDF, pp. 13 and 16. Fahim, M. A., Al-Sahhaf, T. A., and Elkilani, A. S. (2010). Fundamentals of Petroleum Refining. Elsevier. Chapter 8, pp. 199–235. Printed page numbers are used. PDF page = printed page + 17., sections 8.9–8.10 and Example E8.4, printed p. 224 (PDF p. 241). Modern FCC performs most cracking in a dilute-phase riser; the regenerator uses a turbulent fluidised bed and the stripper uses steam contacting. The illustrated height 33 m and inside diameter 0.8 m come from the book's modelling example, not a universal size or a fabrication recommendation. Its catalyst and feed rates are 144 and 20 kg/s respectively, so C/O=7.2, different from Table 8.4 on slide 4. Geometry is set by capacity, gas expansion, velocity, residence time and solids circulation. The approximate plug-flow description is a modelling simplification. Rapid catalyst/vapour separation limits overcracking. The scale of vessel drawings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Fahim, M. A., Al-Sahhaf, T. A., and Elkilani, A. S. (2010). Fundamentals of Petroleum Refining. Elsevier. Chapter 8, pp. 199–235. Printed page numbers are used. PDF page = printed page + 17., Table 8.2, p. 202. The tabulated ranges are indicative ranges across operating/feed cases, not simultaneous numbers that should sum to 100%. The book's combined dry gas + H2S category is retained as a yield category; usual refinery dry gas is primarily H2 and C1–C2, with composition affected by the separation cut. Gasoline is a blending component and may require sulfur reduction. LCO is aromatic and generally requires treatment/upgrading for diesel use. HCO/slurry are heavy aromatic streams with catalyst fines. Coke is deposited on catalyst and consumed in the regenerator; it is not recovered as a saleable FCC product. CO2/CO, SOx, NOx and catalyst fines are potential regeneration emissions requiring control, rather than part of the hydrocarbon yield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 Cracking and Reforming 1, supplied course PDF, pp. 15–17, 20, 24. Fahim, M. A., Al-Sahhaf, T. A., and Elkilani, A. S. (2010). Fundamentals of Petroleum Refining. Elsevier. Chapter 8, pp. 199–235. Printed page numbers are used. PDF page = printed page + 17., sections 8.5–8.7, 8.9, 8.12 and 8.16. This slide synthesises engineering trade-offs from the sources rather than claiming a universal optimum. Higher severity raises conversion but can consume gasoline to make gas and coke. ZSM-5 raises light olefin production and can sacrifice gasoline yield. Good feed atomisation and rapid separation improve selectivity. Catalyst/oil ratio, regenerated catalyst temperature and feed preheat are coupled by the heat balance. Optimization must respect air blower, wet gas compressor, regenerator temperature, catalyst circulation and emission limits. Check actual plant yields and product quality before choosing setpoints. Full references and source/page mapping accompany this presentation. Additional mechanism source: https://courses.ems.psu.edu/fsc432/node/721.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9144000" cy="219456"/>
          </a:xfrm>
          <a:prstGeom prst="rect">
            <a:avLst/>
          </a:prstGeom>
          <a:noFill/>
          <a:ln/>
        </p:spPr>
        <p:txBody>
          <a:bodyPr wrap="square" lIns="0" tIns="0" rIns="0" bIns="0" rtlCol="0" anchor="ctr"/>
          <a:lstStyle/>
          <a:p>
            <a:pPr indent="0" marL="0">
              <a:buNone/>
            </a:pPr>
            <a:r>
              <a:rPr lang="en-US" sz="1050" dirty="0">
                <a:solidFill>
                  <a:srgbClr val="56636B"/>
                </a:solidFill>
                <a:latin typeface="Arial" pitchFamily="34" charset="0"/>
                <a:ea typeface="Arial" pitchFamily="34" charset="-122"/>
                <a:cs typeface="Arial" pitchFamily="34" charset="-120"/>
              </a:rPr>
              <a:t>Petroleum Refining Engineering</a:t>
            </a:r>
            <a:endParaRPr lang="en-US" sz="1050" dirty="0"/>
          </a:p>
        </p:txBody>
      </p:sp>
      <p:sp>
        <p:nvSpPr>
          <p:cNvPr id="3" name="Text 1"/>
          <p:cNvSpPr txBox="1"/>
          <p:nvPr/>
        </p:nvSpPr>
        <p:spPr>
          <a:xfrm>
            <a:off x="502920" y="713232"/>
            <a:ext cx="11155680" cy="548640"/>
          </a:xfrm>
          <a:prstGeom prst="rect">
            <a:avLst/>
          </a:prstGeom>
          <a:noFill/>
          <a:ln/>
        </p:spPr>
        <p:txBody>
          <a:bodyPr wrap="square" lIns="0" tIns="0" rIns="0" bIns="0" rtlCol="0" anchor="ctr"/>
          <a:lstStyle/>
          <a:p>
            <a:pPr indent="0" marL="0">
              <a:buNone/>
            </a:pPr>
            <a:r>
              <a:rPr lang="en-US" sz="3000" b="1" dirty="0">
                <a:solidFill>
                  <a:srgbClr val="202B32"/>
                </a:solidFill>
                <a:latin typeface="Arial" pitchFamily="34" charset="0"/>
                <a:ea typeface="Arial" pitchFamily="34" charset="-122"/>
                <a:cs typeface="Arial" pitchFamily="34" charset="-120"/>
              </a:rPr>
              <a:t>Catalytic cracking unit</a:t>
            </a:r>
            <a:endParaRPr lang="en-US" sz="3000" dirty="0"/>
          </a:p>
        </p:txBody>
      </p:sp>
      <p:sp>
        <p:nvSpPr>
          <p:cNvPr id="4" name="Text 2"/>
          <p:cNvSpPr txBox="1"/>
          <p:nvPr/>
        </p:nvSpPr>
        <p:spPr>
          <a:xfrm>
            <a:off x="502920" y="6419088"/>
            <a:ext cx="10698480" cy="219456"/>
          </a:xfrm>
          <a:prstGeom prst="rect">
            <a:avLst/>
          </a:prstGeom>
          <a:noFill/>
          <a:ln/>
        </p:spPr>
        <p:txBody>
          <a:bodyPr wrap="square" lIns="0" tIns="0" rIns="0" bIns="0" rtlCol="0" anchor="ctr"/>
          <a:lstStyle/>
          <a:p>
            <a:pPr indent="0" marL="0">
              <a:buNone/>
            </a:pPr>
            <a:r>
              <a:rPr lang="en-US" sz="930" dirty="0">
                <a:solidFill>
                  <a:srgbClr val="56636B"/>
                </a:solidFill>
                <a:latin typeface="Arial" pitchFamily="34" charset="0"/>
                <a:ea typeface="Arial" pitchFamily="34" charset="-122"/>
                <a:cs typeface="Arial" pitchFamily="34" charset="-120"/>
              </a:rPr>
              <a:t>[L] pp. 14–16  ·  [B] §§8.1–8.3, pp. 199–202</a:t>
            </a:r>
            <a:endParaRPr lang="en-US" sz="930" dirty="0"/>
          </a:p>
        </p:txBody>
      </p:sp>
      <p:sp>
        <p:nvSpPr>
          <p:cNvPr id="5" name="Text 3"/>
          <p:cNvSpPr txBox="1"/>
          <p:nvPr/>
        </p:nvSpPr>
        <p:spPr>
          <a:xfrm>
            <a:off x="11064240" y="6400800"/>
            <a:ext cx="640080" cy="246888"/>
          </a:xfrm>
          <a:prstGeom prst="rect">
            <a:avLst/>
          </a:prstGeom>
          <a:noFill/>
          <a:ln/>
        </p:spPr>
        <p:txBody>
          <a:bodyPr wrap="square" lIns="0" tIns="0" rIns="0" bIns="0" rtlCol="0" anchor="ctr"/>
          <a:lstStyle/>
          <a:p>
            <a:pPr algn="r" indent="0" marL="0">
              <a:buNone/>
            </a:pPr>
            <a:r>
              <a:rPr lang="en-US" sz="1000" dirty="0">
                <a:solidFill>
                  <a:srgbClr val="56636B"/>
                </a:solidFill>
                <a:latin typeface="Arial" pitchFamily="34" charset="0"/>
                <a:ea typeface="Arial" pitchFamily="34" charset="-122"/>
                <a:cs typeface="Arial" pitchFamily="34" charset="-120"/>
              </a:rPr>
              <a:t>1 / 10</a:t>
            </a:r>
            <a:endParaRPr lang="en-US" sz="1000" dirty="0"/>
          </a:p>
        </p:txBody>
      </p:sp>
      <p:sp>
        <p:nvSpPr>
          <p:cNvPr id="7" name="Text 4"/>
          <p:cNvSpPr txBox="1"/>
          <p:nvPr/>
        </p:nvSpPr>
        <p:spPr>
          <a:xfrm>
            <a:off x="502920" y="1536192"/>
            <a:ext cx="9966960" cy="713232"/>
          </a:xfrm>
          <a:prstGeom prst="rect">
            <a:avLst/>
          </a:prstGeom>
          <a:noFill/>
          <a:ln/>
        </p:spPr>
        <p:txBody>
          <a:bodyPr wrap="square" lIns="0" tIns="0" rIns="0" bIns="0" rtlCol="0" anchor="ctr"/>
          <a:lstStyle/>
          <a:p>
            <a:pPr indent="0" marL="0">
              <a:buNone/>
            </a:pPr>
            <a:r>
              <a:rPr lang="en-US" sz="2700" dirty="0">
                <a:solidFill>
                  <a:srgbClr val="202B32"/>
                </a:solidFill>
                <a:latin typeface="Arial" pitchFamily="34" charset="0"/>
                <a:ea typeface="Arial" pitchFamily="34" charset="-122"/>
                <a:cs typeface="Arial" pitchFamily="34" charset="-120"/>
              </a:rPr>
              <a:t>Conversion of heavy gas oils into gasoline and LPG</a:t>
            </a:r>
            <a:endParaRPr lang="en-US" sz="2700" dirty="0"/>
          </a:p>
        </p:txBody>
      </p:sp>
      <p:pic>
        <p:nvPicPr>
          <p:cNvPr id="8" name="Image 0" descr="C:\Users\BIT\Downloads\PRE\1st Oct presentation\presentation-assets\01-unit-overview.png">    </p:cNvPr>
          <p:cNvPicPr>
            <a:picLocks noChangeAspect="1"/>
          </p:cNvPicPr>
          <p:nvPr/>
        </p:nvPicPr>
        <p:blipFill>
          <a:blip r:embed="rId1"/>
          <a:stretch>
            <a:fillRect/>
          </a:stretch>
        </p:blipFill>
        <p:spPr>
          <a:xfrm>
            <a:off x="548640" y="2499852"/>
            <a:ext cx="11064240" cy="2498377"/>
          </a:xfrm>
          <a:prstGeom prst="rect">
            <a:avLst/>
          </a:prstGeom>
        </p:spPr>
      </p:pic>
      <p:sp>
        <p:nvSpPr>
          <p:cNvPr id="9" name="Text 5"/>
          <p:cNvSpPr txBox="1"/>
          <p:nvPr/>
        </p:nvSpPr>
        <p:spPr>
          <a:xfrm>
            <a:off x="548640" y="5166360"/>
            <a:ext cx="5212080" cy="310896"/>
          </a:xfrm>
          <a:prstGeom prst="rect">
            <a:avLst/>
          </a:prstGeom>
          <a:noFill/>
          <a:ln/>
        </p:spPr>
        <p:txBody>
          <a:bodyPr wrap="square" lIns="0" tIns="0" rIns="0" bIns="0" rtlCol="0" anchor="ctr"/>
          <a:lstStyle/>
          <a:p>
            <a:pPr indent="0" marL="0">
              <a:buNone/>
            </a:pPr>
            <a:r>
              <a:rPr lang="en-US" sz="2000" b="1" dirty="0">
                <a:solidFill>
                  <a:srgbClr val="202B32"/>
                </a:solidFill>
                <a:latin typeface="Arial" pitchFamily="34" charset="0"/>
                <a:ea typeface="Arial" pitchFamily="34" charset="-122"/>
                <a:cs typeface="Arial" pitchFamily="34" charset="-120"/>
              </a:rPr>
              <a:t>Purpose</a:t>
            </a:r>
            <a:endParaRPr lang="en-US" sz="2000" dirty="0"/>
          </a:p>
        </p:txBody>
      </p:sp>
      <p:sp>
        <p:nvSpPr>
          <p:cNvPr id="10" name="Text 6"/>
          <p:cNvSpPr txBox="1"/>
          <p:nvPr/>
        </p:nvSpPr>
        <p:spPr>
          <a:xfrm>
            <a:off x="548640" y="5623560"/>
            <a:ext cx="5212080" cy="713232"/>
          </a:xfrm>
          <a:prstGeom prst="rect">
            <a:avLst/>
          </a:prstGeom>
          <a:noFill/>
          <a:ln/>
        </p:spPr>
        <p:txBody>
          <a:bodyPr wrap="square" lIns="0" tIns="0" rIns="0" bIns="0" rtlCol="0" anchor="ctr"/>
          <a:lstStyle/>
          <a:p>
            <a:pPr indent="0" marL="0">
              <a:buNone/>
            </a:pPr>
            <a:r>
              <a:rPr lang="en-US" sz="1800" dirty="0">
                <a:solidFill>
                  <a:srgbClr val="56636B"/>
                </a:solidFill>
                <a:latin typeface="Arial" pitchFamily="34" charset="0"/>
                <a:ea typeface="Arial" pitchFamily="34" charset="-122"/>
                <a:cs typeface="Arial" pitchFamily="34" charset="-120"/>
              </a:rPr>
              <a:t>Break C–C bonds to raise the value of heavy refinery fractions.</a:t>
            </a:r>
            <a:endParaRPr lang="en-US" sz="1800" dirty="0"/>
          </a:p>
        </p:txBody>
      </p:sp>
      <p:sp>
        <p:nvSpPr>
          <p:cNvPr id="11" name="Text 7"/>
          <p:cNvSpPr txBox="1"/>
          <p:nvPr/>
        </p:nvSpPr>
        <p:spPr>
          <a:xfrm>
            <a:off x="6400800" y="5166360"/>
            <a:ext cx="5120640" cy="310896"/>
          </a:xfrm>
          <a:prstGeom prst="rect">
            <a:avLst/>
          </a:prstGeom>
          <a:noFill/>
          <a:ln/>
        </p:spPr>
        <p:txBody>
          <a:bodyPr wrap="square" lIns="0" tIns="0" rIns="0" bIns="0" rtlCol="0" anchor="ctr"/>
          <a:lstStyle/>
          <a:p>
            <a:pPr indent="0" marL="0">
              <a:buNone/>
            </a:pPr>
            <a:r>
              <a:rPr lang="en-US" sz="2000" b="1" dirty="0">
                <a:solidFill>
                  <a:srgbClr val="202B32"/>
                </a:solidFill>
                <a:latin typeface="Arial" pitchFamily="34" charset="0"/>
                <a:ea typeface="Arial" pitchFamily="34" charset="-122"/>
                <a:cs typeface="Arial" pitchFamily="34" charset="-120"/>
              </a:rPr>
              <a:t>Fluid catalytic cracking (FCC)</a:t>
            </a:r>
            <a:endParaRPr lang="en-US" sz="2000" dirty="0"/>
          </a:p>
        </p:txBody>
      </p:sp>
      <p:sp>
        <p:nvSpPr>
          <p:cNvPr id="12" name="Text 8"/>
          <p:cNvSpPr txBox="1"/>
          <p:nvPr/>
        </p:nvSpPr>
        <p:spPr>
          <a:xfrm>
            <a:off x="6400800" y="5623560"/>
            <a:ext cx="5120640" cy="713232"/>
          </a:xfrm>
          <a:prstGeom prst="rect">
            <a:avLst/>
          </a:prstGeom>
          <a:noFill/>
          <a:ln/>
        </p:spPr>
        <p:txBody>
          <a:bodyPr wrap="square" lIns="0" tIns="0" rIns="0" bIns="0" rtlCol="0" anchor="ctr"/>
          <a:lstStyle/>
          <a:p>
            <a:pPr indent="0" marL="0">
              <a:buNone/>
            </a:pPr>
            <a:r>
              <a:rPr lang="en-US" sz="1800" dirty="0">
                <a:solidFill>
                  <a:srgbClr val="56636B"/>
                </a:solidFill>
                <a:latin typeface="Arial" pitchFamily="34" charset="0"/>
                <a:ea typeface="Arial" pitchFamily="34" charset="-122"/>
                <a:cs typeface="Arial" pitchFamily="34" charset="-120"/>
              </a:rPr>
              <a:t>Continuous cracking and regeneration of the catalyst.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9144000" cy="219456"/>
          </a:xfrm>
          <a:prstGeom prst="rect">
            <a:avLst/>
          </a:prstGeom>
          <a:noFill/>
          <a:ln/>
        </p:spPr>
        <p:txBody>
          <a:bodyPr wrap="square" lIns="0" tIns="0" rIns="0" bIns="0" rtlCol="0" anchor="ctr"/>
          <a:lstStyle/>
          <a:p>
            <a:pPr indent="0" marL="0">
              <a:buNone/>
            </a:pPr>
            <a:r>
              <a:rPr lang="en-US" sz="1050" dirty="0">
                <a:solidFill>
                  <a:srgbClr val="56636B"/>
                </a:solidFill>
                <a:latin typeface="Arial" pitchFamily="34" charset="0"/>
                <a:ea typeface="Arial" pitchFamily="34" charset="-122"/>
                <a:cs typeface="Arial" pitchFamily="34" charset="-120"/>
              </a:rPr>
              <a:t>Petroleum Refining Engineering</a:t>
            </a:r>
            <a:endParaRPr lang="en-US" sz="1050" dirty="0"/>
          </a:p>
        </p:txBody>
      </p:sp>
      <p:sp>
        <p:nvSpPr>
          <p:cNvPr id="3" name="Text 1"/>
          <p:cNvSpPr txBox="1"/>
          <p:nvPr/>
        </p:nvSpPr>
        <p:spPr>
          <a:xfrm>
            <a:off x="502920" y="713232"/>
            <a:ext cx="11155680" cy="548640"/>
          </a:xfrm>
          <a:prstGeom prst="rect">
            <a:avLst/>
          </a:prstGeom>
          <a:noFill/>
          <a:ln/>
        </p:spPr>
        <p:txBody>
          <a:bodyPr wrap="square" lIns="0" tIns="0" rIns="0" bIns="0" rtlCol="0" anchor="ctr"/>
          <a:lstStyle/>
          <a:p>
            <a:pPr indent="0" marL="0">
              <a:buNone/>
            </a:pPr>
            <a:r>
              <a:rPr lang="en-US" sz="3000" b="1" dirty="0">
                <a:solidFill>
                  <a:srgbClr val="202B32"/>
                </a:solidFill>
                <a:latin typeface="Arial" pitchFamily="34" charset="0"/>
                <a:ea typeface="Arial" pitchFamily="34" charset="-122"/>
                <a:cs typeface="Arial" pitchFamily="34" charset="-120"/>
              </a:rPr>
              <a:t>Types of catalytic cracking</a:t>
            </a:r>
            <a:endParaRPr lang="en-US" sz="3000" dirty="0"/>
          </a:p>
        </p:txBody>
      </p:sp>
      <p:sp>
        <p:nvSpPr>
          <p:cNvPr id="4" name="Text 2"/>
          <p:cNvSpPr txBox="1"/>
          <p:nvPr/>
        </p:nvSpPr>
        <p:spPr>
          <a:xfrm>
            <a:off x="502920" y="6419088"/>
            <a:ext cx="10698480" cy="219456"/>
          </a:xfrm>
          <a:prstGeom prst="rect">
            <a:avLst/>
          </a:prstGeom>
          <a:noFill/>
          <a:ln/>
        </p:spPr>
        <p:txBody>
          <a:bodyPr wrap="square" lIns="0" tIns="0" rIns="0" bIns="0" rtlCol="0" anchor="ctr"/>
          <a:lstStyle/>
          <a:p>
            <a:pPr indent="0" marL="0">
              <a:buNone/>
            </a:pPr>
            <a:r>
              <a:rPr lang="en-US" sz="930" dirty="0">
                <a:solidFill>
                  <a:srgbClr val="56636B"/>
                </a:solidFill>
                <a:latin typeface="Arial" pitchFamily="34" charset="0"/>
                <a:ea typeface="Arial" pitchFamily="34" charset="-122"/>
                <a:cs typeface="Arial" pitchFamily="34" charset="-120"/>
              </a:rPr>
              <a:t>[L] pp. 14–18  ·  [B] §8.8, pp. 209–210</a:t>
            </a:r>
            <a:endParaRPr lang="en-US" sz="930" dirty="0"/>
          </a:p>
        </p:txBody>
      </p:sp>
      <p:sp>
        <p:nvSpPr>
          <p:cNvPr id="5" name="Text 3"/>
          <p:cNvSpPr txBox="1"/>
          <p:nvPr/>
        </p:nvSpPr>
        <p:spPr>
          <a:xfrm>
            <a:off x="11064240" y="6400800"/>
            <a:ext cx="640080" cy="246888"/>
          </a:xfrm>
          <a:prstGeom prst="rect">
            <a:avLst/>
          </a:prstGeom>
          <a:noFill/>
          <a:ln/>
        </p:spPr>
        <p:txBody>
          <a:bodyPr wrap="square" lIns="0" tIns="0" rIns="0" bIns="0" rtlCol="0" anchor="ctr"/>
          <a:lstStyle/>
          <a:p>
            <a:pPr algn="r" indent="0" marL="0">
              <a:buNone/>
            </a:pPr>
            <a:r>
              <a:rPr lang="en-US" sz="1000" dirty="0">
                <a:solidFill>
                  <a:srgbClr val="56636B"/>
                </a:solidFill>
                <a:latin typeface="Arial" pitchFamily="34" charset="0"/>
                <a:ea typeface="Arial" pitchFamily="34" charset="-122"/>
                <a:cs typeface="Arial" pitchFamily="34" charset="-120"/>
              </a:rPr>
              <a:t>2 / 10</a:t>
            </a:r>
            <a:endParaRPr lang="en-US" sz="1000" dirty="0"/>
          </a:p>
        </p:txBody>
      </p:sp>
      <p:pic>
        <p:nvPicPr>
          <p:cNvPr id="7" name="Image 0" descr="C:\Users\BIT\Downloads\PRE\1st Oct presentation\presentation-assets\02-reactor-types.png">    </p:cNvPr>
          <p:cNvPicPr>
            <a:picLocks noChangeAspect="1"/>
          </p:cNvPicPr>
          <p:nvPr/>
        </p:nvPicPr>
        <p:blipFill>
          <a:blip r:embed="rId1"/>
          <a:stretch>
            <a:fillRect/>
          </a:stretch>
        </p:blipFill>
        <p:spPr>
          <a:xfrm>
            <a:off x="829491" y="1508760"/>
            <a:ext cx="10502537" cy="3063240"/>
          </a:xfrm>
          <a:prstGeom prst="rect">
            <a:avLst/>
          </a:prstGeom>
        </p:spPr>
      </p:pic>
      <p:sp>
        <p:nvSpPr>
          <p:cNvPr id="8" name="Text 4"/>
          <p:cNvSpPr txBox="1"/>
          <p:nvPr/>
        </p:nvSpPr>
        <p:spPr>
          <a:xfrm>
            <a:off x="621792" y="4590288"/>
            <a:ext cx="3154680" cy="320040"/>
          </a:xfrm>
          <a:prstGeom prst="rect">
            <a:avLst/>
          </a:prstGeom>
          <a:noFill/>
          <a:ln/>
        </p:spPr>
        <p:txBody>
          <a:bodyPr wrap="square" lIns="0" tIns="0" rIns="0" bIns="0" rtlCol="0" anchor="ctr"/>
          <a:lstStyle/>
          <a:p>
            <a:pPr indent="0" marL="0">
              <a:buNone/>
            </a:pPr>
            <a:r>
              <a:rPr lang="en-US" sz="2000" b="1" dirty="0">
                <a:solidFill>
                  <a:srgbClr val="BD5129"/>
                </a:solidFill>
                <a:latin typeface="Arial" pitchFamily="34" charset="0"/>
                <a:ea typeface="Arial" pitchFamily="34" charset="-122"/>
                <a:cs typeface="Arial" pitchFamily="34" charset="-120"/>
              </a:rPr>
              <a:t>Houdry</a:t>
            </a:r>
            <a:endParaRPr lang="en-US" sz="2000" dirty="0"/>
          </a:p>
        </p:txBody>
      </p:sp>
      <p:sp>
        <p:nvSpPr>
          <p:cNvPr id="9" name="Text 5"/>
          <p:cNvSpPr txBox="1"/>
          <p:nvPr/>
        </p:nvSpPr>
        <p:spPr>
          <a:xfrm>
            <a:off x="621792" y="5010912"/>
            <a:ext cx="3154680" cy="749808"/>
          </a:xfrm>
          <a:prstGeom prst="rect">
            <a:avLst/>
          </a:prstGeom>
          <a:noFill/>
          <a:ln/>
        </p:spPr>
        <p:txBody>
          <a:bodyPr wrap="square" lIns="0" tIns="0" rIns="0" bIns="0" rtlCol="0" anchor="ctr"/>
          <a:lstStyle/>
          <a:p>
            <a:pPr indent="0" marL="0">
              <a:buNone/>
            </a:pPr>
            <a:r>
              <a:rPr lang="en-US" sz="1800" dirty="0">
                <a:solidFill>
                  <a:srgbClr val="202B32"/>
                </a:solidFill>
                <a:latin typeface="Arial" pitchFamily="34" charset="0"/>
                <a:ea typeface="Arial" pitchFamily="34" charset="-122"/>
                <a:cs typeface="Arial" pitchFamily="34" charset="-120"/>
              </a:rPr>
              <a:t>Cyclic operation</a:t>
            </a:r>
            <a:endParaRPr lang="en-US" sz="1800" dirty="0"/>
          </a:p>
          <a:p>
            <a:pPr indent="0" marL="0">
              <a:buNone/>
            </a:pPr>
            <a:r>
              <a:rPr lang="en-US" sz="1800" dirty="0">
                <a:solidFill>
                  <a:srgbClr val="202B32"/>
                </a:solidFill>
                <a:latin typeface="Arial" pitchFamily="34" charset="0"/>
                <a:ea typeface="Arial" pitchFamily="34" charset="-122"/>
                <a:cs typeface="Arial" pitchFamily="34" charset="-120"/>
              </a:rPr>
              <a:t>Separate cracking and regeneration periods</a:t>
            </a:r>
            <a:endParaRPr lang="en-US" sz="1800" dirty="0"/>
          </a:p>
        </p:txBody>
      </p:sp>
      <p:sp>
        <p:nvSpPr>
          <p:cNvPr id="10" name="Text 6"/>
          <p:cNvSpPr txBox="1"/>
          <p:nvPr/>
        </p:nvSpPr>
        <p:spPr>
          <a:xfrm>
            <a:off x="4489704" y="4590288"/>
            <a:ext cx="3017520" cy="320040"/>
          </a:xfrm>
          <a:prstGeom prst="rect">
            <a:avLst/>
          </a:prstGeom>
          <a:noFill/>
          <a:ln/>
        </p:spPr>
        <p:txBody>
          <a:bodyPr wrap="square" lIns="0" tIns="0" rIns="0" bIns="0" rtlCol="0" anchor="ctr"/>
          <a:lstStyle/>
          <a:p>
            <a:pPr indent="0" marL="0">
              <a:buNone/>
            </a:pPr>
            <a:r>
              <a:rPr lang="en-US" sz="2000" b="1" dirty="0">
                <a:solidFill>
                  <a:srgbClr val="BD5129"/>
                </a:solidFill>
                <a:latin typeface="Arial" pitchFamily="34" charset="0"/>
                <a:ea typeface="Arial" pitchFamily="34" charset="-122"/>
                <a:cs typeface="Arial" pitchFamily="34" charset="-120"/>
              </a:rPr>
              <a:t>Thermofor (TCC)</a:t>
            </a:r>
            <a:endParaRPr lang="en-US" sz="2000" dirty="0"/>
          </a:p>
        </p:txBody>
      </p:sp>
      <p:sp>
        <p:nvSpPr>
          <p:cNvPr id="11" name="Text 7"/>
          <p:cNvSpPr txBox="1"/>
          <p:nvPr/>
        </p:nvSpPr>
        <p:spPr>
          <a:xfrm>
            <a:off x="4489704" y="5010912"/>
            <a:ext cx="3017520" cy="749808"/>
          </a:xfrm>
          <a:prstGeom prst="rect">
            <a:avLst/>
          </a:prstGeom>
          <a:noFill/>
          <a:ln/>
        </p:spPr>
        <p:txBody>
          <a:bodyPr wrap="square" lIns="0" tIns="0" rIns="0" bIns="0" rtlCol="0" anchor="ctr"/>
          <a:lstStyle/>
          <a:p>
            <a:pPr indent="0" marL="0">
              <a:buNone/>
            </a:pPr>
            <a:r>
              <a:rPr lang="en-US" sz="1800" dirty="0">
                <a:solidFill>
                  <a:srgbClr val="202B32"/>
                </a:solidFill>
                <a:latin typeface="Arial" pitchFamily="34" charset="0"/>
                <a:ea typeface="Arial" pitchFamily="34" charset="-122"/>
                <a:cs typeface="Arial" pitchFamily="34" charset="-120"/>
              </a:rPr>
              <a:t>Continuous moving bed</a:t>
            </a:r>
            <a:endParaRPr lang="en-US" sz="1800" dirty="0"/>
          </a:p>
          <a:p>
            <a:pPr indent="0" marL="0">
              <a:buNone/>
            </a:pPr>
            <a:r>
              <a:rPr lang="en-US" sz="1800" dirty="0">
                <a:solidFill>
                  <a:srgbClr val="202B32"/>
                </a:solidFill>
                <a:latin typeface="Arial" pitchFamily="34" charset="0"/>
                <a:ea typeface="Arial" pitchFamily="34" charset="-122"/>
                <a:cs typeface="Arial" pitchFamily="34" charset="-120"/>
              </a:rPr>
              <a:t>Catalyst beads move between vessels</a:t>
            </a:r>
            <a:endParaRPr lang="en-US" sz="1800" dirty="0"/>
          </a:p>
        </p:txBody>
      </p:sp>
      <p:sp>
        <p:nvSpPr>
          <p:cNvPr id="12" name="Text 8"/>
          <p:cNvSpPr txBox="1"/>
          <p:nvPr/>
        </p:nvSpPr>
        <p:spPr>
          <a:xfrm>
            <a:off x="8229600" y="4590288"/>
            <a:ext cx="3383280" cy="320040"/>
          </a:xfrm>
          <a:prstGeom prst="rect">
            <a:avLst/>
          </a:prstGeom>
          <a:noFill/>
          <a:ln/>
        </p:spPr>
        <p:txBody>
          <a:bodyPr wrap="square" lIns="0" tIns="0" rIns="0" bIns="0" rtlCol="0" anchor="ctr"/>
          <a:lstStyle/>
          <a:p>
            <a:pPr indent="0" marL="0">
              <a:buNone/>
            </a:pPr>
            <a:r>
              <a:rPr lang="en-US" sz="2000" b="1" dirty="0">
                <a:solidFill>
                  <a:srgbClr val="BD5129"/>
                </a:solidFill>
                <a:latin typeface="Arial" pitchFamily="34" charset="0"/>
                <a:ea typeface="Arial" pitchFamily="34" charset="-122"/>
                <a:cs typeface="Arial" pitchFamily="34" charset="-120"/>
              </a:rPr>
              <a:t>FCC / residue FCC</a:t>
            </a:r>
            <a:endParaRPr lang="en-US" sz="2000" dirty="0"/>
          </a:p>
        </p:txBody>
      </p:sp>
      <p:sp>
        <p:nvSpPr>
          <p:cNvPr id="13" name="Text 9"/>
          <p:cNvSpPr txBox="1"/>
          <p:nvPr/>
        </p:nvSpPr>
        <p:spPr>
          <a:xfrm>
            <a:off x="8229600" y="5010912"/>
            <a:ext cx="3383280" cy="749808"/>
          </a:xfrm>
          <a:prstGeom prst="rect">
            <a:avLst/>
          </a:prstGeom>
          <a:noFill/>
          <a:ln/>
        </p:spPr>
        <p:txBody>
          <a:bodyPr wrap="square" lIns="0" tIns="0" rIns="0" bIns="0" rtlCol="0" anchor="ctr"/>
          <a:lstStyle/>
          <a:p>
            <a:pPr indent="0" marL="0">
              <a:buNone/>
            </a:pPr>
            <a:r>
              <a:rPr lang="en-US" sz="1800" dirty="0">
                <a:solidFill>
                  <a:srgbClr val="202B32"/>
                </a:solidFill>
                <a:latin typeface="Arial" pitchFamily="34" charset="0"/>
                <a:ea typeface="Arial" pitchFamily="34" charset="-122"/>
                <a:cs typeface="Arial" pitchFamily="34" charset="-120"/>
              </a:rPr>
              <a:t>Continuous powder circulation</a:t>
            </a:r>
            <a:endParaRPr lang="en-US" sz="1800" dirty="0"/>
          </a:p>
          <a:p>
            <a:pPr indent="0" marL="0">
              <a:buNone/>
            </a:pPr>
            <a:r>
              <a:rPr lang="en-US" sz="1800" dirty="0">
                <a:solidFill>
                  <a:srgbClr val="202B32"/>
                </a:solidFill>
                <a:latin typeface="Arial" pitchFamily="34" charset="0"/>
                <a:ea typeface="Arial" pitchFamily="34" charset="-122"/>
                <a:cs typeface="Arial" pitchFamily="34" charset="-120"/>
              </a:rPr>
              <a:t>Side-by-side or stacked arrangement</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9144000" cy="219456"/>
          </a:xfrm>
          <a:prstGeom prst="rect">
            <a:avLst/>
          </a:prstGeom>
          <a:noFill/>
          <a:ln/>
        </p:spPr>
        <p:txBody>
          <a:bodyPr wrap="square" lIns="0" tIns="0" rIns="0" bIns="0" rtlCol="0" anchor="ctr"/>
          <a:lstStyle/>
          <a:p>
            <a:pPr indent="0" marL="0">
              <a:buNone/>
            </a:pPr>
            <a:r>
              <a:rPr lang="en-US" sz="1050" dirty="0">
                <a:solidFill>
                  <a:srgbClr val="56636B"/>
                </a:solidFill>
                <a:latin typeface="Arial" pitchFamily="34" charset="0"/>
                <a:ea typeface="Arial" pitchFamily="34" charset="-122"/>
                <a:cs typeface="Arial" pitchFamily="34" charset="-120"/>
              </a:rPr>
              <a:t>Petroleum Refining Engineering</a:t>
            </a:r>
            <a:endParaRPr lang="en-US" sz="1050" dirty="0"/>
          </a:p>
        </p:txBody>
      </p:sp>
      <p:sp>
        <p:nvSpPr>
          <p:cNvPr id="3" name="Text 1"/>
          <p:cNvSpPr txBox="1"/>
          <p:nvPr/>
        </p:nvSpPr>
        <p:spPr>
          <a:xfrm>
            <a:off x="502920" y="713232"/>
            <a:ext cx="11155680" cy="548640"/>
          </a:xfrm>
          <a:prstGeom prst="rect">
            <a:avLst/>
          </a:prstGeom>
          <a:noFill/>
          <a:ln/>
        </p:spPr>
        <p:txBody>
          <a:bodyPr wrap="square" lIns="0" tIns="0" rIns="0" bIns="0" rtlCol="0" anchor="ctr"/>
          <a:lstStyle/>
          <a:p>
            <a:pPr indent="0" marL="0">
              <a:buNone/>
            </a:pPr>
            <a:r>
              <a:rPr lang="en-US" sz="3000" b="1" dirty="0">
                <a:solidFill>
                  <a:srgbClr val="202B32"/>
                </a:solidFill>
                <a:latin typeface="Arial" pitchFamily="34" charset="0"/>
                <a:ea typeface="Arial" pitchFamily="34" charset="-122"/>
                <a:cs typeface="Arial" pitchFamily="34" charset="-120"/>
              </a:rPr>
              <a:t>Feedstock and catalyst</a:t>
            </a:r>
            <a:endParaRPr lang="en-US" sz="3000" dirty="0"/>
          </a:p>
        </p:txBody>
      </p:sp>
      <p:sp>
        <p:nvSpPr>
          <p:cNvPr id="4" name="Text 2"/>
          <p:cNvSpPr txBox="1"/>
          <p:nvPr/>
        </p:nvSpPr>
        <p:spPr>
          <a:xfrm>
            <a:off x="502920" y="6419088"/>
            <a:ext cx="10698480" cy="219456"/>
          </a:xfrm>
          <a:prstGeom prst="rect">
            <a:avLst/>
          </a:prstGeom>
          <a:noFill/>
          <a:ln/>
        </p:spPr>
        <p:txBody>
          <a:bodyPr wrap="square" lIns="0" tIns="0" rIns="0" bIns="0" rtlCol="0" anchor="ctr"/>
          <a:lstStyle/>
          <a:p>
            <a:pPr indent="0" marL="0">
              <a:buNone/>
            </a:pPr>
            <a:r>
              <a:rPr lang="en-US" sz="930" dirty="0">
                <a:solidFill>
                  <a:srgbClr val="56636B"/>
                </a:solidFill>
                <a:latin typeface="Arial" pitchFamily="34" charset="0"/>
                <a:ea typeface="Arial" pitchFamily="34" charset="-122"/>
                <a:cs typeface="Arial" pitchFamily="34" charset="-120"/>
              </a:rPr>
              <a:t>[L] pp. 12–16, 20  ·  [B] §§8.3, 8.7, pp. 200–201, 208–209</a:t>
            </a:r>
            <a:endParaRPr lang="en-US" sz="930" dirty="0"/>
          </a:p>
        </p:txBody>
      </p:sp>
      <p:sp>
        <p:nvSpPr>
          <p:cNvPr id="5" name="Text 3"/>
          <p:cNvSpPr txBox="1"/>
          <p:nvPr/>
        </p:nvSpPr>
        <p:spPr>
          <a:xfrm>
            <a:off x="11064240" y="6400800"/>
            <a:ext cx="640080" cy="246888"/>
          </a:xfrm>
          <a:prstGeom prst="rect">
            <a:avLst/>
          </a:prstGeom>
          <a:noFill/>
          <a:ln/>
        </p:spPr>
        <p:txBody>
          <a:bodyPr wrap="square" lIns="0" tIns="0" rIns="0" bIns="0" rtlCol="0" anchor="ctr"/>
          <a:lstStyle/>
          <a:p>
            <a:pPr algn="r" indent="0" marL="0">
              <a:buNone/>
            </a:pPr>
            <a:r>
              <a:rPr lang="en-US" sz="1000" dirty="0">
                <a:solidFill>
                  <a:srgbClr val="56636B"/>
                </a:solidFill>
                <a:latin typeface="Arial" pitchFamily="34" charset="0"/>
                <a:ea typeface="Arial" pitchFamily="34" charset="-122"/>
                <a:cs typeface="Arial" pitchFamily="34" charset="-120"/>
              </a:rPr>
              <a:t>3 / 10</a:t>
            </a:r>
            <a:endParaRPr lang="en-US" sz="1000" dirty="0"/>
          </a:p>
        </p:txBody>
      </p:sp>
      <p:sp>
        <p:nvSpPr>
          <p:cNvPr id="7" name="Text 4"/>
          <p:cNvSpPr txBox="1"/>
          <p:nvPr/>
        </p:nvSpPr>
        <p:spPr>
          <a:xfrm>
            <a:off x="548640" y="1536192"/>
            <a:ext cx="5029200" cy="274320"/>
          </a:xfrm>
          <a:prstGeom prst="rect">
            <a:avLst/>
          </a:prstGeom>
          <a:noFill/>
          <a:ln/>
        </p:spPr>
        <p:txBody>
          <a:bodyPr wrap="square" lIns="0" tIns="0" rIns="0" bIns="0" rtlCol="0" anchor="ctr"/>
          <a:lstStyle/>
          <a:p>
            <a:pPr indent="0" marL="0">
              <a:buNone/>
            </a:pPr>
            <a:r>
              <a:rPr lang="en-US" sz="1200" b="1" spc="150" kern="0" dirty="0">
                <a:solidFill>
                  <a:srgbClr val="246B88"/>
                </a:solidFill>
                <a:latin typeface="Arial" pitchFamily="34" charset="0"/>
                <a:ea typeface="Arial" pitchFamily="34" charset="-122"/>
                <a:cs typeface="Arial" pitchFamily="34" charset="-120"/>
              </a:rPr>
              <a:t>FEED</a:t>
            </a:r>
            <a:endParaRPr lang="en-US" sz="1200" dirty="0"/>
          </a:p>
        </p:txBody>
      </p:sp>
      <p:sp>
        <p:nvSpPr>
          <p:cNvPr id="8" name="Text 5"/>
          <p:cNvSpPr txBox="1"/>
          <p:nvPr/>
        </p:nvSpPr>
        <p:spPr>
          <a:xfrm>
            <a:off x="548640" y="1965960"/>
            <a:ext cx="5166360" cy="420624"/>
          </a:xfrm>
          <a:prstGeom prst="rect">
            <a:avLst/>
          </a:prstGeom>
          <a:noFill/>
          <a:ln/>
        </p:spPr>
        <p:txBody>
          <a:bodyPr wrap="square" lIns="0" tIns="0" rIns="0" bIns="0" rtlCol="0" anchor="ctr"/>
          <a:lstStyle/>
          <a:p>
            <a:pPr indent="0" marL="0">
              <a:buNone/>
            </a:pPr>
            <a:r>
              <a:rPr lang="en-US" sz="2500" b="1" dirty="0">
                <a:solidFill>
                  <a:srgbClr val="202B32"/>
                </a:solidFill>
                <a:latin typeface="Arial" pitchFamily="34" charset="0"/>
                <a:ea typeface="Arial" pitchFamily="34" charset="-122"/>
                <a:cs typeface="Arial" pitchFamily="34" charset="-120"/>
              </a:rPr>
              <a:t>Vacuum gas oil (VGO)</a:t>
            </a:r>
            <a:endParaRPr lang="en-US" sz="2500" dirty="0"/>
          </a:p>
        </p:txBody>
      </p:sp>
      <p:sp>
        <p:nvSpPr>
          <p:cNvPr id="9" name="Text 6"/>
          <p:cNvSpPr txBox="1"/>
          <p:nvPr/>
        </p:nvSpPr>
        <p:spPr>
          <a:xfrm>
            <a:off x="548640" y="2633472"/>
            <a:ext cx="5029200" cy="896112"/>
          </a:xfrm>
          <a:prstGeom prst="rect">
            <a:avLst/>
          </a:prstGeom>
          <a:noFill/>
          <a:ln/>
        </p:spPr>
        <p:txBody>
          <a:bodyPr wrap="square" lIns="0" tIns="0" rIns="0" bIns="0" rtlCol="0" anchor="ctr"/>
          <a:lstStyle/>
          <a:p>
            <a:pPr indent="0" marL="0">
              <a:buNone/>
            </a:pPr>
            <a:r>
              <a:rPr lang="en-US" sz="2500" b="1" dirty="0">
                <a:solidFill>
                  <a:srgbClr val="246B88"/>
                </a:solidFill>
                <a:latin typeface="Arial" pitchFamily="34" charset="0"/>
                <a:ea typeface="Arial" pitchFamily="34" charset="-122"/>
                <a:cs typeface="Arial" pitchFamily="34" charset="-120"/>
              </a:rPr>
              <a:t>Gas oil boiling range</a:t>
            </a:r>
            <a:endParaRPr lang="en-US" sz="2500" dirty="0"/>
          </a:p>
          <a:p>
            <a:pPr indent="0" marL="0">
              <a:buNone/>
            </a:pPr>
            <a:r>
              <a:rPr lang="en-US" sz="2500" b="1" dirty="0">
                <a:solidFill>
                  <a:srgbClr val="246B88"/>
                </a:solidFill>
                <a:latin typeface="Arial" pitchFamily="34" charset="0"/>
                <a:ea typeface="Arial" pitchFamily="34" charset="-122"/>
                <a:cs typeface="Arial" pitchFamily="34" charset="-120"/>
              </a:rPr>
              <a:t>316–566 °C</a:t>
            </a:r>
            <a:endParaRPr lang="en-US" sz="2500" dirty="0"/>
          </a:p>
        </p:txBody>
      </p:sp>
      <p:sp>
        <p:nvSpPr>
          <p:cNvPr id="10" name="Text 7"/>
          <p:cNvSpPr txBox="1"/>
          <p:nvPr/>
        </p:nvSpPr>
        <p:spPr>
          <a:xfrm>
            <a:off x="548640" y="3703320"/>
            <a:ext cx="4937760" cy="731520"/>
          </a:xfrm>
          <a:prstGeom prst="rect">
            <a:avLst/>
          </a:prstGeom>
          <a:noFill/>
          <a:ln/>
        </p:spPr>
        <p:txBody>
          <a:bodyPr wrap="square" lIns="0" tIns="0" rIns="0" bIns="0" rtlCol="0" anchor="ctr"/>
          <a:lstStyle/>
          <a:p>
            <a:pPr indent="0" marL="0">
              <a:buNone/>
            </a:pPr>
            <a:r>
              <a:rPr lang="en-US" sz="1900" dirty="0">
                <a:solidFill>
                  <a:srgbClr val="202B32"/>
                </a:solidFill>
                <a:latin typeface="Arial" pitchFamily="34" charset="0"/>
                <a:ea typeface="Arial" pitchFamily="34" charset="-122"/>
                <a:cs typeface="Arial" pitchFamily="34" charset="-120"/>
              </a:rPr>
              <a:t>Other feeds: treated coker gas oil and residue in suitable RFCC units.</a:t>
            </a:r>
            <a:endParaRPr lang="en-US" sz="1900" dirty="0"/>
          </a:p>
        </p:txBody>
      </p:sp>
      <p:sp>
        <p:nvSpPr>
          <p:cNvPr id="11" name="Text 8"/>
          <p:cNvSpPr txBox="1"/>
          <p:nvPr/>
        </p:nvSpPr>
        <p:spPr>
          <a:xfrm>
            <a:off x="548640" y="4828032"/>
            <a:ext cx="5029200" cy="969264"/>
          </a:xfrm>
          <a:prstGeom prst="rect">
            <a:avLst/>
          </a:prstGeom>
          <a:noFill/>
          <a:ln/>
        </p:spPr>
        <p:txBody>
          <a:bodyPr wrap="square" lIns="0" tIns="0" rIns="0" bIns="0" rtlCol="0" anchor="ctr"/>
          <a:lstStyle/>
          <a:p>
            <a:pPr indent="0" marL="0">
              <a:buNone/>
            </a:pPr>
            <a:r>
              <a:rPr lang="en-US" sz="1900" dirty="0">
                <a:solidFill>
                  <a:srgbClr val="56636B"/>
                </a:solidFill>
                <a:latin typeface="Arial" pitchFamily="34" charset="0"/>
                <a:ea typeface="Arial" pitchFamily="34" charset="-122"/>
                <a:cs typeface="Arial" pitchFamily="34" charset="-120"/>
              </a:rPr>
              <a:t>Feed limits: carbon residue, Ni / V metals and basic nitrogen. Pretreatment improves crackability.</a:t>
            </a:r>
            <a:endParaRPr lang="en-US" sz="1900" dirty="0"/>
          </a:p>
        </p:txBody>
      </p:sp>
      <p:sp>
        <p:nvSpPr>
          <p:cNvPr id="12" name="Text 9"/>
          <p:cNvSpPr txBox="1"/>
          <p:nvPr/>
        </p:nvSpPr>
        <p:spPr>
          <a:xfrm>
            <a:off x="6400800" y="1536192"/>
            <a:ext cx="5029200" cy="274320"/>
          </a:xfrm>
          <a:prstGeom prst="rect">
            <a:avLst/>
          </a:prstGeom>
          <a:noFill/>
          <a:ln/>
        </p:spPr>
        <p:txBody>
          <a:bodyPr wrap="square" lIns="0" tIns="0" rIns="0" bIns="0" rtlCol="0" anchor="ctr"/>
          <a:lstStyle/>
          <a:p>
            <a:pPr indent="0" marL="0">
              <a:buNone/>
            </a:pPr>
            <a:r>
              <a:rPr lang="en-US" sz="1200" b="1" spc="150" kern="0" dirty="0">
                <a:solidFill>
                  <a:srgbClr val="BD5129"/>
                </a:solidFill>
                <a:latin typeface="Arial" pitchFamily="34" charset="0"/>
                <a:ea typeface="Arial" pitchFamily="34" charset="-122"/>
                <a:cs typeface="Arial" pitchFamily="34" charset="-120"/>
              </a:rPr>
              <a:t>CATALYST</a:t>
            </a:r>
            <a:endParaRPr lang="en-US" sz="1200" dirty="0"/>
          </a:p>
        </p:txBody>
      </p:sp>
      <p:sp>
        <p:nvSpPr>
          <p:cNvPr id="13" name="Text 10"/>
          <p:cNvSpPr txBox="1"/>
          <p:nvPr/>
        </p:nvSpPr>
        <p:spPr>
          <a:xfrm>
            <a:off x="6400800" y="1965960"/>
            <a:ext cx="5120640" cy="420624"/>
          </a:xfrm>
          <a:prstGeom prst="rect">
            <a:avLst/>
          </a:prstGeom>
          <a:noFill/>
          <a:ln/>
        </p:spPr>
        <p:txBody>
          <a:bodyPr wrap="square" lIns="0" tIns="0" rIns="0" bIns="0" rtlCol="0" anchor="ctr"/>
          <a:lstStyle/>
          <a:p>
            <a:pPr indent="0" marL="0">
              <a:buNone/>
            </a:pPr>
            <a:r>
              <a:rPr lang="en-US" sz="2500" b="1" dirty="0">
                <a:solidFill>
                  <a:srgbClr val="202B32"/>
                </a:solidFill>
                <a:latin typeface="Arial" pitchFamily="34" charset="0"/>
                <a:ea typeface="Arial" pitchFamily="34" charset="-122"/>
                <a:cs typeface="Arial" pitchFamily="34" charset="-120"/>
              </a:rPr>
              <a:t>Acidic zeolite Y</a:t>
            </a:r>
            <a:endParaRPr lang="en-US" sz="2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0" y="2670048"/>
          <a:ext cx="5230368" cy="914400"/>
        </p:xfrm>
        <a:graphic>
          <a:graphicData uri="http://schemas.openxmlformats.org/drawingml/2006/table">
            <a:tbl>
              <a:tblPr/>
              <a:tblGrid>
                <a:gridCol w="2121408"/>
                <a:gridCol w="3108960"/>
              </a:tblGrid>
              <a:tr h="539496">
                <a:tc>
                  <a:txBody>
                    <a:bodyPr/>
                    <a:lstStyle/>
                    <a:p>
                      <a:pPr indent="0" marL="0">
                        <a:buNone/>
                      </a:pPr>
                      <a:r>
                        <a:rPr lang="en-US" sz="1700" b="1" dirty="0">
                          <a:solidFill>
                            <a:srgbClr val="FFFFFF"/>
                          </a:solidFill>
                          <a:latin typeface="Arial" pitchFamily="34" charset="0"/>
                          <a:ea typeface="Arial" pitchFamily="34" charset="-122"/>
                          <a:cs typeface="Arial" pitchFamily="34" charset="-120"/>
                        </a:rPr>
                        <a:t>Component</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202B32"/>
                    </a:solidFill>
                  </a:tcPr>
                </a:tc>
                <a:tc>
                  <a:txBody>
                    <a:bodyPr/>
                    <a:lstStyle/>
                    <a:p>
                      <a:pPr indent="0" marL="0">
                        <a:buNone/>
                      </a:pPr>
                      <a:r>
                        <a:rPr lang="en-US" sz="1700" b="1" dirty="0">
                          <a:solidFill>
                            <a:srgbClr val="FFFFFF"/>
                          </a:solidFill>
                          <a:latin typeface="Arial" pitchFamily="34" charset="0"/>
                          <a:ea typeface="Arial" pitchFamily="34" charset="-122"/>
                          <a:cs typeface="Arial" pitchFamily="34" charset="-120"/>
                        </a:rPr>
                        <a:t>Function</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202B32"/>
                    </a:solidFill>
                  </a:tcPr>
                </a:tc>
              </a:tr>
              <a:tr h="539496">
                <a:tc>
                  <a:txBody>
                    <a:bodyPr/>
                    <a:lstStyle/>
                    <a:p>
                      <a:pPr indent="0" marL="0">
                        <a:buNone/>
                      </a:pPr>
                      <a:r>
                        <a:rPr lang="en-US" sz="1700" dirty="0">
                          <a:solidFill>
                            <a:srgbClr val="202B32"/>
                          </a:solidFill>
                          <a:latin typeface="Arial" pitchFamily="34" charset="0"/>
                          <a:ea typeface="Arial" pitchFamily="34" charset="-122"/>
                          <a:cs typeface="Arial" pitchFamily="34" charset="-120"/>
                        </a:rPr>
                        <a:t>Zeolite Y</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700" dirty="0">
                          <a:solidFill>
                            <a:srgbClr val="202B32"/>
                          </a:solidFill>
                          <a:latin typeface="Arial" pitchFamily="34" charset="0"/>
                          <a:ea typeface="Arial" pitchFamily="34" charset="-122"/>
                          <a:cs typeface="Arial" pitchFamily="34" charset="-120"/>
                        </a:rPr>
                        <a:t>Acid sites for cracking</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r h="539496">
                <a:tc>
                  <a:txBody>
                    <a:bodyPr/>
                    <a:lstStyle/>
                    <a:p>
                      <a:pPr indent="0" marL="0">
                        <a:buNone/>
                      </a:pPr>
                      <a:r>
                        <a:rPr lang="en-US" sz="1700" dirty="0">
                          <a:solidFill>
                            <a:srgbClr val="202B32"/>
                          </a:solidFill>
                          <a:latin typeface="Arial" pitchFamily="34" charset="0"/>
                          <a:ea typeface="Arial" pitchFamily="34" charset="-122"/>
                          <a:cs typeface="Arial" pitchFamily="34" charset="-120"/>
                        </a:rPr>
                        <a:t>Matrix + binder + clay</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700" dirty="0">
                          <a:solidFill>
                            <a:srgbClr val="202B32"/>
                          </a:solidFill>
                          <a:latin typeface="Arial" pitchFamily="34" charset="0"/>
                          <a:ea typeface="Arial" pitchFamily="34" charset="-122"/>
                          <a:cs typeface="Arial" pitchFamily="34" charset="-120"/>
                        </a:rPr>
                        <a:t>Access and particle strength</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r h="539496">
                <a:tc>
                  <a:txBody>
                    <a:bodyPr/>
                    <a:lstStyle/>
                    <a:p>
                      <a:pPr indent="0" marL="0">
                        <a:buNone/>
                      </a:pPr>
                      <a:r>
                        <a:rPr lang="en-US" sz="1700" dirty="0">
                          <a:solidFill>
                            <a:srgbClr val="202B32"/>
                          </a:solidFill>
                          <a:latin typeface="Arial" pitchFamily="34" charset="0"/>
                          <a:ea typeface="Arial" pitchFamily="34" charset="-122"/>
                          <a:cs typeface="Arial" pitchFamily="34" charset="-120"/>
                        </a:rPr>
                        <a:t>ZSM-5 additive</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700" dirty="0">
                          <a:solidFill>
                            <a:srgbClr val="202B32"/>
                          </a:solidFill>
                          <a:latin typeface="Arial" pitchFamily="34" charset="0"/>
                          <a:ea typeface="Arial" pitchFamily="34" charset="-122"/>
                          <a:cs typeface="Arial" pitchFamily="34" charset="-120"/>
                        </a:rPr>
                        <a:t>More light olefins / octane</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bl>
          </a:graphicData>
        </a:graphic>
      </p:graphicFrame>
      <p:sp>
        <p:nvSpPr>
          <p:cNvPr id="15" name="Text 11"/>
          <p:cNvSpPr txBox="1"/>
          <p:nvPr/>
        </p:nvSpPr>
        <p:spPr>
          <a:xfrm>
            <a:off x="6400800" y="5138928"/>
            <a:ext cx="5166360" cy="850392"/>
          </a:xfrm>
          <a:prstGeom prst="rect">
            <a:avLst/>
          </a:prstGeom>
          <a:noFill/>
          <a:ln/>
        </p:spPr>
        <p:txBody>
          <a:bodyPr wrap="square" lIns="0" tIns="0" rIns="0" bIns="0" rtlCol="0" anchor="ctr"/>
          <a:lstStyle/>
          <a:p>
            <a:pPr indent="0" marL="0">
              <a:buNone/>
            </a:pPr>
            <a:r>
              <a:rPr lang="en-US" sz="1900" dirty="0">
                <a:solidFill>
                  <a:srgbClr val="56636B"/>
                </a:solidFill>
                <a:latin typeface="Arial" pitchFamily="34" charset="0"/>
                <a:ea typeface="Arial" pitchFamily="34" charset="-122"/>
                <a:cs typeface="Arial" pitchFamily="34" charset="-120"/>
              </a:rPr>
              <a:t>Fine particles ≈ 70–75 μm</a:t>
            </a:r>
            <a:endParaRPr lang="en-US" sz="1900" dirty="0"/>
          </a:p>
          <a:p>
            <a:pPr indent="0" marL="0">
              <a:buNone/>
            </a:pPr>
            <a:r>
              <a:rPr lang="en-US" sz="1900" dirty="0">
                <a:solidFill>
                  <a:srgbClr val="56636B"/>
                </a:solidFill>
                <a:latin typeface="Arial" pitchFamily="34" charset="0"/>
                <a:ea typeface="Arial" pitchFamily="34" charset="-122"/>
                <a:cs typeface="Arial" pitchFamily="34" charset="-120"/>
              </a:rPr>
              <a:t>Coke deactivates sites during each pass. Air regeneration restores activity.</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9144000" cy="219456"/>
          </a:xfrm>
          <a:prstGeom prst="rect">
            <a:avLst/>
          </a:prstGeom>
          <a:noFill/>
          <a:ln/>
        </p:spPr>
        <p:txBody>
          <a:bodyPr wrap="square" lIns="0" tIns="0" rIns="0" bIns="0" rtlCol="0" anchor="ctr"/>
          <a:lstStyle/>
          <a:p>
            <a:pPr indent="0" marL="0">
              <a:buNone/>
            </a:pPr>
            <a:r>
              <a:rPr lang="en-US" sz="1050" dirty="0">
                <a:solidFill>
                  <a:srgbClr val="56636B"/>
                </a:solidFill>
                <a:latin typeface="Arial" pitchFamily="34" charset="0"/>
                <a:ea typeface="Arial" pitchFamily="34" charset="-122"/>
                <a:cs typeface="Arial" pitchFamily="34" charset="-120"/>
              </a:rPr>
              <a:t>Petroleum Refining Engineering</a:t>
            </a:r>
            <a:endParaRPr lang="en-US" sz="1050" dirty="0"/>
          </a:p>
        </p:txBody>
      </p:sp>
      <p:sp>
        <p:nvSpPr>
          <p:cNvPr id="3" name="Text 1"/>
          <p:cNvSpPr txBox="1"/>
          <p:nvPr/>
        </p:nvSpPr>
        <p:spPr>
          <a:xfrm>
            <a:off x="502920" y="713232"/>
            <a:ext cx="11155680" cy="548640"/>
          </a:xfrm>
          <a:prstGeom prst="rect">
            <a:avLst/>
          </a:prstGeom>
          <a:noFill/>
          <a:ln/>
        </p:spPr>
        <p:txBody>
          <a:bodyPr wrap="square" lIns="0" tIns="0" rIns="0" bIns="0" rtlCol="0" anchor="ctr"/>
          <a:lstStyle/>
          <a:p>
            <a:pPr indent="0" marL="0">
              <a:buNone/>
            </a:pPr>
            <a:r>
              <a:rPr lang="en-US" sz="3000" b="1" dirty="0">
                <a:solidFill>
                  <a:srgbClr val="202B32"/>
                </a:solidFill>
                <a:latin typeface="Arial" pitchFamily="34" charset="0"/>
                <a:ea typeface="Arial" pitchFamily="34" charset="-122"/>
                <a:cs typeface="Arial" pitchFamily="34" charset="-120"/>
              </a:rPr>
              <a:t>Operating conditions</a:t>
            </a:r>
            <a:endParaRPr lang="en-US" sz="3000" dirty="0"/>
          </a:p>
        </p:txBody>
      </p:sp>
      <p:sp>
        <p:nvSpPr>
          <p:cNvPr id="4" name="Text 2"/>
          <p:cNvSpPr txBox="1"/>
          <p:nvPr/>
        </p:nvSpPr>
        <p:spPr>
          <a:xfrm>
            <a:off x="502920" y="6419088"/>
            <a:ext cx="10698480" cy="219456"/>
          </a:xfrm>
          <a:prstGeom prst="rect">
            <a:avLst/>
          </a:prstGeom>
          <a:noFill/>
          <a:ln/>
        </p:spPr>
        <p:txBody>
          <a:bodyPr wrap="square" lIns="0" tIns="0" rIns="0" bIns="0" rtlCol="0" anchor="ctr"/>
          <a:lstStyle/>
          <a:p>
            <a:pPr indent="0" marL="0">
              <a:buNone/>
            </a:pPr>
            <a:r>
              <a:rPr lang="en-US" sz="930" dirty="0">
                <a:solidFill>
                  <a:srgbClr val="56636B"/>
                </a:solidFill>
                <a:latin typeface="Arial" pitchFamily="34" charset="0"/>
                <a:ea typeface="Arial" pitchFamily="34" charset="-122"/>
                <a:cs typeface="Arial" pitchFamily="34" charset="-120"/>
              </a:rPr>
              <a:t>[L] p. 13  ·  [B] p. 208; Table 8.4, p. 212  ·  SI values converted from the book</a:t>
            </a:r>
            <a:endParaRPr lang="en-US" sz="930" dirty="0"/>
          </a:p>
        </p:txBody>
      </p:sp>
      <p:sp>
        <p:nvSpPr>
          <p:cNvPr id="5" name="Text 3"/>
          <p:cNvSpPr txBox="1"/>
          <p:nvPr/>
        </p:nvSpPr>
        <p:spPr>
          <a:xfrm>
            <a:off x="11064240" y="6400800"/>
            <a:ext cx="640080" cy="246888"/>
          </a:xfrm>
          <a:prstGeom prst="rect">
            <a:avLst/>
          </a:prstGeom>
          <a:noFill/>
          <a:ln/>
        </p:spPr>
        <p:txBody>
          <a:bodyPr wrap="square" lIns="0" tIns="0" rIns="0" bIns="0" rtlCol="0" anchor="ctr"/>
          <a:lstStyle/>
          <a:p>
            <a:pPr algn="r" indent="0" marL="0">
              <a:buNone/>
            </a:pPr>
            <a:r>
              <a:rPr lang="en-US" sz="1000" dirty="0">
                <a:solidFill>
                  <a:srgbClr val="56636B"/>
                </a:solidFill>
                <a:latin typeface="Arial" pitchFamily="34" charset="0"/>
                <a:ea typeface="Arial" pitchFamily="34" charset="-122"/>
                <a:cs typeface="Arial" pitchFamily="34" charset="-120"/>
              </a:rPr>
              <a:t>4 / 10</a:t>
            </a:r>
            <a:endParaRPr lang="en-US" sz="1000" dirty="0"/>
          </a:p>
        </p:txBody>
      </p:sp>
      <p:sp>
        <p:nvSpPr>
          <p:cNvPr id="7" name="Text 4"/>
          <p:cNvSpPr txBox="1"/>
          <p:nvPr/>
        </p:nvSpPr>
        <p:spPr>
          <a:xfrm>
            <a:off x="548640" y="1490472"/>
            <a:ext cx="8229600" cy="457200"/>
          </a:xfrm>
          <a:prstGeom prst="rect">
            <a:avLst/>
          </a:prstGeom>
          <a:noFill/>
          <a:ln/>
        </p:spPr>
        <p:txBody>
          <a:bodyPr wrap="square" lIns="0" tIns="0" rIns="0" bIns="0" rtlCol="0" anchor="ctr"/>
          <a:lstStyle/>
          <a:p>
            <a:pPr indent="0" marL="0">
              <a:buNone/>
            </a:pPr>
            <a:r>
              <a:rPr lang="en-US" sz="2500" b="1" dirty="0">
                <a:solidFill>
                  <a:srgbClr val="BD5129"/>
                </a:solidFill>
                <a:latin typeface="Arial" pitchFamily="34" charset="0"/>
                <a:ea typeface="Arial" pitchFamily="34" charset="-122"/>
                <a:cs typeface="Arial" pitchFamily="34" charset="-120"/>
              </a:rPr>
              <a:t>Typical cracking temperature: 480–550 °C</a:t>
            </a:r>
            <a:endParaRPr lang="en-US" sz="2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221992"/>
          <a:ext cx="7543800" cy="914400"/>
        </p:xfrm>
        <a:graphic>
          <a:graphicData uri="http://schemas.openxmlformats.org/drawingml/2006/table">
            <a:tbl>
              <a:tblPr/>
              <a:tblGrid>
                <a:gridCol w="3749040"/>
                <a:gridCol w="3794760"/>
              </a:tblGrid>
              <a:tr h="457200">
                <a:tc>
                  <a:txBody>
                    <a:bodyPr/>
                    <a:lstStyle/>
                    <a:p>
                      <a:pPr indent="0" marL="0">
                        <a:buNone/>
                      </a:pPr>
                      <a:r>
                        <a:rPr lang="en-US" sz="1700" b="1" dirty="0">
                          <a:solidFill>
                            <a:srgbClr val="FFFFFF"/>
                          </a:solidFill>
                          <a:latin typeface="Arial" pitchFamily="34" charset="0"/>
                          <a:ea typeface="Arial" pitchFamily="34" charset="-122"/>
                          <a:cs typeface="Arial" pitchFamily="34" charset="-120"/>
                        </a:rPr>
                        <a:t>Parameter</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202B32"/>
                    </a:solidFill>
                  </a:tcPr>
                </a:tc>
                <a:tc>
                  <a:txBody>
                    <a:bodyPr/>
                    <a:lstStyle/>
                    <a:p>
                      <a:pPr indent="0" marL="0">
                        <a:buNone/>
                      </a:pPr>
                      <a:r>
                        <a:rPr lang="en-US" sz="1700" b="1" dirty="0">
                          <a:solidFill>
                            <a:srgbClr val="FFFFFF"/>
                          </a:solidFill>
                          <a:latin typeface="Arial" pitchFamily="34" charset="0"/>
                          <a:ea typeface="Arial" pitchFamily="34" charset="-122"/>
                          <a:cs typeface="Arial" pitchFamily="34" charset="-120"/>
                        </a:rPr>
                        <a:t>Textbook gasoline-mode example</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202B32"/>
                    </a:solidFill>
                  </a:tcPr>
                </a:tc>
              </a:tr>
              <a:tr h="457200">
                <a:tc>
                  <a:txBody>
                    <a:bodyPr/>
                    <a:lstStyle/>
                    <a:p>
                      <a:pPr indent="0" marL="0">
                        <a:buNone/>
                      </a:pPr>
                      <a:r>
                        <a:rPr lang="en-US" sz="1700" dirty="0">
                          <a:solidFill>
                            <a:srgbClr val="202B32"/>
                          </a:solidFill>
                          <a:latin typeface="Arial" pitchFamily="34" charset="0"/>
                          <a:ea typeface="Arial" pitchFamily="34" charset="-122"/>
                          <a:cs typeface="Arial" pitchFamily="34" charset="-120"/>
                        </a:rPr>
                        <a:t>Feed preheat</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700" dirty="0">
                          <a:solidFill>
                            <a:srgbClr val="202B32"/>
                          </a:solidFill>
                          <a:latin typeface="Arial" pitchFamily="34" charset="0"/>
                          <a:ea typeface="Arial" pitchFamily="34" charset="-122"/>
                          <a:cs typeface="Arial" pitchFamily="34" charset="-120"/>
                        </a:rPr>
                        <a:t>230 °C</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r h="457200">
                <a:tc>
                  <a:txBody>
                    <a:bodyPr/>
                    <a:lstStyle/>
                    <a:p>
                      <a:pPr indent="0" marL="0">
                        <a:buNone/>
                      </a:pPr>
                      <a:r>
                        <a:rPr lang="en-US" sz="1700" dirty="0">
                          <a:solidFill>
                            <a:srgbClr val="202B32"/>
                          </a:solidFill>
                          <a:latin typeface="Arial" pitchFamily="34" charset="0"/>
                          <a:ea typeface="Arial" pitchFamily="34" charset="-122"/>
                          <a:cs typeface="Arial" pitchFamily="34" charset="-120"/>
                        </a:rPr>
                        <a:t>Riser outlet temperature</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700" dirty="0">
                          <a:solidFill>
                            <a:srgbClr val="202B32"/>
                          </a:solidFill>
                          <a:latin typeface="Arial" pitchFamily="34" charset="0"/>
                          <a:ea typeface="Arial" pitchFamily="34" charset="-122"/>
                          <a:cs typeface="Arial" pitchFamily="34" charset="-120"/>
                        </a:rPr>
                        <a:t>533 °C</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r h="457200">
                <a:tc>
                  <a:txBody>
                    <a:bodyPr/>
                    <a:lstStyle/>
                    <a:p>
                      <a:pPr indent="0" marL="0">
                        <a:buNone/>
                      </a:pPr>
                      <a:r>
                        <a:rPr lang="en-US" sz="1700" dirty="0">
                          <a:solidFill>
                            <a:srgbClr val="202B32"/>
                          </a:solidFill>
                          <a:latin typeface="Arial" pitchFamily="34" charset="0"/>
                          <a:ea typeface="Arial" pitchFamily="34" charset="-122"/>
                          <a:cs typeface="Arial" pitchFamily="34" charset="-120"/>
                        </a:rPr>
                        <a:t>Reactor pressure</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700" dirty="0">
                          <a:solidFill>
                            <a:srgbClr val="202B32"/>
                          </a:solidFill>
                          <a:latin typeface="Arial" pitchFamily="34" charset="0"/>
                          <a:ea typeface="Arial" pitchFamily="34" charset="-122"/>
                          <a:cs typeface="Arial" pitchFamily="34" charset="-120"/>
                        </a:rPr>
                        <a:t>2.07 barg  (≈ 3.08 bara)</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r h="457200">
                <a:tc>
                  <a:txBody>
                    <a:bodyPr/>
                    <a:lstStyle/>
                    <a:p>
                      <a:pPr indent="0" marL="0">
                        <a:buNone/>
                      </a:pPr>
                      <a:r>
                        <a:rPr lang="en-US" sz="1700" dirty="0">
                          <a:solidFill>
                            <a:srgbClr val="202B32"/>
                          </a:solidFill>
                          <a:latin typeface="Arial" pitchFamily="34" charset="0"/>
                          <a:ea typeface="Arial" pitchFamily="34" charset="-122"/>
                          <a:cs typeface="Arial" pitchFamily="34" charset="-120"/>
                        </a:rPr>
                        <a:t>Regenerator temperature</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700" dirty="0">
                          <a:solidFill>
                            <a:srgbClr val="202B32"/>
                          </a:solidFill>
                          <a:latin typeface="Arial" pitchFamily="34" charset="0"/>
                          <a:ea typeface="Arial" pitchFamily="34" charset="-122"/>
                          <a:cs typeface="Arial" pitchFamily="34" charset="-120"/>
                        </a:rPr>
                        <a:t>727 °C</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r h="457200">
                <a:tc>
                  <a:txBody>
                    <a:bodyPr/>
                    <a:lstStyle/>
                    <a:p>
                      <a:pPr indent="0" marL="0">
                        <a:buNone/>
                      </a:pPr>
                      <a:r>
                        <a:rPr lang="en-US" sz="1700" dirty="0">
                          <a:solidFill>
                            <a:srgbClr val="202B32"/>
                          </a:solidFill>
                          <a:latin typeface="Arial" pitchFamily="34" charset="0"/>
                          <a:ea typeface="Arial" pitchFamily="34" charset="-122"/>
                          <a:cs typeface="Arial" pitchFamily="34" charset="-120"/>
                        </a:rPr>
                        <a:t>Regenerator pressure</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700" dirty="0">
                          <a:solidFill>
                            <a:srgbClr val="202B32"/>
                          </a:solidFill>
                          <a:latin typeface="Arial" pitchFamily="34" charset="0"/>
                          <a:ea typeface="Arial" pitchFamily="34" charset="-122"/>
                          <a:cs typeface="Arial" pitchFamily="34" charset="-120"/>
                        </a:rPr>
                        <a:t>2.28 barg  (≈ 3.29 bara)</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r h="457200">
                <a:tc>
                  <a:txBody>
                    <a:bodyPr/>
                    <a:lstStyle/>
                    <a:p>
                      <a:pPr indent="0" marL="0">
                        <a:buNone/>
                      </a:pPr>
                      <a:r>
                        <a:rPr lang="en-US" sz="1700" dirty="0">
                          <a:solidFill>
                            <a:srgbClr val="202B32"/>
                          </a:solidFill>
                          <a:latin typeface="Arial" pitchFamily="34" charset="0"/>
                          <a:ea typeface="Arial" pitchFamily="34" charset="-122"/>
                          <a:cs typeface="Arial" pitchFamily="34" charset="-120"/>
                        </a:rPr>
                        <a:t>Catalyst / oil mass ratio</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700" dirty="0">
                          <a:solidFill>
                            <a:srgbClr val="202B32"/>
                          </a:solidFill>
                          <a:latin typeface="Arial" pitchFamily="34" charset="0"/>
                          <a:ea typeface="Arial" pitchFamily="34" charset="-122"/>
                          <a:cs typeface="Arial" pitchFamily="34" charset="-120"/>
                        </a:rPr>
                        <a:t>5.4 kg catalyst per kg oil</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r h="457200">
                <a:tc>
                  <a:txBody>
                    <a:bodyPr/>
                    <a:lstStyle/>
                    <a:p>
                      <a:pPr indent="0" marL="0">
                        <a:buNone/>
                      </a:pPr>
                      <a:r>
                        <a:rPr lang="en-US" sz="1700" dirty="0">
                          <a:solidFill>
                            <a:srgbClr val="202B32"/>
                          </a:solidFill>
                          <a:latin typeface="Arial" pitchFamily="34" charset="0"/>
                          <a:ea typeface="Arial" pitchFamily="34" charset="-122"/>
                          <a:cs typeface="Arial" pitchFamily="34" charset="-120"/>
                        </a:rPr>
                        <a:t>Dispersion steam</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700" dirty="0">
                          <a:solidFill>
                            <a:srgbClr val="202B32"/>
                          </a:solidFill>
                          <a:latin typeface="Arial" pitchFamily="34" charset="0"/>
                          <a:ea typeface="Arial" pitchFamily="34" charset="-122"/>
                          <a:cs typeface="Arial" pitchFamily="34" charset="-120"/>
                        </a:rPr>
                        <a:t>0.9 wt% of feed</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8613648" y="2240280"/>
            <a:ext cx="2880360" cy="621792"/>
          </a:xfrm>
          <a:prstGeom prst="rect">
            <a:avLst/>
          </a:prstGeom>
          <a:noFill/>
          <a:ln/>
        </p:spPr>
        <p:txBody>
          <a:bodyPr wrap="square" lIns="0" tIns="0" rIns="0" bIns="0" rtlCol="0" anchor="ctr"/>
          <a:lstStyle/>
          <a:p>
            <a:pPr indent="0" marL="0">
              <a:buNone/>
            </a:pPr>
            <a:r>
              <a:rPr lang="en-US" sz="4000" b="1" dirty="0">
                <a:solidFill>
                  <a:srgbClr val="246B88"/>
                </a:solidFill>
                <a:latin typeface="Arial" pitchFamily="34" charset="0"/>
                <a:ea typeface="Arial" pitchFamily="34" charset="-122"/>
                <a:cs typeface="Arial" pitchFamily="34" charset="-120"/>
              </a:rPr>
              <a:t>1–4 s</a:t>
            </a:r>
            <a:endParaRPr lang="en-US" sz="4000" dirty="0"/>
          </a:p>
        </p:txBody>
      </p:sp>
      <p:sp>
        <p:nvSpPr>
          <p:cNvPr id="10" name="Text 6"/>
          <p:cNvSpPr txBox="1"/>
          <p:nvPr/>
        </p:nvSpPr>
        <p:spPr>
          <a:xfrm>
            <a:off x="8613648" y="2898648"/>
            <a:ext cx="2880360" cy="411480"/>
          </a:xfrm>
          <a:prstGeom prst="rect">
            <a:avLst/>
          </a:prstGeom>
          <a:noFill/>
          <a:ln/>
        </p:spPr>
        <p:txBody>
          <a:bodyPr wrap="square" lIns="0" tIns="0" rIns="0" bIns="0" rtlCol="0" anchor="ctr"/>
          <a:lstStyle/>
          <a:p>
            <a:pPr indent="0" marL="0">
              <a:buNone/>
            </a:pPr>
            <a:r>
              <a:rPr lang="en-US" sz="1800" dirty="0">
                <a:solidFill>
                  <a:srgbClr val="56636B"/>
                </a:solidFill>
                <a:latin typeface="Arial" pitchFamily="34" charset="0"/>
                <a:ea typeface="Arial" pitchFamily="34" charset="-122"/>
                <a:cs typeface="Arial" pitchFamily="34" charset="-120"/>
              </a:rPr>
              <a:t>Lecture contact time</a:t>
            </a:r>
            <a:endParaRPr lang="en-US" sz="1800" dirty="0"/>
          </a:p>
        </p:txBody>
      </p:sp>
      <p:sp>
        <p:nvSpPr>
          <p:cNvPr id="11" name="Text 7"/>
          <p:cNvSpPr txBox="1"/>
          <p:nvPr/>
        </p:nvSpPr>
        <p:spPr>
          <a:xfrm>
            <a:off x="8613648" y="3749040"/>
            <a:ext cx="2880360" cy="685800"/>
          </a:xfrm>
          <a:prstGeom prst="rect">
            <a:avLst/>
          </a:prstGeom>
          <a:noFill/>
          <a:ln/>
        </p:spPr>
        <p:txBody>
          <a:bodyPr wrap="square" lIns="0" tIns="0" rIns="0" bIns="0" rtlCol="0" anchor="ctr"/>
          <a:lstStyle/>
          <a:p>
            <a:pPr indent="0" marL="0">
              <a:buNone/>
            </a:pPr>
            <a:r>
              <a:rPr lang="en-US" sz="1900" b="1" dirty="0">
                <a:solidFill>
                  <a:srgbClr val="202B32"/>
                </a:solidFill>
                <a:latin typeface="Arial" pitchFamily="34" charset="0"/>
                <a:ea typeface="Arial" pitchFamily="34" charset="-122"/>
                <a:cs typeface="Arial" pitchFamily="34" charset="-120"/>
              </a:rPr>
              <a:t>g = gauge</a:t>
            </a:r>
            <a:endParaRPr lang="en-US" sz="1900" dirty="0"/>
          </a:p>
          <a:p>
            <a:pPr indent="0" marL="0">
              <a:buNone/>
            </a:pPr>
            <a:r>
              <a:rPr lang="en-US" sz="1900" b="1" dirty="0">
                <a:solidFill>
                  <a:srgbClr val="202B32"/>
                </a:solidFill>
                <a:latin typeface="Arial" pitchFamily="34" charset="0"/>
                <a:ea typeface="Arial" pitchFamily="34" charset="-122"/>
                <a:cs typeface="Arial" pitchFamily="34" charset="-120"/>
              </a:rPr>
              <a:t>a = absolute</a:t>
            </a:r>
            <a:endParaRPr lang="en-US" sz="1900" dirty="0"/>
          </a:p>
        </p:txBody>
      </p:sp>
      <p:sp>
        <p:nvSpPr>
          <p:cNvPr id="12" name="Text 8"/>
          <p:cNvSpPr txBox="1"/>
          <p:nvPr/>
        </p:nvSpPr>
        <p:spPr>
          <a:xfrm>
            <a:off x="8613648" y="4855464"/>
            <a:ext cx="2880360" cy="914400"/>
          </a:xfrm>
          <a:prstGeom prst="rect">
            <a:avLst/>
          </a:prstGeom>
          <a:noFill/>
          <a:ln/>
        </p:spPr>
        <p:txBody>
          <a:bodyPr wrap="square" lIns="0" tIns="0" rIns="0" bIns="0" rtlCol="0" anchor="ctr"/>
          <a:lstStyle/>
          <a:p>
            <a:pPr indent="0" marL="0">
              <a:buNone/>
            </a:pPr>
            <a:r>
              <a:rPr lang="en-US" sz="1900" dirty="0">
                <a:solidFill>
                  <a:srgbClr val="56636B"/>
                </a:solidFill>
                <a:latin typeface="Arial" pitchFamily="34" charset="0"/>
                <a:ea typeface="Arial" pitchFamily="34" charset="-122"/>
                <a:cs typeface="Arial" pitchFamily="34" charset="-120"/>
              </a:rPr>
              <a:t>Values depend on feed, catalyst and product target.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9144000" cy="219456"/>
          </a:xfrm>
          <a:prstGeom prst="rect">
            <a:avLst/>
          </a:prstGeom>
          <a:noFill/>
          <a:ln/>
        </p:spPr>
        <p:txBody>
          <a:bodyPr wrap="square" lIns="0" tIns="0" rIns="0" bIns="0" rtlCol="0" anchor="ctr"/>
          <a:lstStyle/>
          <a:p>
            <a:pPr indent="0" marL="0">
              <a:buNone/>
            </a:pPr>
            <a:r>
              <a:rPr lang="en-US" sz="1050" dirty="0">
                <a:solidFill>
                  <a:srgbClr val="56636B"/>
                </a:solidFill>
                <a:latin typeface="Arial" pitchFamily="34" charset="0"/>
                <a:ea typeface="Arial" pitchFamily="34" charset="-122"/>
                <a:cs typeface="Arial" pitchFamily="34" charset="-120"/>
              </a:rPr>
              <a:t>Petroleum Refining Engineering</a:t>
            </a:r>
            <a:endParaRPr lang="en-US" sz="1050" dirty="0"/>
          </a:p>
        </p:txBody>
      </p:sp>
      <p:sp>
        <p:nvSpPr>
          <p:cNvPr id="3" name="Text 1"/>
          <p:cNvSpPr txBox="1"/>
          <p:nvPr/>
        </p:nvSpPr>
        <p:spPr>
          <a:xfrm>
            <a:off x="502920" y="713232"/>
            <a:ext cx="11155680" cy="548640"/>
          </a:xfrm>
          <a:prstGeom prst="rect">
            <a:avLst/>
          </a:prstGeom>
          <a:noFill/>
          <a:ln/>
        </p:spPr>
        <p:txBody>
          <a:bodyPr wrap="square" lIns="0" tIns="0" rIns="0" bIns="0" rtlCol="0" anchor="ctr"/>
          <a:lstStyle/>
          <a:p>
            <a:pPr indent="0" marL="0">
              <a:buNone/>
            </a:pPr>
            <a:r>
              <a:rPr lang="en-US" sz="3000" b="1" dirty="0">
                <a:solidFill>
                  <a:srgbClr val="202B32"/>
                </a:solidFill>
                <a:latin typeface="Arial" pitchFamily="34" charset="0"/>
                <a:ea typeface="Arial" pitchFamily="34" charset="-122"/>
                <a:cs typeface="Arial" pitchFamily="34" charset="-120"/>
              </a:rPr>
              <a:t>Block flow diagram of FCC</a:t>
            </a:r>
            <a:endParaRPr lang="en-US" sz="3000" dirty="0"/>
          </a:p>
        </p:txBody>
      </p:sp>
      <p:sp>
        <p:nvSpPr>
          <p:cNvPr id="4" name="Text 2"/>
          <p:cNvSpPr txBox="1"/>
          <p:nvPr/>
        </p:nvSpPr>
        <p:spPr>
          <a:xfrm>
            <a:off x="502920" y="6419088"/>
            <a:ext cx="10698480" cy="219456"/>
          </a:xfrm>
          <a:prstGeom prst="rect">
            <a:avLst/>
          </a:prstGeom>
          <a:noFill/>
          <a:ln/>
        </p:spPr>
        <p:txBody>
          <a:bodyPr wrap="square" lIns="0" tIns="0" rIns="0" bIns="0" rtlCol="0" anchor="ctr"/>
          <a:lstStyle/>
          <a:p>
            <a:pPr indent="0" marL="0">
              <a:buNone/>
            </a:pPr>
            <a:r>
              <a:rPr lang="en-US" sz="930" dirty="0">
                <a:solidFill>
                  <a:srgbClr val="56636B"/>
                </a:solidFill>
                <a:latin typeface="Arial" pitchFamily="34" charset="0"/>
                <a:ea typeface="Arial" pitchFamily="34" charset="-122"/>
                <a:cs typeface="Arial" pitchFamily="34" charset="-120"/>
              </a:rPr>
              <a:t>[L] pp. 15–17, Fig. 4.11  ·  [B] Fig. 8.7, p. 211  ·  Original simplified BFD</a:t>
            </a:r>
            <a:endParaRPr lang="en-US" sz="930" dirty="0"/>
          </a:p>
        </p:txBody>
      </p:sp>
      <p:sp>
        <p:nvSpPr>
          <p:cNvPr id="5" name="Text 3"/>
          <p:cNvSpPr txBox="1"/>
          <p:nvPr/>
        </p:nvSpPr>
        <p:spPr>
          <a:xfrm>
            <a:off x="11064240" y="6400800"/>
            <a:ext cx="640080" cy="246888"/>
          </a:xfrm>
          <a:prstGeom prst="rect">
            <a:avLst/>
          </a:prstGeom>
          <a:noFill/>
          <a:ln/>
        </p:spPr>
        <p:txBody>
          <a:bodyPr wrap="square" lIns="0" tIns="0" rIns="0" bIns="0" rtlCol="0" anchor="ctr"/>
          <a:lstStyle/>
          <a:p>
            <a:pPr algn="r" indent="0" marL="0">
              <a:buNone/>
            </a:pPr>
            <a:r>
              <a:rPr lang="en-US" sz="1000" dirty="0">
                <a:solidFill>
                  <a:srgbClr val="56636B"/>
                </a:solidFill>
                <a:latin typeface="Arial" pitchFamily="34" charset="0"/>
                <a:ea typeface="Arial" pitchFamily="34" charset="-122"/>
                <a:cs typeface="Arial" pitchFamily="34" charset="-120"/>
              </a:rPr>
              <a:t>5 / 10</a:t>
            </a:r>
            <a:endParaRPr lang="en-US" sz="1000" dirty="0"/>
          </a:p>
        </p:txBody>
      </p:sp>
      <p:pic>
        <p:nvPicPr>
          <p:cNvPr id="7" name="Image 0" descr="C:\Users\BIT\Downloads\PRE\1st Oct presentation\presentation-assets\05-fcc-process-flow.png">    </p:cNvPr>
          <p:cNvPicPr>
            <a:picLocks noChangeAspect="1"/>
          </p:cNvPicPr>
          <p:nvPr/>
        </p:nvPicPr>
        <p:blipFill>
          <a:blip r:embed="rId1"/>
          <a:stretch>
            <a:fillRect/>
          </a:stretch>
        </p:blipFill>
        <p:spPr>
          <a:xfrm>
            <a:off x="438912" y="1409205"/>
            <a:ext cx="11338560" cy="488083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9144000" cy="219456"/>
          </a:xfrm>
          <a:prstGeom prst="rect">
            <a:avLst/>
          </a:prstGeom>
          <a:noFill/>
          <a:ln/>
        </p:spPr>
        <p:txBody>
          <a:bodyPr wrap="square" lIns="0" tIns="0" rIns="0" bIns="0" rtlCol="0" anchor="ctr"/>
          <a:lstStyle/>
          <a:p>
            <a:pPr indent="0" marL="0">
              <a:buNone/>
            </a:pPr>
            <a:r>
              <a:rPr lang="en-US" sz="1050" dirty="0">
                <a:solidFill>
                  <a:srgbClr val="56636B"/>
                </a:solidFill>
                <a:latin typeface="Arial" pitchFamily="34" charset="0"/>
                <a:ea typeface="Arial" pitchFamily="34" charset="-122"/>
                <a:cs typeface="Arial" pitchFamily="34" charset="-120"/>
              </a:rPr>
              <a:t>Petroleum Refining Engineering</a:t>
            </a:r>
            <a:endParaRPr lang="en-US" sz="1050" dirty="0"/>
          </a:p>
        </p:txBody>
      </p:sp>
      <p:sp>
        <p:nvSpPr>
          <p:cNvPr id="3" name="Text 1"/>
          <p:cNvSpPr txBox="1"/>
          <p:nvPr/>
        </p:nvSpPr>
        <p:spPr>
          <a:xfrm>
            <a:off x="502920" y="713232"/>
            <a:ext cx="11155680" cy="548640"/>
          </a:xfrm>
          <a:prstGeom prst="rect">
            <a:avLst/>
          </a:prstGeom>
          <a:noFill/>
          <a:ln/>
        </p:spPr>
        <p:txBody>
          <a:bodyPr wrap="square" lIns="0" tIns="0" rIns="0" bIns="0" rtlCol="0" anchor="ctr"/>
          <a:lstStyle/>
          <a:p>
            <a:pPr indent="0" marL="0">
              <a:buNone/>
            </a:pPr>
            <a:r>
              <a:rPr lang="en-US" sz="3000" b="1" dirty="0">
                <a:solidFill>
                  <a:srgbClr val="202B32"/>
                </a:solidFill>
                <a:latin typeface="Arial" pitchFamily="34" charset="0"/>
                <a:ea typeface="Arial" pitchFamily="34" charset="-122"/>
                <a:cs typeface="Arial" pitchFamily="34" charset="-120"/>
              </a:rPr>
              <a:t>Reactions in FCC</a:t>
            </a:r>
            <a:endParaRPr lang="en-US" sz="3000" dirty="0"/>
          </a:p>
        </p:txBody>
      </p:sp>
      <p:sp>
        <p:nvSpPr>
          <p:cNvPr id="4" name="Text 2"/>
          <p:cNvSpPr txBox="1"/>
          <p:nvPr/>
        </p:nvSpPr>
        <p:spPr>
          <a:xfrm>
            <a:off x="502920" y="6419088"/>
            <a:ext cx="10698480" cy="219456"/>
          </a:xfrm>
          <a:prstGeom prst="rect">
            <a:avLst/>
          </a:prstGeom>
          <a:noFill/>
          <a:ln/>
        </p:spPr>
        <p:txBody>
          <a:bodyPr wrap="square" lIns="0" tIns="0" rIns="0" bIns="0" rtlCol="0" anchor="ctr"/>
          <a:lstStyle/>
          <a:p>
            <a:pPr indent="0" marL="0">
              <a:buNone/>
            </a:pPr>
            <a:r>
              <a:rPr lang="en-US" sz="930" dirty="0">
                <a:solidFill>
                  <a:srgbClr val="56636B"/>
                </a:solidFill>
                <a:latin typeface="Arial" pitchFamily="34" charset="0"/>
                <a:ea typeface="Arial" pitchFamily="34" charset="-122"/>
                <a:cs typeface="Arial" pitchFamily="34" charset="-120"/>
              </a:rPr>
              <a:t>[L] pp. 9–13, 24  ·  [B] §§8.5–8.6, pp. 202–208</a:t>
            </a:r>
            <a:endParaRPr lang="en-US" sz="930" dirty="0"/>
          </a:p>
        </p:txBody>
      </p:sp>
      <p:sp>
        <p:nvSpPr>
          <p:cNvPr id="5" name="Text 3"/>
          <p:cNvSpPr txBox="1"/>
          <p:nvPr/>
        </p:nvSpPr>
        <p:spPr>
          <a:xfrm>
            <a:off x="11064240" y="6400800"/>
            <a:ext cx="640080" cy="246888"/>
          </a:xfrm>
          <a:prstGeom prst="rect">
            <a:avLst/>
          </a:prstGeom>
          <a:noFill/>
          <a:ln/>
        </p:spPr>
        <p:txBody>
          <a:bodyPr wrap="square" lIns="0" tIns="0" rIns="0" bIns="0" rtlCol="0" anchor="ctr"/>
          <a:lstStyle/>
          <a:p>
            <a:pPr algn="r" indent="0" marL="0">
              <a:buNone/>
            </a:pPr>
            <a:r>
              <a:rPr lang="en-US" sz="1000" dirty="0">
                <a:solidFill>
                  <a:srgbClr val="56636B"/>
                </a:solidFill>
                <a:latin typeface="Arial" pitchFamily="34" charset="0"/>
                <a:ea typeface="Arial" pitchFamily="34" charset="-122"/>
                <a:cs typeface="Arial" pitchFamily="34" charset="-120"/>
              </a:rPr>
              <a:t>6 / 10</a:t>
            </a:r>
            <a:endParaRPr lang="en-US" sz="1000" dirty="0"/>
          </a:p>
        </p:txBody>
      </p:sp>
      <p:sp>
        <p:nvSpPr>
          <p:cNvPr id="7" name="Text 4"/>
          <p:cNvSpPr txBox="1"/>
          <p:nvPr/>
        </p:nvSpPr>
        <p:spPr>
          <a:xfrm>
            <a:off x="548640" y="1508760"/>
            <a:ext cx="3840480" cy="365760"/>
          </a:xfrm>
          <a:prstGeom prst="rect">
            <a:avLst/>
          </a:prstGeom>
          <a:noFill/>
          <a:ln/>
        </p:spPr>
        <p:txBody>
          <a:bodyPr wrap="square" lIns="0" tIns="0" rIns="0" bIns="0" rtlCol="0" anchor="ctr"/>
          <a:lstStyle/>
          <a:p>
            <a:pPr indent="0" marL="0">
              <a:buNone/>
            </a:pPr>
            <a:r>
              <a:rPr lang="en-US" sz="2000" b="1" dirty="0">
                <a:solidFill>
                  <a:srgbClr val="BD5129"/>
                </a:solidFill>
                <a:latin typeface="Arial" pitchFamily="34" charset="0"/>
                <a:ea typeface="Arial" pitchFamily="34" charset="-122"/>
                <a:cs typeface="Arial" pitchFamily="34" charset="-120"/>
              </a:rPr>
              <a:t>1  Primary cracking</a:t>
            </a:r>
            <a:endParaRPr lang="en-US" sz="2000" dirty="0"/>
          </a:p>
        </p:txBody>
      </p:sp>
      <p:pic>
        <p:nvPicPr>
          <p:cNvPr id="8" name="Image 0" descr="C:\Users\BIT\Downloads\PRE\1st Oct presentation\presentation-assets\eq-cracking.png">    </p:cNvPr>
          <p:cNvPicPr>
            <a:picLocks noChangeAspect="1"/>
          </p:cNvPicPr>
          <p:nvPr/>
        </p:nvPicPr>
        <p:blipFill>
          <a:blip r:embed="rId1"/>
          <a:stretch>
            <a:fillRect/>
          </a:stretch>
        </p:blipFill>
        <p:spPr>
          <a:xfrm>
            <a:off x="548640" y="2013194"/>
            <a:ext cx="7132320" cy="499891"/>
          </a:xfrm>
          <a:prstGeom prst="rect">
            <a:avLst/>
          </a:prstGeom>
        </p:spPr>
      </p:pic>
      <p:sp>
        <p:nvSpPr>
          <p:cNvPr id="9" name="Text 5"/>
          <p:cNvSpPr txBox="1"/>
          <p:nvPr/>
        </p:nvSpPr>
        <p:spPr>
          <a:xfrm>
            <a:off x="548640" y="2679192"/>
            <a:ext cx="7132320" cy="365760"/>
          </a:xfrm>
          <a:prstGeom prst="rect">
            <a:avLst/>
          </a:prstGeom>
          <a:noFill/>
          <a:ln/>
        </p:spPr>
        <p:txBody>
          <a:bodyPr wrap="square" lIns="0" tIns="0" rIns="0" bIns="0" rtlCol="0" anchor="ctr"/>
          <a:lstStyle/>
          <a:p>
            <a:pPr indent="0" marL="0">
              <a:buNone/>
            </a:pPr>
            <a:r>
              <a:rPr lang="en-US" sz="1800" dirty="0">
                <a:solidFill>
                  <a:srgbClr val="56636B"/>
                </a:solidFill>
                <a:latin typeface="Arial" pitchFamily="34" charset="0"/>
                <a:ea typeface="Arial" pitchFamily="34" charset="-122"/>
                <a:cs typeface="Arial" pitchFamily="34" charset="-120"/>
              </a:rPr>
              <a:t>Large paraffin gives smaller paraffin + olefin.</a:t>
            </a:r>
            <a:endParaRPr lang="en-US" sz="1800" dirty="0"/>
          </a:p>
        </p:txBody>
      </p:sp>
      <p:sp>
        <p:nvSpPr>
          <p:cNvPr id="10" name="Text 6"/>
          <p:cNvSpPr txBox="1"/>
          <p:nvPr/>
        </p:nvSpPr>
        <p:spPr>
          <a:xfrm>
            <a:off x="548640" y="3273552"/>
            <a:ext cx="3840480" cy="365760"/>
          </a:xfrm>
          <a:prstGeom prst="rect">
            <a:avLst/>
          </a:prstGeom>
          <a:noFill/>
          <a:ln/>
        </p:spPr>
        <p:txBody>
          <a:bodyPr wrap="square" lIns="0" tIns="0" rIns="0" bIns="0" rtlCol="0" anchor="ctr"/>
          <a:lstStyle/>
          <a:p>
            <a:pPr indent="0" marL="0">
              <a:buNone/>
            </a:pPr>
            <a:r>
              <a:rPr lang="en-US" sz="2000" b="1" dirty="0">
                <a:solidFill>
                  <a:srgbClr val="BD5129"/>
                </a:solidFill>
                <a:latin typeface="Arial" pitchFamily="34" charset="0"/>
                <a:ea typeface="Arial" pitchFamily="34" charset="-122"/>
                <a:cs typeface="Arial" pitchFamily="34" charset="-120"/>
              </a:rPr>
              <a:t>2  Hydrogen transfer</a:t>
            </a:r>
            <a:endParaRPr lang="en-US" sz="2000" dirty="0"/>
          </a:p>
        </p:txBody>
      </p:sp>
      <p:pic>
        <p:nvPicPr>
          <p:cNvPr id="11" name="Image 1" descr="C:\Users\BIT\Downloads\PRE\1st Oct presentation\presentation-assets\eq-hydrogen-transfer.png">    </p:cNvPr>
          <p:cNvPicPr>
            <a:picLocks noChangeAspect="1"/>
          </p:cNvPicPr>
          <p:nvPr/>
        </p:nvPicPr>
        <p:blipFill>
          <a:blip r:embed="rId2"/>
          <a:stretch>
            <a:fillRect/>
          </a:stretch>
        </p:blipFill>
        <p:spPr>
          <a:xfrm>
            <a:off x="548640" y="3842160"/>
            <a:ext cx="7132320" cy="389832"/>
          </a:xfrm>
          <a:prstGeom prst="rect">
            <a:avLst/>
          </a:prstGeom>
        </p:spPr>
      </p:pic>
      <p:sp>
        <p:nvSpPr>
          <p:cNvPr id="12" name="Text 7"/>
          <p:cNvSpPr txBox="1"/>
          <p:nvPr/>
        </p:nvSpPr>
        <p:spPr>
          <a:xfrm>
            <a:off x="548640" y="4471416"/>
            <a:ext cx="7132320" cy="365760"/>
          </a:xfrm>
          <a:prstGeom prst="rect">
            <a:avLst/>
          </a:prstGeom>
          <a:noFill/>
          <a:ln/>
        </p:spPr>
        <p:txBody>
          <a:bodyPr wrap="square" lIns="0" tIns="0" rIns="0" bIns="0" rtlCol="0" anchor="ctr"/>
          <a:lstStyle/>
          <a:p>
            <a:pPr indent="0" marL="0">
              <a:buNone/>
            </a:pPr>
            <a:r>
              <a:rPr lang="en-US" sz="1800" dirty="0">
                <a:solidFill>
                  <a:srgbClr val="56636B"/>
                </a:solidFill>
                <a:latin typeface="Arial" pitchFamily="34" charset="0"/>
                <a:ea typeface="Arial" pitchFamily="34" charset="-122"/>
                <a:cs typeface="Arial" pitchFamily="34" charset="-120"/>
              </a:rPr>
              <a:t>Olefin + naphthene donor give paraffin + aromatic.</a:t>
            </a:r>
            <a:endParaRPr lang="en-US" sz="1800" dirty="0"/>
          </a:p>
        </p:txBody>
      </p:sp>
      <p:sp>
        <p:nvSpPr>
          <p:cNvPr id="13" name="Text 8"/>
          <p:cNvSpPr txBox="1"/>
          <p:nvPr/>
        </p:nvSpPr>
        <p:spPr>
          <a:xfrm>
            <a:off x="548640" y="5020056"/>
            <a:ext cx="7315200" cy="365760"/>
          </a:xfrm>
          <a:prstGeom prst="rect">
            <a:avLst/>
          </a:prstGeom>
          <a:noFill/>
          <a:ln/>
        </p:spPr>
        <p:txBody>
          <a:bodyPr wrap="square" lIns="0" tIns="0" rIns="0" bIns="0" rtlCol="0" anchor="ctr"/>
          <a:lstStyle/>
          <a:p>
            <a:pPr indent="0" marL="0">
              <a:buNone/>
            </a:pPr>
            <a:r>
              <a:rPr lang="en-US" sz="2000" b="1" dirty="0">
                <a:solidFill>
                  <a:srgbClr val="BD5129"/>
                </a:solidFill>
                <a:latin typeface="Arial" pitchFamily="34" charset="0"/>
                <a:ea typeface="Arial" pitchFamily="34" charset="-122"/>
                <a:cs typeface="Arial" pitchFamily="34" charset="-120"/>
              </a:rPr>
              <a:t>3  Coke combustion in the regenerator</a:t>
            </a:r>
            <a:endParaRPr lang="en-US" sz="2000" dirty="0"/>
          </a:p>
        </p:txBody>
      </p:sp>
      <p:pic>
        <p:nvPicPr>
          <p:cNvPr id="14" name="Image 2" descr="C:\Users\BIT\Downloads\PRE\1st Oct presentation\presentation-assets\eq-regeneration.png">    </p:cNvPr>
          <p:cNvPicPr>
            <a:picLocks noChangeAspect="1"/>
          </p:cNvPicPr>
          <p:nvPr/>
        </p:nvPicPr>
        <p:blipFill>
          <a:blip r:embed="rId3"/>
          <a:stretch>
            <a:fillRect/>
          </a:stretch>
        </p:blipFill>
        <p:spPr>
          <a:xfrm>
            <a:off x="599461" y="5522976"/>
            <a:ext cx="7030677" cy="548640"/>
          </a:xfrm>
          <a:prstGeom prst="rect">
            <a:avLst/>
          </a:prstGeom>
        </p:spPr>
      </p:pic>
      <p:sp>
        <p:nvSpPr>
          <p:cNvPr id="15" name="Text 9"/>
          <p:cNvSpPr txBox="1"/>
          <p:nvPr/>
        </p:nvSpPr>
        <p:spPr>
          <a:xfrm>
            <a:off x="8229600" y="1554480"/>
            <a:ext cx="3383280" cy="384048"/>
          </a:xfrm>
          <a:prstGeom prst="rect">
            <a:avLst/>
          </a:prstGeom>
          <a:noFill/>
          <a:ln/>
        </p:spPr>
        <p:txBody>
          <a:bodyPr wrap="square" lIns="0" tIns="0" rIns="0" bIns="0" rtlCol="0" anchor="ctr"/>
          <a:lstStyle/>
          <a:p>
            <a:pPr indent="0" marL="0">
              <a:buNone/>
            </a:pPr>
            <a:r>
              <a:rPr lang="en-US" sz="2400" b="1" dirty="0">
                <a:solidFill>
                  <a:srgbClr val="202B32"/>
                </a:solidFill>
                <a:latin typeface="Arial" pitchFamily="34" charset="0"/>
                <a:ea typeface="Arial" pitchFamily="34" charset="-122"/>
                <a:cs typeface="Arial" pitchFamily="34" charset="-120"/>
              </a:rPr>
              <a:t>Also occurring</a:t>
            </a:r>
            <a:endParaRPr lang="en-US" sz="2400" dirty="0"/>
          </a:p>
        </p:txBody>
      </p:sp>
      <p:sp>
        <p:nvSpPr>
          <p:cNvPr id="16" name="Text 10"/>
          <p:cNvSpPr txBox="1"/>
          <p:nvPr/>
        </p:nvSpPr>
        <p:spPr>
          <a:xfrm>
            <a:off x="8229600" y="2286000"/>
            <a:ext cx="3337560" cy="3355848"/>
          </a:xfrm>
          <a:prstGeom prst="rect">
            <a:avLst/>
          </a:prstGeom>
          <a:noFill/>
          <a:ln/>
        </p:spPr>
        <p:txBody>
          <a:bodyPr wrap="square" lIns="0" tIns="0" rIns="0" bIns="0" rtlCol="0" anchor="ctr"/>
          <a:lstStyle/>
          <a:p>
            <a:pPr indent="0" marL="0">
              <a:buNone/>
            </a:pPr>
            <a:r>
              <a:rPr lang="en-US" sz="1900" dirty="0">
                <a:solidFill>
                  <a:srgbClr val="56636B"/>
                </a:solidFill>
                <a:latin typeface="Arial" pitchFamily="34" charset="0"/>
                <a:ea typeface="Arial" pitchFamily="34" charset="-122"/>
                <a:cs typeface="Arial" pitchFamily="34" charset="-120"/>
              </a:rPr>
              <a:t>Isomerisation</a:t>
            </a:r>
            <a:endParaRPr lang="en-US" sz="1900" dirty="0"/>
          </a:p>
          <a:p>
            <a:pPr indent="0" marL="0">
              <a:buNone/>
            </a:pPr>
            <a:r>
              <a:rPr lang="en-US" sz="1900" dirty="0">
                <a:solidFill>
                  <a:srgbClr val="56636B"/>
                </a:solidFill>
                <a:latin typeface="Arial" pitchFamily="34" charset="0"/>
                <a:ea typeface="Arial" pitchFamily="34" charset="-122"/>
                <a:cs typeface="Arial" pitchFamily="34" charset="-120"/>
              </a:rPr>
              <a:t>Branched products</a:t>
            </a:r>
            <a:endParaRPr lang="en-US" sz="1900" dirty="0"/>
          </a:p>
          <a:p>
            <a:pPr indent="0" marL="0">
              <a:buNone/>
            </a:pPr>
            <a:endParaRPr lang="en-US" sz="1900" dirty="0"/>
          </a:p>
          <a:p>
            <a:pPr indent="0" marL="0">
              <a:buNone/>
            </a:pPr>
            <a:r>
              <a:rPr lang="en-US" sz="1900" dirty="0">
                <a:solidFill>
                  <a:srgbClr val="56636B"/>
                </a:solidFill>
                <a:latin typeface="Arial" pitchFamily="34" charset="0"/>
                <a:ea typeface="Arial" pitchFamily="34" charset="-122"/>
                <a:cs typeface="Arial" pitchFamily="34" charset="-120"/>
              </a:rPr>
              <a:t>Side-chain cracking</a:t>
            </a:r>
            <a:endParaRPr lang="en-US" sz="1900" dirty="0"/>
          </a:p>
          <a:p>
            <a:pPr indent="0" marL="0">
              <a:buNone/>
            </a:pPr>
            <a:r>
              <a:rPr lang="en-US" sz="1900" dirty="0">
                <a:solidFill>
                  <a:srgbClr val="56636B"/>
                </a:solidFill>
                <a:latin typeface="Arial" pitchFamily="34" charset="0"/>
                <a:ea typeface="Arial" pitchFamily="34" charset="-122"/>
                <a:cs typeface="Arial" pitchFamily="34" charset="-120"/>
              </a:rPr>
              <a:t>Aromatics + olefins</a:t>
            </a:r>
            <a:endParaRPr lang="en-US" sz="1900" dirty="0"/>
          </a:p>
          <a:p>
            <a:pPr indent="0" marL="0">
              <a:buNone/>
            </a:pPr>
            <a:endParaRPr lang="en-US" sz="1900" dirty="0"/>
          </a:p>
          <a:p>
            <a:pPr indent="0" marL="0">
              <a:buNone/>
            </a:pPr>
            <a:r>
              <a:rPr lang="en-US" sz="1900" dirty="0">
                <a:solidFill>
                  <a:srgbClr val="56636B"/>
                </a:solidFill>
                <a:latin typeface="Arial" pitchFamily="34" charset="0"/>
                <a:ea typeface="Arial" pitchFamily="34" charset="-122"/>
                <a:cs typeface="Arial" pitchFamily="34" charset="-120"/>
              </a:rPr>
              <a:t>Condensation</a:t>
            </a:r>
            <a:endParaRPr lang="en-US" sz="1900" dirty="0"/>
          </a:p>
          <a:p>
            <a:pPr indent="0" marL="0">
              <a:buNone/>
            </a:pPr>
            <a:r>
              <a:rPr lang="en-US" sz="1900" dirty="0">
                <a:solidFill>
                  <a:srgbClr val="56636B"/>
                </a:solidFill>
                <a:latin typeface="Arial" pitchFamily="34" charset="0"/>
                <a:ea typeface="Arial" pitchFamily="34" charset="-122"/>
                <a:cs typeface="Arial" pitchFamily="34" charset="-120"/>
              </a:rPr>
              <a:t>Polyaromatics + coke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9144000" cy="219456"/>
          </a:xfrm>
          <a:prstGeom prst="rect">
            <a:avLst/>
          </a:prstGeom>
          <a:noFill/>
          <a:ln/>
        </p:spPr>
        <p:txBody>
          <a:bodyPr wrap="square" lIns="0" tIns="0" rIns="0" bIns="0" rtlCol="0" anchor="ctr"/>
          <a:lstStyle/>
          <a:p>
            <a:pPr indent="0" marL="0">
              <a:buNone/>
            </a:pPr>
            <a:r>
              <a:rPr lang="en-US" sz="1050" dirty="0">
                <a:solidFill>
                  <a:srgbClr val="56636B"/>
                </a:solidFill>
                <a:latin typeface="Arial" pitchFamily="34" charset="0"/>
                <a:ea typeface="Arial" pitchFamily="34" charset="-122"/>
                <a:cs typeface="Arial" pitchFamily="34" charset="-120"/>
              </a:rPr>
              <a:t>Petroleum Refining Engineering</a:t>
            </a:r>
            <a:endParaRPr lang="en-US" sz="1050" dirty="0"/>
          </a:p>
        </p:txBody>
      </p:sp>
      <p:sp>
        <p:nvSpPr>
          <p:cNvPr id="3" name="Text 1"/>
          <p:cNvSpPr txBox="1"/>
          <p:nvPr/>
        </p:nvSpPr>
        <p:spPr>
          <a:xfrm>
            <a:off x="502920" y="713232"/>
            <a:ext cx="11155680" cy="548640"/>
          </a:xfrm>
          <a:prstGeom prst="rect">
            <a:avLst/>
          </a:prstGeom>
          <a:noFill/>
          <a:ln/>
        </p:spPr>
        <p:txBody>
          <a:bodyPr wrap="square" lIns="0" tIns="0" rIns="0" bIns="0" rtlCol="0" anchor="ctr"/>
          <a:lstStyle/>
          <a:p>
            <a:pPr indent="0" marL="0">
              <a:buNone/>
            </a:pPr>
            <a:r>
              <a:rPr lang="en-US" sz="3000" b="1" dirty="0">
                <a:solidFill>
                  <a:srgbClr val="202B32"/>
                </a:solidFill>
                <a:latin typeface="Arial" pitchFamily="34" charset="0"/>
                <a:ea typeface="Arial" pitchFamily="34" charset="-122"/>
                <a:cs typeface="Arial" pitchFamily="34" charset="-120"/>
              </a:rPr>
              <a:t>Reaction mechanism</a:t>
            </a:r>
            <a:endParaRPr lang="en-US" sz="3000" dirty="0"/>
          </a:p>
        </p:txBody>
      </p:sp>
      <p:sp>
        <p:nvSpPr>
          <p:cNvPr id="4" name="Text 2"/>
          <p:cNvSpPr txBox="1"/>
          <p:nvPr/>
        </p:nvSpPr>
        <p:spPr>
          <a:xfrm>
            <a:off x="502920" y="6419088"/>
            <a:ext cx="10698480" cy="219456"/>
          </a:xfrm>
          <a:prstGeom prst="rect">
            <a:avLst/>
          </a:prstGeom>
          <a:noFill/>
          <a:ln/>
        </p:spPr>
        <p:txBody>
          <a:bodyPr wrap="square" lIns="0" tIns="0" rIns="0" bIns="0" rtlCol="0" anchor="ctr"/>
          <a:lstStyle/>
          <a:p>
            <a:pPr indent="0" marL="0">
              <a:buNone/>
            </a:pPr>
            <a:r>
              <a:rPr lang="en-US" sz="930" dirty="0">
                <a:solidFill>
                  <a:srgbClr val="56636B"/>
                </a:solidFill>
                <a:latin typeface="Arial" pitchFamily="34" charset="0"/>
                <a:ea typeface="Arial" pitchFamily="34" charset="-122"/>
                <a:cs typeface="Arial" pitchFamily="34" charset="-120"/>
              </a:rPr>
              <a:t>[L] pp. 11–12  ·  [B] Eqs. 8.1–8.3, 8.10  ·  Penn State FSC 432, “Ionic Chain Reactions”</a:t>
            </a:r>
            <a:endParaRPr lang="en-US" sz="930" dirty="0"/>
          </a:p>
        </p:txBody>
      </p:sp>
      <p:sp>
        <p:nvSpPr>
          <p:cNvPr id="5" name="Text 3"/>
          <p:cNvSpPr txBox="1"/>
          <p:nvPr/>
        </p:nvSpPr>
        <p:spPr>
          <a:xfrm>
            <a:off x="11064240" y="6400800"/>
            <a:ext cx="640080" cy="246888"/>
          </a:xfrm>
          <a:prstGeom prst="rect">
            <a:avLst/>
          </a:prstGeom>
          <a:noFill/>
          <a:ln/>
        </p:spPr>
        <p:txBody>
          <a:bodyPr wrap="square" lIns="0" tIns="0" rIns="0" bIns="0" rtlCol="0" anchor="ctr"/>
          <a:lstStyle/>
          <a:p>
            <a:pPr algn="r" indent="0" marL="0">
              <a:buNone/>
            </a:pPr>
            <a:r>
              <a:rPr lang="en-US" sz="1000" dirty="0">
                <a:solidFill>
                  <a:srgbClr val="56636B"/>
                </a:solidFill>
                <a:latin typeface="Arial" pitchFamily="34" charset="0"/>
                <a:ea typeface="Arial" pitchFamily="34" charset="-122"/>
                <a:cs typeface="Arial" pitchFamily="34" charset="-120"/>
              </a:rPr>
              <a:t>7 / 10</a:t>
            </a:r>
            <a:endParaRPr lang="en-US" sz="1000" dirty="0"/>
          </a:p>
        </p:txBody>
      </p:sp>
      <p:sp>
        <p:nvSpPr>
          <p:cNvPr id="7" name="Text 4"/>
          <p:cNvSpPr txBox="1"/>
          <p:nvPr/>
        </p:nvSpPr>
        <p:spPr>
          <a:xfrm>
            <a:off x="530352" y="1490472"/>
            <a:ext cx="438912" cy="365760"/>
          </a:xfrm>
          <a:prstGeom prst="rect">
            <a:avLst/>
          </a:prstGeom>
          <a:noFill/>
          <a:ln/>
        </p:spPr>
        <p:txBody>
          <a:bodyPr wrap="square" lIns="0" tIns="0" rIns="0" bIns="0" rtlCol="0" anchor="ctr"/>
          <a:lstStyle/>
          <a:p>
            <a:pPr indent="0" marL="0">
              <a:buNone/>
            </a:pPr>
            <a:r>
              <a:rPr lang="en-US" sz="1700" b="1" dirty="0">
                <a:solidFill>
                  <a:srgbClr val="BD5129"/>
                </a:solidFill>
                <a:latin typeface="Arial" pitchFamily="34" charset="0"/>
                <a:ea typeface="Arial" pitchFamily="34" charset="-122"/>
                <a:cs typeface="Arial" pitchFamily="34" charset="-120"/>
              </a:rPr>
              <a:t>01</a:t>
            </a:r>
            <a:endParaRPr lang="en-US" sz="1700" dirty="0"/>
          </a:p>
        </p:txBody>
      </p:sp>
      <p:sp>
        <p:nvSpPr>
          <p:cNvPr id="8" name="Text 5"/>
          <p:cNvSpPr txBox="1"/>
          <p:nvPr/>
        </p:nvSpPr>
        <p:spPr>
          <a:xfrm>
            <a:off x="1097280" y="1490472"/>
            <a:ext cx="2176272" cy="384048"/>
          </a:xfrm>
          <a:prstGeom prst="rect">
            <a:avLst/>
          </a:prstGeom>
          <a:noFill/>
          <a:ln/>
        </p:spPr>
        <p:txBody>
          <a:bodyPr wrap="square" lIns="0" tIns="0" rIns="0" bIns="0" rtlCol="0" anchor="ctr"/>
          <a:lstStyle/>
          <a:p>
            <a:pPr indent="0" marL="0">
              <a:buNone/>
            </a:pPr>
            <a:r>
              <a:rPr lang="en-US" sz="1900" b="1" dirty="0">
                <a:solidFill>
                  <a:srgbClr val="202B32"/>
                </a:solidFill>
                <a:latin typeface="Arial" pitchFamily="34" charset="0"/>
                <a:ea typeface="Arial" pitchFamily="34" charset="-122"/>
                <a:cs typeface="Arial" pitchFamily="34" charset="-120"/>
              </a:rPr>
              <a:t>Protonation</a:t>
            </a:r>
            <a:endParaRPr lang="en-US" sz="1900" dirty="0"/>
          </a:p>
        </p:txBody>
      </p:sp>
      <p:pic>
        <p:nvPicPr>
          <p:cNvPr id="9" name="Image 0" descr="C:\Users\BIT\Downloads\PRE\1st Oct presentation\presentation-assets\eq-protonation.png">    </p:cNvPr>
          <p:cNvPicPr>
            <a:picLocks noChangeAspect="1"/>
          </p:cNvPicPr>
          <p:nvPr/>
        </p:nvPicPr>
        <p:blipFill>
          <a:blip r:embed="rId1"/>
          <a:stretch>
            <a:fillRect/>
          </a:stretch>
        </p:blipFill>
        <p:spPr>
          <a:xfrm>
            <a:off x="3246120" y="1495930"/>
            <a:ext cx="8339328" cy="409709"/>
          </a:xfrm>
          <a:prstGeom prst="rect">
            <a:avLst/>
          </a:prstGeom>
        </p:spPr>
      </p:pic>
      <p:sp>
        <p:nvSpPr>
          <p:cNvPr id="10" name="Text 6"/>
          <p:cNvSpPr txBox="1"/>
          <p:nvPr/>
        </p:nvSpPr>
        <p:spPr>
          <a:xfrm>
            <a:off x="3246120" y="2039112"/>
            <a:ext cx="8302752" cy="338328"/>
          </a:xfrm>
          <a:prstGeom prst="rect">
            <a:avLst/>
          </a:prstGeom>
          <a:noFill/>
          <a:ln/>
        </p:spPr>
        <p:txBody>
          <a:bodyPr wrap="square" lIns="0" tIns="0" rIns="0" bIns="0" rtlCol="0" anchor="ctr"/>
          <a:lstStyle/>
          <a:p>
            <a:pPr indent="0" marL="0">
              <a:buNone/>
            </a:pPr>
            <a:r>
              <a:rPr lang="en-US" sz="1650" dirty="0">
                <a:solidFill>
                  <a:srgbClr val="56636B"/>
                </a:solidFill>
                <a:latin typeface="Arial" pitchFamily="34" charset="0"/>
                <a:ea typeface="Arial" pitchFamily="34" charset="-122"/>
                <a:cs typeface="Arial" pitchFamily="34" charset="-120"/>
              </a:rPr>
              <a:t>Olefin accepts a proton from H–Z.</a:t>
            </a:r>
            <a:endParaRPr lang="en-US" sz="1650" dirty="0"/>
          </a:p>
        </p:txBody>
      </p:sp>
      <p:sp>
        <p:nvSpPr>
          <p:cNvPr id="11" name="Shape 7"/>
          <p:cNvSpPr/>
          <p:nvPr/>
        </p:nvSpPr>
        <p:spPr>
          <a:xfrm>
            <a:off x="548640" y="2432304"/>
            <a:ext cx="11064240" cy="0"/>
          </a:xfrm>
          <a:prstGeom prst="line">
            <a:avLst/>
          </a:prstGeom>
          <a:noFill/>
          <a:ln w="10160">
            <a:solidFill>
              <a:srgbClr val="CBD5DA"/>
            </a:solidFill>
            <a:prstDash val="solid"/>
          </a:ln>
        </p:spPr>
      </p:sp>
      <p:sp>
        <p:nvSpPr>
          <p:cNvPr id="12" name="Text 8"/>
          <p:cNvSpPr txBox="1"/>
          <p:nvPr/>
        </p:nvSpPr>
        <p:spPr>
          <a:xfrm>
            <a:off x="530352" y="2587752"/>
            <a:ext cx="438912" cy="365760"/>
          </a:xfrm>
          <a:prstGeom prst="rect">
            <a:avLst/>
          </a:prstGeom>
          <a:noFill/>
          <a:ln/>
        </p:spPr>
        <p:txBody>
          <a:bodyPr wrap="square" lIns="0" tIns="0" rIns="0" bIns="0" rtlCol="0" anchor="ctr"/>
          <a:lstStyle/>
          <a:p>
            <a:pPr indent="0" marL="0">
              <a:buNone/>
            </a:pPr>
            <a:r>
              <a:rPr lang="en-US" sz="1700" b="1" dirty="0">
                <a:solidFill>
                  <a:srgbClr val="BD5129"/>
                </a:solidFill>
                <a:latin typeface="Arial" pitchFamily="34" charset="0"/>
                <a:ea typeface="Arial" pitchFamily="34" charset="-122"/>
                <a:cs typeface="Arial" pitchFamily="34" charset="-120"/>
              </a:rPr>
              <a:t>02</a:t>
            </a:r>
            <a:endParaRPr lang="en-US" sz="1700" dirty="0"/>
          </a:p>
        </p:txBody>
      </p:sp>
      <p:sp>
        <p:nvSpPr>
          <p:cNvPr id="13" name="Text 9"/>
          <p:cNvSpPr txBox="1"/>
          <p:nvPr/>
        </p:nvSpPr>
        <p:spPr>
          <a:xfrm>
            <a:off x="1097280" y="2587752"/>
            <a:ext cx="2176272" cy="384048"/>
          </a:xfrm>
          <a:prstGeom prst="rect">
            <a:avLst/>
          </a:prstGeom>
          <a:noFill/>
          <a:ln/>
        </p:spPr>
        <p:txBody>
          <a:bodyPr wrap="square" lIns="0" tIns="0" rIns="0" bIns="0" rtlCol="0" anchor="ctr"/>
          <a:lstStyle/>
          <a:p>
            <a:pPr indent="0" marL="0">
              <a:buNone/>
            </a:pPr>
            <a:r>
              <a:rPr lang="en-US" sz="1900" b="1" dirty="0">
                <a:solidFill>
                  <a:srgbClr val="202B32"/>
                </a:solidFill>
                <a:latin typeface="Arial" pitchFamily="34" charset="0"/>
                <a:ea typeface="Arial" pitchFamily="34" charset="-122"/>
                <a:cs typeface="Arial" pitchFamily="34" charset="-120"/>
              </a:rPr>
              <a:t>β-scission</a:t>
            </a:r>
            <a:endParaRPr lang="en-US" sz="1900" dirty="0"/>
          </a:p>
        </p:txBody>
      </p:sp>
      <p:pic>
        <p:nvPicPr>
          <p:cNvPr id="14" name="Image 1" descr="C:\Users\BIT\Downloads\PRE\1st Oct presentation\presentation-assets\eq-beta-scission.png">    </p:cNvPr>
          <p:cNvPicPr>
            <a:picLocks noChangeAspect="1"/>
          </p:cNvPicPr>
          <p:nvPr/>
        </p:nvPicPr>
        <p:blipFill>
          <a:blip r:embed="rId2"/>
          <a:stretch>
            <a:fillRect/>
          </a:stretch>
        </p:blipFill>
        <p:spPr>
          <a:xfrm>
            <a:off x="3246120" y="2630630"/>
            <a:ext cx="8339328" cy="334868"/>
          </a:xfrm>
          <a:prstGeom prst="rect">
            <a:avLst/>
          </a:prstGeom>
        </p:spPr>
      </p:pic>
      <p:sp>
        <p:nvSpPr>
          <p:cNvPr id="15" name="Text 10"/>
          <p:cNvSpPr txBox="1"/>
          <p:nvPr/>
        </p:nvSpPr>
        <p:spPr>
          <a:xfrm>
            <a:off x="3246120" y="3136392"/>
            <a:ext cx="8302752" cy="338328"/>
          </a:xfrm>
          <a:prstGeom prst="rect">
            <a:avLst/>
          </a:prstGeom>
          <a:noFill/>
          <a:ln/>
        </p:spPr>
        <p:txBody>
          <a:bodyPr wrap="square" lIns="0" tIns="0" rIns="0" bIns="0" rtlCol="0" anchor="ctr"/>
          <a:lstStyle/>
          <a:p>
            <a:pPr indent="0" marL="0">
              <a:buNone/>
            </a:pPr>
            <a:r>
              <a:rPr lang="en-US" sz="1650" dirty="0">
                <a:solidFill>
                  <a:srgbClr val="56636B"/>
                </a:solidFill>
                <a:latin typeface="Arial" pitchFamily="34" charset="0"/>
                <a:ea typeface="Arial" pitchFamily="34" charset="-122"/>
                <a:cs typeface="Arial" pitchFamily="34" charset="-120"/>
              </a:rPr>
              <a:t>A C–C bond breaks to form an olefin + smaller ion.</a:t>
            </a:r>
            <a:endParaRPr lang="en-US" sz="1650" dirty="0"/>
          </a:p>
        </p:txBody>
      </p:sp>
      <p:sp>
        <p:nvSpPr>
          <p:cNvPr id="16" name="Shape 11"/>
          <p:cNvSpPr/>
          <p:nvPr/>
        </p:nvSpPr>
        <p:spPr>
          <a:xfrm>
            <a:off x="548640" y="3529584"/>
            <a:ext cx="11064240" cy="0"/>
          </a:xfrm>
          <a:prstGeom prst="line">
            <a:avLst/>
          </a:prstGeom>
          <a:noFill/>
          <a:ln w="10160">
            <a:solidFill>
              <a:srgbClr val="CBD5DA"/>
            </a:solidFill>
            <a:prstDash val="solid"/>
          </a:ln>
        </p:spPr>
      </p:sp>
      <p:sp>
        <p:nvSpPr>
          <p:cNvPr id="17" name="Text 12"/>
          <p:cNvSpPr txBox="1"/>
          <p:nvPr/>
        </p:nvSpPr>
        <p:spPr>
          <a:xfrm>
            <a:off x="530352" y="3685032"/>
            <a:ext cx="438912" cy="365760"/>
          </a:xfrm>
          <a:prstGeom prst="rect">
            <a:avLst/>
          </a:prstGeom>
          <a:noFill/>
          <a:ln/>
        </p:spPr>
        <p:txBody>
          <a:bodyPr wrap="square" lIns="0" tIns="0" rIns="0" bIns="0" rtlCol="0" anchor="ctr"/>
          <a:lstStyle/>
          <a:p>
            <a:pPr indent="0" marL="0">
              <a:buNone/>
            </a:pPr>
            <a:r>
              <a:rPr lang="en-US" sz="1700" b="1" dirty="0">
                <a:solidFill>
                  <a:srgbClr val="BD5129"/>
                </a:solidFill>
                <a:latin typeface="Arial" pitchFamily="34" charset="0"/>
                <a:ea typeface="Arial" pitchFamily="34" charset="-122"/>
                <a:cs typeface="Arial" pitchFamily="34" charset="-120"/>
              </a:rPr>
              <a:t>03</a:t>
            </a:r>
            <a:endParaRPr lang="en-US" sz="1700" dirty="0"/>
          </a:p>
        </p:txBody>
      </p:sp>
      <p:sp>
        <p:nvSpPr>
          <p:cNvPr id="18" name="Text 13"/>
          <p:cNvSpPr txBox="1"/>
          <p:nvPr/>
        </p:nvSpPr>
        <p:spPr>
          <a:xfrm>
            <a:off x="1097280" y="3685032"/>
            <a:ext cx="2176272" cy="384048"/>
          </a:xfrm>
          <a:prstGeom prst="rect">
            <a:avLst/>
          </a:prstGeom>
          <a:noFill/>
          <a:ln/>
        </p:spPr>
        <p:txBody>
          <a:bodyPr wrap="square" lIns="0" tIns="0" rIns="0" bIns="0" rtlCol="0" anchor="ctr"/>
          <a:lstStyle/>
          <a:p>
            <a:pPr indent="0" marL="0">
              <a:buNone/>
            </a:pPr>
            <a:r>
              <a:rPr lang="en-US" sz="1900" b="1" dirty="0">
                <a:solidFill>
                  <a:srgbClr val="202B32"/>
                </a:solidFill>
                <a:latin typeface="Arial" pitchFamily="34" charset="0"/>
                <a:ea typeface="Arial" pitchFamily="34" charset="-122"/>
                <a:cs typeface="Arial" pitchFamily="34" charset="-120"/>
              </a:rPr>
              <a:t>Hydride transfer</a:t>
            </a:r>
            <a:endParaRPr lang="en-US" sz="1900" dirty="0"/>
          </a:p>
        </p:txBody>
      </p:sp>
      <p:pic>
        <p:nvPicPr>
          <p:cNvPr id="19" name="Image 2" descr="C:\Users\BIT\Downloads\PRE\1st Oct presentation\presentation-assets\eq-hydride-transfer.png">    </p:cNvPr>
          <p:cNvPicPr>
            <a:picLocks noChangeAspect="1"/>
          </p:cNvPicPr>
          <p:nvPr/>
        </p:nvPicPr>
        <p:blipFill>
          <a:blip r:embed="rId3"/>
          <a:stretch>
            <a:fillRect/>
          </a:stretch>
        </p:blipFill>
        <p:spPr>
          <a:xfrm>
            <a:off x="4262195" y="3630168"/>
            <a:ext cx="6307178" cy="530352"/>
          </a:xfrm>
          <a:prstGeom prst="rect">
            <a:avLst/>
          </a:prstGeom>
        </p:spPr>
      </p:pic>
      <p:sp>
        <p:nvSpPr>
          <p:cNvPr id="20" name="Text 14"/>
          <p:cNvSpPr txBox="1"/>
          <p:nvPr/>
        </p:nvSpPr>
        <p:spPr>
          <a:xfrm>
            <a:off x="3246120" y="4233672"/>
            <a:ext cx="8302752" cy="338328"/>
          </a:xfrm>
          <a:prstGeom prst="rect">
            <a:avLst/>
          </a:prstGeom>
          <a:noFill/>
          <a:ln/>
        </p:spPr>
        <p:txBody>
          <a:bodyPr wrap="square" lIns="0" tIns="0" rIns="0" bIns="0" rtlCol="0" anchor="ctr"/>
          <a:lstStyle/>
          <a:p>
            <a:pPr indent="0" marL="0">
              <a:buNone/>
            </a:pPr>
            <a:r>
              <a:rPr lang="en-US" sz="1650" dirty="0">
                <a:solidFill>
                  <a:srgbClr val="56636B"/>
                </a:solidFill>
                <a:latin typeface="Arial" pitchFamily="34" charset="0"/>
                <a:ea typeface="Arial" pitchFamily="34" charset="-122"/>
                <a:cs typeface="Arial" pitchFamily="34" charset="-120"/>
              </a:rPr>
              <a:t>Paraffin forms and a new carbenium ion continues the chain.</a:t>
            </a:r>
            <a:endParaRPr lang="en-US" sz="1650" dirty="0"/>
          </a:p>
        </p:txBody>
      </p:sp>
      <p:sp>
        <p:nvSpPr>
          <p:cNvPr id="21" name="Shape 15"/>
          <p:cNvSpPr/>
          <p:nvPr/>
        </p:nvSpPr>
        <p:spPr>
          <a:xfrm>
            <a:off x="548640" y="4626864"/>
            <a:ext cx="11064240" cy="0"/>
          </a:xfrm>
          <a:prstGeom prst="line">
            <a:avLst/>
          </a:prstGeom>
          <a:noFill/>
          <a:ln w="10160">
            <a:solidFill>
              <a:srgbClr val="CBD5DA"/>
            </a:solidFill>
            <a:prstDash val="solid"/>
          </a:ln>
        </p:spPr>
      </p:sp>
      <p:sp>
        <p:nvSpPr>
          <p:cNvPr id="22" name="Text 16"/>
          <p:cNvSpPr txBox="1"/>
          <p:nvPr/>
        </p:nvSpPr>
        <p:spPr>
          <a:xfrm>
            <a:off x="530352" y="4782312"/>
            <a:ext cx="438912" cy="365760"/>
          </a:xfrm>
          <a:prstGeom prst="rect">
            <a:avLst/>
          </a:prstGeom>
          <a:noFill/>
          <a:ln/>
        </p:spPr>
        <p:txBody>
          <a:bodyPr wrap="square" lIns="0" tIns="0" rIns="0" bIns="0" rtlCol="0" anchor="ctr"/>
          <a:lstStyle/>
          <a:p>
            <a:pPr indent="0" marL="0">
              <a:buNone/>
            </a:pPr>
            <a:r>
              <a:rPr lang="en-US" sz="1700" b="1" dirty="0">
                <a:solidFill>
                  <a:srgbClr val="BD5129"/>
                </a:solidFill>
                <a:latin typeface="Arial" pitchFamily="34" charset="0"/>
                <a:ea typeface="Arial" pitchFamily="34" charset="-122"/>
                <a:cs typeface="Arial" pitchFamily="34" charset="-120"/>
              </a:rPr>
              <a:t>04</a:t>
            </a:r>
            <a:endParaRPr lang="en-US" sz="1700" dirty="0"/>
          </a:p>
        </p:txBody>
      </p:sp>
      <p:sp>
        <p:nvSpPr>
          <p:cNvPr id="23" name="Text 17"/>
          <p:cNvSpPr txBox="1"/>
          <p:nvPr/>
        </p:nvSpPr>
        <p:spPr>
          <a:xfrm>
            <a:off x="1097280" y="4782312"/>
            <a:ext cx="2176272" cy="384048"/>
          </a:xfrm>
          <a:prstGeom prst="rect">
            <a:avLst/>
          </a:prstGeom>
          <a:noFill/>
          <a:ln/>
        </p:spPr>
        <p:txBody>
          <a:bodyPr wrap="square" lIns="0" tIns="0" rIns="0" bIns="0" rtlCol="0" anchor="ctr"/>
          <a:lstStyle/>
          <a:p>
            <a:pPr indent="0" marL="0">
              <a:buNone/>
            </a:pPr>
            <a:r>
              <a:rPr lang="en-US" sz="1900" b="1" dirty="0">
                <a:solidFill>
                  <a:srgbClr val="202B32"/>
                </a:solidFill>
                <a:latin typeface="Arial" pitchFamily="34" charset="0"/>
                <a:ea typeface="Arial" pitchFamily="34" charset="-122"/>
                <a:cs typeface="Arial" pitchFamily="34" charset="-120"/>
              </a:rPr>
              <a:t>Proton return</a:t>
            </a:r>
            <a:endParaRPr lang="en-US" sz="1900" dirty="0"/>
          </a:p>
        </p:txBody>
      </p:sp>
      <p:pic>
        <p:nvPicPr>
          <p:cNvPr id="24" name="Image 3" descr="C:\Users\BIT\Downloads\PRE\1st Oct presentation\presentation-assets\eq-site-regeneration.png">    </p:cNvPr>
          <p:cNvPicPr>
            <a:picLocks noChangeAspect="1"/>
          </p:cNvPicPr>
          <p:nvPr/>
        </p:nvPicPr>
        <p:blipFill>
          <a:blip r:embed="rId4"/>
          <a:stretch>
            <a:fillRect/>
          </a:stretch>
        </p:blipFill>
        <p:spPr>
          <a:xfrm>
            <a:off x="3246120" y="4787770"/>
            <a:ext cx="8339328" cy="409709"/>
          </a:xfrm>
          <a:prstGeom prst="rect">
            <a:avLst/>
          </a:prstGeom>
        </p:spPr>
      </p:pic>
      <p:sp>
        <p:nvSpPr>
          <p:cNvPr id="25" name="Text 18"/>
          <p:cNvSpPr txBox="1"/>
          <p:nvPr/>
        </p:nvSpPr>
        <p:spPr>
          <a:xfrm>
            <a:off x="3246120" y="5330952"/>
            <a:ext cx="8302752" cy="338328"/>
          </a:xfrm>
          <a:prstGeom prst="rect">
            <a:avLst/>
          </a:prstGeom>
          <a:noFill/>
          <a:ln/>
        </p:spPr>
        <p:txBody>
          <a:bodyPr wrap="square" lIns="0" tIns="0" rIns="0" bIns="0" rtlCol="0" anchor="ctr"/>
          <a:lstStyle/>
          <a:p>
            <a:pPr indent="0" marL="0">
              <a:buNone/>
            </a:pPr>
            <a:r>
              <a:rPr lang="en-US" sz="1650" dirty="0">
                <a:solidFill>
                  <a:srgbClr val="56636B"/>
                </a:solidFill>
                <a:latin typeface="Arial" pitchFamily="34" charset="0"/>
                <a:ea typeface="Arial" pitchFamily="34" charset="-122"/>
                <a:cs typeface="Arial" pitchFamily="34" charset="-120"/>
              </a:rPr>
              <a:t>Olefin leaves and the acid site regenerates.</a:t>
            </a:r>
            <a:endParaRPr lang="en-US" sz="1650" dirty="0"/>
          </a:p>
        </p:txBody>
      </p:sp>
      <p:sp>
        <p:nvSpPr>
          <p:cNvPr id="26" name="Text 19"/>
          <p:cNvSpPr txBox="1"/>
          <p:nvPr/>
        </p:nvSpPr>
        <p:spPr>
          <a:xfrm>
            <a:off x="548640" y="6016752"/>
            <a:ext cx="10972800" cy="274320"/>
          </a:xfrm>
          <a:prstGeom prst="rect">
            <a:avLst/>
          </a:prstGeom>
          <a:noFill/>
          <a:ln/>
        </p:spPr>
        <p:txBody>
          <a:bodyPr wrap="square" lIns="0" tIns="0" rIns="0" bIns="0" rtlCol="0" anchor="ctr"/>
          <a:lstStyle/>
          <a:p>
            <a:pPr indent="0" marL="0">
              <a:buNone/>
            </a:pPr>
            <a:r>
              <a:rPr lang="en-US" sz="1600" dirty="0">
                <a:solidFill>
                  <a:srgbClr val="246B88"/>
                </a:solidFill>
                <a:latin typeface="Arial" pitchFamily="34" charset="0"/>
                <a:ea typeface="Arial" pitchFamily="34" charset="-122"/>
                <a:cs typeface="Arial" pitchFamily="34" charset="-120"/>
              </a:rPr>
              <a:t>H–Z = Brønsted acid site. Rearrangements favour more stable ions and branched products.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9144000" cy="219456"/>
          </a:xfrm>
          <a:prstGeom prst="rect">
            <a:avLst/>
          </a:prstGeom>
          <a:noFill/>
          <a:ln/>
        </p:spPr>
        <p:txBody>
          <a:bodyPr wrap="square" lIns="0" tIns="0" rIns="0" bIns="0" rtlCol="0" anchor="ctr"/>
          <a:lstStyle/>
          <a:p>
            <a:pPr indent="0" marL="0">
              <a:buNone/>
            </a:pPr>
            <a:r>
              <a:rPr lang="en-US" sz="1050" dirty="0">
                <a:solidFill>
                  <a:srgbClr val="56636B"/>
                </a:solidFill>
                <a:latin typeface="Arial" pitchFamily="34" charset="0"/>
                <a:ea typeface="Arial" pitchFamily="34" charset="-122"/>
                <a:cs typeface="Arial" pitchFamily="34" charset="-120"/>
              </a:rPr>
              <a:t>Petroleum Refining Engineering</a:t>
            </a:r>
            <a:endParaRPr lang="en-US" sz="1050" dirty="0"/>
          </a:p>
        </p:txBody>
      </p:sp>
      <p:sp>
        <p:nvSpPr>
          <p:cNvPr id="3" name="Text 1"/>
          <p:cNvSpPr txBox="1"/>
          <p:nvPr/>
        </p:nvSpPr>
        <p:spPr>
          <a:xfrm>
            <a:off x="502920" y="713232"/>
            <a:ext cx="11155680" cy="548640"/>
          </a:xfrm>
          <a:prstGeom prst="rect">
            <a:avLst/>
          </a:prstGeom>
          <a:noFill/>
          <a:ln/>
        </p:spPr>
        <p:txBody>
          <a:bodyPr wrap="square" lIns="0" tIns="0" rIns="0" bIns="0" rtlCol="0" anchor="ctr"/>
          <a:lstStyle/>
          <a:p>
            <a:pPr indent="0" marL="0">
              <a:buNone/>
            </a:pPr>
            <a:r>
              <a:rPr lang="en-US" sz="3000" b="1" dirty="0">
                <a:solidFill>
                  <a:srgbClr val="202B32"/>
                </a:solidFill>
                <a:latin typeface="Arial" pitchFamily="34" charset="0"/>
                <a:ea typeface="Arial" pitchFamily="34" charset="-122"/>
                <a:cs typeface="Arial" pitchFamily="34" charset="-120"/>
              </a:rPr>
              <a:t>Riser reactor</a:t>
            </a:r>
            <a:endParaRPr lang="en-US" sz="3000" dirty="0"/>
          </a:p>
        </p:txBody>
      </p:sp>
      <p:sp>
        <p:nvSpPr>
          <p:cNvPr id="4" name="Text 2"/>
          <p:cNvSpPr txBox="1"/>
          <p:nvPr/>
        </p:nvSpPr>
        <p:spPr>
          <a:xfrm>
            <a:off x="502920" y="6419088"/>
            <a:ext cx="10698480" cy="219456"/>
          </a:xfrm>
          <a:prstGeom prst="rect">
            <a:avLst/>
          </a:prstGeom>
          <a:noFill/>
          <a:ln/>
        </p:spPr>
        <p:txBody>
          <a:bodyPr wrap="square" lIns="0" tIns="0" rIns="0" bIns="0" rtlCol="0" anchor="ctr"/>
          <a:lstStyle/>
          <a:p>
            <a:pPr indent="0" marL="0">
              <a:buNone/>
            </a:pPr>
            <a:r>
              <a:rPr lang="en-US" sz="930" dirty="0">
                <a:solidFill>
                  <a:srgbClr val="56636B"/>
                </a:solidFill>
                <a:latin typeface="Arial" pitchFamily="34" charset="0"/>
                <a:ea typeface="Arial" pitchFamily="34" charset="-122"/>
                <a:cs typeface="Arial" pitchFamily="34" charset="-120"/>
              </a:rPr>
              <a:t>[L] pp. 13, 16  ·  [B] §§8.9–8.10; Example E8.4, p. 224</a:t>
            </a:r>
            <a:endParaRPr lang="en-US" sz="930" dirty="0"/>
          </a:p>
        </p:txBody>
      </p:sp>
      <p:sp>
        <p:nvSpPr>
          <p:cNvPr id="5" name="Text 3"/>
          <p:cNvSpPr txBox="1"/>
          <p:nvPr/>
        </p:nvSpPr>
        <p:spPr>
          <a:xfrm>
            <a:off x="11064240" y="6400800"/>
            <a:ext cx="640080" cy="246888"/>
          </a:xfrm>
          <a:prstGeom prst="rect">
            <a:avLst/>
          </a:prstGeom>
          <a:noFill/>
          <a:ln/>
        </p:spPr>
        <p:txBody>
          <a:bodyPr wrap="square" lIns="0" tIns="0" rIns="0" bIns="0" rtlCol="0" anchor="ctr"/>
          <a:lstStyle/>
          <a:p>
            <a:pPr algn="r" indent="0" marL="0">
              <a:buNone/>
            </a:pPr>
            <a:r>
              <a:rPr lang="en-US" sz="1000" dirty="0">
                <a:solidFill>
                  <a:srgbClr val="56636B"/>
                </a:solidFill>
                <a:latin typeface="Arial" pitchFamily="34" charset="0"/>
                <a:ea typeface="Arial" pitchFamily="34" charset="-122"/>
                <a:cs typeface="Arial" pitchFamily="34" charset="-120"/>
              </a:rPr>
              <a:t>8 / 10</a:t>
            </a:r>
            <a:endParaRPr lang="en-US" sz="1000" dirty="0"/>
          </a:p>
        </p:txBody>
      </p:sp>
      <p:pic>
        <p:nvPicPr>
          <p:cNvPr id="7" name="Image 0" descr="C:\Users\BIT\Downloads\PRE\1st Oct presentation\presentation-assets\08-riser-reactor.png">    </p:cNvPr>
          <p:cNvPicPr>
            <a:picLocks noChangeAspect="1"/>
          </p:cNvPicPr>
          <p:nvPr/>
        </p:nvPicPr>
        <p:blipFill>
          <a:blip r:embed="rId1"/>
          <a:stretch>
            <a:fillRect/>
          </a:stretch>
        </p:blipFill>
        <p:spPr>
          <a:xfrm>
            <a:off x="565943" y="1408176"/>
            <a:ext cx="5524945" cy="4919472"/>
          </a:xfrm>
          <a:prstGeom prst="rect">
            <a:avLst/>
          </a:prstGeom>
        </p:spPr>
      </p:pic>
      <p:sp>
        <p:nvSpPr>
          <p:cNvPr id="8" name="Text 4"/>
          <p:cNvSpPr txBox="1"/>
          <p:nvPr/>
        </p:nvSpPr>
        <p:spPr>
          <a:xfrm>
            <a:off x="6583680" y="1664208"/>
            <a:ext cx="4965192" cy="310896"/>
          </a:xfrm>
          <a:prstGeom prst="rect">
            <a:avLst/>
          </a:prstGeom>
          <a:noFill/>
          <a:ln/>
        </p:spPr>
        <p:txBody>
          <a:bodyPr wrap="square" lIns="0" tIns="0" rIns="0" bIns="0" rtlCol="0" anchor="ctr"/>
          <a:lstStyle/>
          <a:p>
            <a:pPr indent="0" marL="0">
              <a:buNone/>
            </a:pPr>
            <a:r>
              <a:rPr lang="en-US" sz="2000" b="1" dirty="0">
                <a:solidFill>
                  <a:srgbClr val="202B32"/>
                </a:solidFill>
                <a:latin typeface="Arial" pitchFamily="34" charset="0"/>
                <a:ea typeface="Arial" pitchFamily="34" charset="-122"/>
                <a:cs typeface="Arial" pitchFamily="34" charset="-120"/>
              </a:rPr>
              <a:t>Flow regime</a:t>
            </a:r>
            <a:endParaRPr lang="en-US" sz="2000" dirty="0"/>
          </a:p>
        </p:txBody>
      </p:sp>
      <p:sp>
        <p:nvSpPr>
          <p:cNvPr id="9" name="Text 5"/>
          <p:cNvSpPr txBox="1"/>
          <p:nvPr/>
        </p:nvSpPr>
        <p:spPr>
          <a:xfrm>
            <a:off x="6583680" y="2121408"/>
            <a:ext cx="4965192" cy="713232"/>
          </a:xfrm>
          <a:prstGeom prst="rect">
            <a:avLst/>
          </a:prstGeom>
          <a:noFill/>
          <a:ln/>
        </p:spPr>
        <p:txBody>
          <a:bodyPr wrap="square" lIns="0" tIns="0" rIns="0" bIns="0" rtlCol="0" anchor="ctr"/>
          <a:lstStyle/>
          <a:p>
            <a:pPr indent="0" marL="0">
              <a:buNone/>
            </a:pPr>
            <a:r>
              <a:rPr lang="en-US" sz="1800" dirty="0">
                <a:solidFill>
                  <a:srgbClr val="56636B"/>
                </a:solidFill>
                <a:latin typeface="Arial" pitchFamily="34" charset="0"/>
                <a:ea typeface="Arial" pitchFamily="34" charset="-122"/>
                <a:cs typeface="Arial" pitchFamily="34" charset="-120"/>
              </a:rPr>
              <a:t>Dilute-phase pneumatic transport of hydrocarbon vapour and catalyst.</a:t>
            </a:r>
            <a:endParaRPr lang="en-US" sz="1800" dirty="0"/>
          </a:p>
        </p:txBody>
      </p:sp>
      <p:sp>
        <p:nvSpPr>
          <p:cNvPr id="10" name="Text 6"/>
          <p:cNvSpPr txBox="1"/>
          <p:nvPr/>
        </p:nvSpPr>
        <p:spPr>
          <a:xfrm>
            <a:off x="6583680" y="3099816"/>
            <a:ext cx="4965192" cy="310896"/>
          </a:xfrm>
          <a:prstGeom prst="rect">
            <a:avLst/>
          </a:prstGeom>
          <a:noFill/>
          <a:ln/>
        </p:spPr>
        <p:txBody>
          <a:bodyPr wrap="square" lIns="0" tIns="0" rIns="0" bIns="0" rtlCol="0" anchor="ctr"/>
          <a:lstStyle/>
          <a:p>
            <a:pPr indent="0" marL="0">
              <a:buNone/>
            </a:pPr>
            <a:r>
              <a:rPr lang="en-US" sz="2000" b="1" dirty="0">
                <a:solidFill>
                  <a:srgbClr val="202B32"/>
                </a:solidFill>
                <a:latin typeface="Arial" pitchFamily="34" charset="0"/>
                <a:ea typeface="Arial" pitchFamily="34" charset="-122"/>
                <a:cs typeface="Arial" pitchFamily="34" charset="-120"/>
              </a:rPr>
              <a:t>Reactor model</a:t>
            </a:r>
            <a:endParaRPr lang="en-US" sz="2000" dirty="0"/>
          </a:p>
        </p:txBody>
      </p:sp>
      <p:sp>
        <p:nvSpPr>
          <p:cNvPr id="11" name="Text 7"/>
          <p:cNvSpPr txBox="1"/>
          <p:nvPr/>
        </p:nvSpPr>
        <p:spPr>
          <a:xfrm>
            <a:off x="6583680" y="3557016"/>
            <a:ext cx="4965192" cy="713232"/>
          </a:xfrm>
          <a:prstGeom prst="rect">
            <a:avLst/>
          </a:prstGeom>
          <a:noFill/>
          <a:ln/>
        </p:spPr>
        <p:txBody>
          <a:bodyPr wrap="square" lIns="0" tIns="0" rIns="0" bIns="0" rtlCol="0" anchor="ctr"/>
          <a:lstStyle/>
          <a:p>
            <a:pPr indent="0" marL="0">
              <a:buNone/>
            </a:pPr>
            <a:r>
              <a:rPr lang="en-US" sz="1800" dirty="0">
                <a:solidFill>
                  <a:srgbClr val="56636B"/>
                </a:solidFill>
                <a:latin typeface="Arial" pitchFamily="34" charset="0"/>
                <a:ea typeface="Arial" pitchFamily="34" charset="-122"/>
                <a:cs typeface="Arial" pitchFamily="34" charset="-120"/>
              </a:rPr>
              <a:t>Often approximated as plug flow, coupled to catalyst activity and heat balance.</a:t>
            </a:r>
            <a:endParaRPr lang="en-US" sz="1800" dirty="0"/>
          </a:p>
        </p:txBody>
      </p:sp>
      <p:sp>
        <p:nvSpPr>
          <p:cNvPr id="12" name="Text 8"/>
          <p:cNvSpPr txBox="1"/>
          <p:nvPr/>
        </p:nvSpPr>
        <p:spPr>
          <a:xfrm>
            <a:off x="6583680" y="4535424"/>
            <a:ext cx="4965192" cy="310896"/>
          </a:xfrm>
          <a:prstGeom prst="rect">
            <a:avLst/>
          </a:prstGeom>
          <a:noFill/>
          <a:ln/>
        </p:spPr>
        <p:txBody>
          <a:bodyPr wrap="square" lIns="0" tIns="0" rIns="0" bIns="0" rtlCol="0" anchor="ctr"/>
          <a:lstStyle/>
          <a:p>
            <a:pPr indent="0" marL="0">
              <a:buNone/>
            </a:pPr>
            <a:r>
              <a:rPr lang="en-US" sz="2000" b="1" dirty="0">
                <a:solidFill>
                  <a:srgbClr val="202B32"/>
                </a:solidFill>
                <a:latin typeface="Arial" pitchFamily="34" charset="0"/>
                <a:ea typeface="Arial" pitchFamily="34" charset="-122"/>
                <a:cs typeface="Arial" pitchFamily="34" charset="-120"/>
              </a:rPr>
              <a:t>Fast separation</a:t>
            </a:r>
            <a:endParaRPr lang="en-US" sz="2000" dirty="0"/>
          </a:p>
        </p:txBody>
      </p:sp>
      <p:sp>
        <p:nvSpPr>
          <p:cNvPr id="13" name="Text 9"/>
          <p:cNvSpPr txBox="1"/>
          <p:nvPr/>
        </p:nvSpPr>
        <p:spPr>
          <a:xfrm>
            <a:off x="6583680" y="4992624"/>
            <a:ext cx="4965192" cy="713232"/>
          </a:xfrm>
          <a:prstGeom prst="rect">
            <a:avLst/>
          </a:prstGeom>
          <a:noFill/>
          <a:ln/>
        </p:spPr>
        <p:txBody>
          <a:bodyPr wrap="square" lIns="0" tIns="0" rIns="0" bIns="0" rtlCol="0" anchor="ctr"/>
          <a:lstStyle/>
          <a:p>
            <a:pPr indent="0" marL="0">
              <a:buNone/>
            </a:pPr>
            <a:r>
              <a:rPr lang="en-US" sz="1800" dirty="0">
                <a:solidFill>
                  <a:srgbClr val="56636B"/>
                </a:solidFill>
                <a:latin typeface="Arial" pitchFamily="34" charset="0"/>
                <a:ea typeface="Arial" pitchFamily="34" charset="-122"/>
                <a:cs typeface="Arial" pitchFamily="34" charset="-120"/>
              </a:rPr>
              <a:t>Cyclones / disengager stop extended contact. Steam strips retained hydrocarbons.</a:t>
            </a:r>
            <a:endParaRPr lang="en-US" sz="1800" dirty="0"/>
          </a:p>
        </p:txBody>
      </p:sp>
      <p:sp>
        <p:nvSpPr>
          <p:cNvPr id="14" name="Text 10"/>
          <p:cNvSpPr txBox="1"/>
          <p:nvPr/>
        </p:nvSpPr>
        <p:spPr>
          <a:xfrm>
            <a:off x="612648" y="6089904"/>
            <a:ext cx="5669280" cy="210312"/>
          </a:xfrm>
          <a:prstGeom prst="rect">
            <a:avLst/>
          </a:prstGeom>
          <a:noFill/>
          <a:ln/>
        </p:spPr>
        <p:txBody>
          <a:bodyPr wrap="square" lIns="0" tIns="0" rIns="0" bIns="0" rtlCol="0" anchor="ctr"/>
          <a:lstStyle/>
          <a:p>
            <a:pPr indent="0" marL="0">
              <a:buNone/>
            </a:pPr>
            <a:r>
              <a:rPr lang="en-US" sz="1150" dirty="0">
                <a:solidFill>
                  <a:srgbClr val="56636B"/>
                </a:solidFill>
                <a:latin typeface="Arial" pitchFamily="34" charset="0"/>
                <a:ea typeface="Arial" pitchFamily="34" charset="-122"/>
                <a:cs typeface="Arial" pitchFamily="34" charset="-120"/>
              </a:rPr>
              <a:t>33 m × 0.8 m is a textbook example, not a standard design.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9144000" cy="219456"/>
          </a:xfrm>
          <a:prstGeom prst="rect">
            <a:avLst/>
          </a:prstGeom>
          <a:noFill/>
          <a:ln/>
        </p:spPr>
        <p:txBody>
          <a:bodyPr wrap="square" lIns="0" tIns="0" rIns="0" bIns="0" rtlCol="0" anchor="ctr"/>
          <a:lstStyle/>
          <a:p>
            <a:pPr indent="0" marL="0">
              <a:buNone/>
            </a:pPr>
            <a:r>
              <a:rPr lang="en-US" sz="1050" dirty="0">
                <a:solidFill>
                  <a:srgbClr val="56636B"/>
                </a:solidFill>
                <a:latin typeface="Arial" pitchFamily="34" charset="0"/>
                <a:ea typeface="Arial" pitchFamily="34" charset="-122"/>
                <a:cs typeface="Arial" pitchFamily="34" charset="-120"/>
              </a:rPr>
              <a:t>Petroleum Refining Engineering</a:t>
            </a:r>
            <a:endParaRPr lang="en-US" sz="1050" dirty="0"/>
          </a:p>
        </p:txBody>
      </p:sp>
      <p:sp>
        <p:nvSpPr>
          <p:cNvPr id="3" name="Text 1"/>
          <p:cNvSpPr txBox="1"/>
          <p:nvPr/>
        </p:nvSpPr>
        <p:spPr>
          <a:xfrm>
            <a:off x="502920" y="713232"/>
            <a:ext cx="11155680" cy="548640"/>
          </a:xfrm>
          <a:prstGeom prst="rect">
            <a:avLst/>
          </a:prstGeom>
          <a:noFill/>
          <a:ln/>
        </p:spPr>
        <p:txBody>
          <a:bodyPr wrap="square" lIns="0" tIns="0" rIns="0" bIns="0" rtlCol="0" anchor="ctr"/>
          <a:lstStyle/>
          <a:p>
            <a:pPr indent="0" marL="0">
              <a:buNone/>
            </a:pPr>
            <a:r>
              <a:rPr lang="en-US" sz="3000" b="1" dirty="0">
                <a:solidFill>
                  <a:srgbClr val="202B32"/>
                </a:solidFill>
                <a:latin typeface="Arial" pitchFamily="34" charset="0"/>
                <a:ea typeface="Arial" pitchFamily="34" charset="-122"/>
                <a:cs typeface="Arial" pitchFamily="34" charset="-120"/>
              </a:rPr>
              <a:t>Products and by-products</a:t>
            </a:r>
            <a:endParaRPr lang="en-US" sz="3000" dirty="0"/>
          </a:p>
        </p:txBody>
      </p:sp>
      <p:sp>
        <p:nvSpPr>
          <p:cNvPr id="4" name="Text 2"/>
          <p:cNvSpPr txBox="1"/>
          <p:nvPr/>
        </p:nvSpPr>
        <p:spPr>
          <a:xfrm>
            <a:off x="502920" y="6419088"/>
            <a:ext cx="10698480" cy="219456"/>
          </a:xfrm>
          <a:prstGeom prst="rect">
            <a:avLst/>
          </a:prstGeom>
          <a:noFill/>
          <a:ln/>
        </p:spPr>
        <p:txBody>
          <a:bodyPr wrap="square" lIns="0" tIns="0" rIns="0" bIns="0" rtlCol="0" anchor="ctr"/>
          <a:lstStyle/>
          <a:p>
            <a:pPr indent="0" marL="0">
              <a:buNone/>
            </a:pPr>
            <a:r>
              <a:rPr lang="en-US" sz="930" dirty="0">
                <a:solidFill>
                  <a:srgbClr val="56636B"/>
                </a:solidFill>
                <a:latin typeface="Arial" pitchFamily="34" charset="0"/>
                <a:ea typeface="Arial" pitchFamily="34" charset="-122"/>
                <a:cs typeface="Arial" pitchFamily="34" charset="-120"/>
              </a:rPr>
              <a:t>[B] Table 8.2, p. 202  ·  Yield ranges are independent examples, not one mass balance</a:t>
            </a:r>
            <a:endParaRPr lang="en-US" sz="930" dirty="0"/>
          </a:p>
        </p:txBody>
      </p:sp>
      <p:sp>
        <p:nvSpPr>
          <p:cNvPr id="5" name="Text 3"/>
          <p:cNvSpPr txBox="1"/>
          <p:nvPr/>
        </p:nvSpPr>
        <p:spPr>
          <a:xfrm>
            <a:off x="11064240" y="6400800"/>
            <a:ext cx="640080" cy="246888"/>
          </a:xfrm>
          <a:prstGeom prst="rect">
            <a:avLst/>
          </a:prstGeom>
          <a:noFill/>
          <a:ln/>
        </p:spPr>
        <p:txBody>
          <a:bodyPr wrap="square" lIns="0" tIns="0" rIns="0" bIns="0" rtlCol="0" anchor="ctr"/>
          <a:lstStyle/>
          <a:p>
            <a:pPr algn="r" indent="0" marL="0">
              <a:buNone/>
            </a:pPr>
            <a:r>
              <a:rPr lang="en-US" sz="1000" dirty="0">
                <a:solidFill>
                  <a:srgbClr val="56636B"/>
                </a:solidFill>
                <a:latin typeface="Arial" pitchFamily="34" charset="0"/>
                <a:ea typeface="Arial" pitchFamily="34" charset="-122"/>
                <a:cs typeface="Arial" pitchFamily="34" charset="-120"/>
              </a:rPr>
              <a:t>9 / 10</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18520" cy="914400"/>
        </p:xfrm>
        <a:graphic>
          <a:graphicData uri="http://schemas.openxmlformats.org/drawingml/2006/table">
            <a:tbl>
              <a:tblPr/>
              <a:tblGrid>
                <a:gridCol w="3154680"/>
                <a:gridCol w="2423160"/>
                <a:gridCol w="5440680"/>
              </a:tblGrid>
              <a:tr h="548640">
                <a:tc>
                  <a:txBody>
                    <a:bodyPr/>
                    <a:lstStyle/>
                    <a:p>
                      <a:pPr indent="0" marL="0">
                        <a:buNone/>
                      </a:pPr>
                      <a:r>
                        <a:rPr lang="en-US" sz="1800" b="1" dirty="0">
                          <a:solidFill>
                            <a:srgbClr val="FFFFFF"/>
                          </a:solidFill>
                          <a:latin typeface="Arial" pitchFamily="34" charset="0"/>
                          <a:ea typeface="Arial" pitchFamily="34" charset="-122"/>
                          <a:cs typeface="Arial" pitchFamily="34" charset="-120"/>
                        </a:rPr>
                        <a:t>Stream</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202B32"/>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Indicative yield</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202B32"/>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Use / consequence</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202B32"/>
                    </a:solidFill>
                  </a:tcPr>
                </a:tc>
              </a:tr>
              <a:tr h="548640">
                <a:tc>
                  <a:txBody>
                    <a:bodyPr/>
                    <a:lstStyle/>
                    <a:p>
                      <a:pPr indent="0" marL="0">
                        <a:buNone/>
                      </a:pPr>
                      <a:r>
                        <a:rPr lang="en-US" sz="1800" dirty="0">
                          <a:solidFill>
                            <a:srgbClr val="202B32"/>
                          </a:solidFill>
                          <a:latin typeface="Arial" pitchFamily="34" charset="0"/>
                          <a:ea typeface="Arial" pitchFamily="34" charset="-122"/>
                          <a:cs typeface="Arial" pitchFamily="34" charset="-120"/>
                        </a:rPr>
                        <a:t>Gasoline</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800" dirty="0">
                          <a:solidFill>
                            <a:srgbClr val="202B32"/>
                          </a:solidFill>
                          <a:latin typeface="Arial" pitchFamily="34" charset="0"/>
                          <a:ea typeface="Arial" pitchFamily="34" charset="-122"/>
                          <a:cs typeface="Arial" pitchFamily="34" charset="-120"/>
                        </a:rPr>
                        <a:t>35–60 wt%</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800" dirty="0">
                          <a:solidFill>
                            <a:srgbClr val="202B32"/>
                          </a:solidFill>
                          <a:latin typeface="Arial" pitchFamily="34" charset="0"/>
                          <a:ea typeface="Arial" pitchFamily="34" charset="-122"/>
                          <a:cs typeface="Arial" pitchFamily="34" charset="-120"/>
                        </a:rPr>
                        <a:t>Main fuel blending component</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r h="548640">
                <a:tc>
                  <a:txBody>
                    <a:bodyPr/>
                    <a:lstStyle/>
                    <a:p>
                      <a:pPr indent="0" marL="0">
                        <a:buNone/>
                      </a:pPr>
                      <a:r>
                        <a:rPr lang="en-US" sz="1800" dirty="0">
                          <a:solidFill>
                            <a:srgbClr val="202B32"/>
                          </a:solidFill>
                          <a:latin typeface="Arial" pitchFamily="34" charset="0"/>
                          <a:ea typeface="Arial" pitchFamily="34" charset="-122"/>
                          <a:cs typeface="Arial" pitchFamily="34" charset="-120"/>
                        </a:rPr>
                        <a:t>LPG (C₃–C₄)</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800" dirty="0">
                          <a:solidFill>
                            <a:srgbClr val="202B32"/>
                          </a:solidFill>
                          <a:latin typeface="Arial" pitchFamily="34" charset="0"/>
                          <a:ea typeface="Arial" pitchFamily="34" charset="-122"/>
                          <a:cs typeface="Arial" pitchFamily="34" charset="-120"/>
                        </a:rPr>
                        <a:t>8–20 wt%</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800" dirty="0">
                          <a:solidFill>
                            <a:srgbClr val="202B32"/>
                          </a:solidFill>
                          <a:latin typeface="Arial" pitchFamily="34" charset="0"/>
                          <a:ea typeface="Arial" pitchFamily="34" charset="-122"/>
                          <a:cs typeface="Arial" pitchFamily="34" charset="-120"/>
                        </a:rPr>
                        <a:t>Propylene, butenes and alkylation feed</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r h="548640">
                <a:tc>
                  <a:txBody>
                    <a:bodyPr/>
                    <a:lstStyle/>
                    <a:p>
                      <a:pPr indent="0" marL="0">
                        <a:buNone/>
                      </a:pPr>
                      <a:r>
                        <a:rPr lang="en-US" sz="1800" dirty="0">
                          <a:solidFill>
                            <a:srgbClr val="202B32"/>
                          </a:solidFill>
                          <a:latin typeface="Arial" pitchFamily="34" charset="0"/>
                          <a:ea typeface="Arial" pitchFamily="34" charset="-122"/>
                          <a:cs typeface="Arial" pitchFamily="34" charset="-120"/>
                        </a:rPr>
                        <a:t>Light cycle oil (LCO)</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800" dirty="0">
                          <a:solidFill>
                            <a:srgbClr val="202B32"/>
                          </a:solidFill>
                          <a:latin typeface="Arial" pitchFamily="34" charset="0"/>
                          <a:ea typeface="Arial" pitchFamily="34" charset="-122"/>
                          <a:cs typeface="Arial" pitchFamily="34" charset="-120"/>
                        </a:rPr>
                        <a:t>12–20 wt%</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800" dirty="0">
                          <a:solidFill>
                            <a:srgbClr val="202B32"/>
                          </a:solidFill>
                          <a:latin typeface="Arial" pitchFamily="34" charset="0"/>
                          <a:ea typeface="Arial" pitchFamily="34" charset="-122"/>
                          <a:cs typeface="Arial" pitchFamily="34" charset="-120"/>
                        </a:rPr>
                        <a:t>Distillate feed requiring upgrading</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r h="548640">
                <a:tc>
                  <a:txBody>
                    <a:bodyPr/>
                    <a:lstStyle/>
                    <a:p>
                      <a:pPr indent="0" marL="0">
                        <a:buNone/>
                      </a:pPr>
                      <a:r>
                        <a:rPr lang="en-US" sz="1800" dirty="0">
                          <a:solidFill>
                            <a:srgbClr val="202B32"/>
                          </a:solidFill>
                          <a:latin typeface="Arial" pitchFamily="34" charset="0"/>
                          <a:ea typeface="Arial" pitchFamily="34" charset="-122"/>
                          <a:cs typeface="Arial" pitchFamily="34" charset="-120"/>
                        </a:rPr>
                        <a:t>HCO + slurry</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800" dirty="0">
                          <a:solidFill>
                            <a:srgbClr val="202B32"/>
                          </a:solidFill>
                          <a:latin typeface="Arial" pitchFamily="34" charset="0"/>
                          <a:ea typeface="Arial" pitchFamily="34" charset="-122"/>
                          <a:cs typeface="Arial" pitchFamily="34" charset="-120"/>
                        </a:rPr>
                        <a:t>10–15 wt%</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800" dirty="0">
                          <a:solidFill>
                            <a:srgbClr val="202B32"/>
                          </a:solidFill>
                          <a:latin typeface="Arial" pitchFamily="34" charset="0"/>
                          <a:ea typeface="Arial" pitchFamily="34" charset="-122"/>
                          <a:cs typeface="Arial" pitchFamily="34" charset="-120"/>
                        </a:rPr>
                        <a:t>Heavy aromatic oil with catalyst fines</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r h="548640">
                <a:tc>
                  <a:txBody>
                    <a:bodyPr/>
                    <a:lstStyle/>
                    <a:p>
                      <a:pPr indent="0" marL="0">
                        <a:buNone/>
                      </a:pPr>
                      <a:r>
                        <a:rPr lang="en-US" sz="1800" dirty="0">
                          <a:solidFill>
                            <a:srgbClr val="202B32"/>
                          </a:solidFill>
                          <a:latin typeface="Arial" pitchFamily="34" charset="0"/>
                          <a:ea typeface="Arial" pitchFamily="34" charset="-122"/>
                          <a:cs typeface="Arial" pitchFamily="34" charset="-120"/>
                        </a:rPr>
                        <a:t>Dry gas + H₂S</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800" dirty="0">
                          <a:solidFill>
                            <a:srgbClr val="202B32"/>
                          </a:solidFill>
                          <a:latin typeface="Arial" pitchFamily="34" charset="0"/>
                          <a:ea typeface="Arial" pitchFamily="34" charset="-122"/>
                          <a:cs typeface="Arial" pitchFamily="34" charset="-120"/>
                        </a:rPr>
                        <a:t>3–5 wt%</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800" dirty="0">
                          <a:solidFill>
                            <a:srgbClr val="202B32"/>
                          </a:solidFill>
                          <a:latin typeface="Arial" pitchFamily="34" charset="0"/>
                          <a:ea typeface="Arial" pitchFamily="34" charset="-122"/>
                          <a:cs typeface="Arial" pitchFamily="34" charset="-120"/>
                        </a:rPr>
                        <a:t>Fuel gas after treating / sulfur recovery</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r h="548640">
                <a:tc>
                  <a:txBody>
                    <a:bodyPr/>
                    <a:lstStyle/>
                    <a:p>
                      <a:pPr indent="0" marL="0">
                        <a:buNone/>
                      </a:pPr>
                      <a:r>
                        <a:rPr lang="en-US" sz="1800" dirty="0">
                          <a:solidFill>
                            <a:srgbClr val="202B32"/>
                          </a:solidFill>
                          <a:latin typeface="Arial" pitchFamily="34" charset="0"/>
                          <a:ea typeface="Arial" pitchFamily="34" charset="-122"/>
                          <a:cs typeface="Arial" pitchFamily="34" charset="-120"/>
                        </a:rPr>
                        <a:t>Coke on catalyst</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800" dirty="0">
                          <a:solidFill>
                            <a:srgbClr val="202B32"/>
                          </a:solidFill>
                          <a:latin typeface="Arial" pitchFamily="34" charset="0"/>
                          <a:ea typeface="Arial" pitchFamily="34" charset="-122"/>
                          <a:cs typeface="Arial" pitchFamily="34" charset="-120"/>
                        </a:rPr>
                        <a:t>3–5 wt%</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800" dirty="0">
                          <a:solidFill>
                            <a:srgbClr val="202B32"/>
                          </a:solidFill>
                          <a:latin typeface="Arial" pitchFamily="34" charset="0"/>
                          <a:ea typeface="Arial" pitchFamily="34" charset="-122"/>
                          <a:cs typeface="Arial" pitchFamily="34" charset="-120"/>
                        </a:rPr>
                        <a:t>Burned in regenerator for process heat</a:t>
                      </a:r>
                      <a:endParaRPr lang="en-US" sz="18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548640" y="5705856"/>
            <a:ext cx="3675888" cy="365760"/>
          </a:xfrm>
          <a:prstGeom prst="rect">
            <a:avLst/>
          </a:prstGeom>
          <a:noFill/>
          <a:ln/>
        </p:spPr>
        <p:txBody>
          <a:bodyPr wrap="square" lIns="0" tIns="0" rIns="0" bIns="0" rtlCol="0" anchor="ctr"/>
          <a:lstStyle/>
          <a:p>
            <a:pPr indent="0" marL="0">
              <a:buNone/>
            </a:pPr>
            <a:r>
              <a:rPr lang="en-US" sz="2000" b="1" dirty="0">
                <a:solidFill>
                  <a:srgbClr val="BD5129"/>
                </a:solidFill>
                <a:latin typeface="Arial" pitchFamily="34" charset="0"/>
                <a:ea typeface="Arial" pitchFamily="34" charset="-122"/>
                <a:cs typeface="Arial" pitchFamily="34" charset="-120"/>
              </a:rPr>
              <a:t>Regenerator by-products</a:t>
            </a:r>
            <a:endParaRPr lang="en-US" sz="2000" dirty="0"/>
          </a:p>
        </p:txBody>
      </p:sp>
      <p:sp>
        <p:nvSpPr>
          <p:cNvPr id="9" name="Text 5"/>
          <p:cNvSpPr txBox="1"/>
          <p:nvPr/>
        </p:nvSpPr>
        <p:spPr>
          <a:xfrm>
            <a:off x="4270248" y="5705856"/>
            <a:ext cx="7315200" cy="384048"/>
          </a:xfrm>
          <a:prstGeom prst="rect">
            <a:avLst/>
          </a:prstGeom>
          <a:noFill/>
          <a:ln/>
        </p:spPr>
        <p:txBody>
          <a:bodyPr wrap="square" lIns="0" tIns="0" rIns="0" bIns="0" rtlCol="0" anchor="ctr"/>
          <a:lstStyle/>
          <a:p>
            <a:pPr indent="0" marL="0">
              <a:buNone/>
            </a:pPr>
            <a:r>
              <a:rPr lang="en-US" sz="1800" dirty="0">
                <a:solidFill>
                  <a:srgbClr val="56636B"/>
                </a:solidFill>
                <a:latin typeface="Arial" pitchFamily="34" charset="0"/>
                <a:ea typeface="Arial" pitchFamily="34" charset="-122"/>
                <a:cs typeface="Arial" pitchFamily="34" charset="-120"/>
              </a:rPr>
              <a:t>Flue gas (CO₂ / CO), water and possible SOₓ / NOₓ / fines.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256032"/>
            <a:ext cx="9144000" cy="219456"/>
          </a:xfrm>
          <a:prstGeom prst="rect">
            <a:avLst/>
          </a:prstGeom>
          <a:noFill/>
          <a:ln/>
        </p:spPr>
        <p:txBody>
          <a:bodyPr wrap="square" lIns="0" tIns="0" rIns="0" bIns="0" rtlCol="0" anchor="ctr"/>
          <a:lstStyle/>
          <a:p>
            <a:pPr indent="0" marL="0">
              <a:buNone/>
            </a:pPr>
            <a:r>
              <a:rPr lang="en-US" sz="1050" dirty="0">
                <a:solidFill>
                  <a:srgbClr val="56636B"/>
                </a:solidFill>
                <a:latin typeface="Arial" pitchFamily="34" charset="0"/>
                <a:ea typeface="Arial" pitchFamily="34" charset="-122"/>
                <a:cs typeface="Arial" pitchFamily="34" charset="-120"/>
              </a:rPr>
              <a:t>Petroleum Refining Engineering</a:t>
            </a:r>
            <a:endParaRPr lang="en-US" sz="1050" dirty="0"/>
          </a:p>
        </p:txBody>
      </p:sp>
      <p:sp>
        <p:nvSpPr>
          <p:cNvPr id="3" name="Text 1"/>
          <p:cNvSpPr txBox="1"/>
          <p:nvPr/>
        </p:nvSpPr>
        <p:spPr>
          <a:xfrm>
            <a:off x="502920" y="713232"/>
            <a:ext cx="11155680" cy="548640"/>
          </a:xfrm>
          <a:prstGeom prst="rect">
            <a:avLst/>
          </a:prstGeom>
          <a:noFill/>
          <a:ln/>
        </p:spPr>
        <p:txBody>
          <a:bodyPr wrap="square" lIns="0" tIns="0" rIns="0" bIns="0" rtlCol="0" anchor="ctr"/>
          <a:lstStyle/>
          <a:p>
            <a:pPr indent="0" marL="0">
              <a:buNone/>
            </a:pPr>
            <a:r>
              <a:rPr lang="en-US" sz="3000" b="1" dirty="0">
                <a:solidFill>
                  <a:srgbClr val="202B32"/>
                </a:solidFill>
                <a:latin typeface="Arial" pitchFamily="34" charset="0"/>
                <a:ea typeface="Arial" pitchFamily="34" charset="-122"/>
                <a:cs typeface="Arial" pitchFamily="34" charset="-120"/>
              </a:rPr>
              <a:t>Optimization and references</a:t>
            </a:r>
            <a:endParaRPr lang="en-US" sz="3000" dirty="0"/>
          </a:p>
        </p:txBody>
      </p:sp>
      <p:sp>
        <p:nvSpPr>
          <p:cNvPr id="4" name="Text 2"/>
          <p:cNvSpPr txBox="1"/>
          <p:nvPr/>
        </p:nvSpPr>
        <p:spPr>
          <a:xfrm>
            <a:off x="502920" y="6419088"/>
            <a:ext cx="10698480" cy="219456"/>
          </a:xfrm>
          <a:prstGeom prst="rect">
            <a:avLst/>
          </a:prstGeom>
          <a:noFill/>
          <a:ln/>
        </p:spPr>
        <p:txBody>
          <a:bodyPr wrap="square" lIns="0" tIns="0" rIns="0" bIns="0" rtlCol="0" anchor="ctr"/>
          <a:lstStyle/>
          <a:p>
            <a:pPr indent="0" marL="0">
              <a:buNone/>
            </a:pPr>
            <a:r>
              <a:rPr lang="en-US" sz="930" dirty="0">
                <a:solidFill>
                  <a:srgbClr val="56636B"/>
                </a:solidFill>
                <a:latin typeface="Arial" pitchFamily="34" charset="0"/>
                <a:ea typeface="Arial" pitchFamily="34" charset="-122"/>
                <a:cs typeface="Arial" pitchFamily="34" charset="-120"/>
              </a:rPr>
              <a:t>Source keys throughout: [L] supplied lecture PDF pages  ·  [B] textbook printed pages</a:t>
            </a:r>
            <a:endParaRPr lang="en-US" sz="930" dirty="0"/>
          </a:p>
        </p:txBody>
      </p:sp>
      <p:sp>
        <p:nvSpPr>
          <p:cNvPr id="5" name="Text 3"/>
          <p:cNvSpPr txBox="1"/>
          <p:nvPr/>
        </p:nvSpPr>
        <p:spPr>
          <a:xfrm>
            <a:off x="11064240" y="6400800"/>
            <a:ext cx="640080" cy="246888"/>
          </a:xfrm>
          <a:prstGeom prst="rect">
            <a:avLst/>
          </a:prstGeom>
          <a:noFill/>
          <a:ln/>
        </p:spPr>
        <p:txBody>
          <a:bodyPr wrap="square" lIns="0" tIns="0" rIns="0" bIns="0" rtlCol="0" anchor="ctr"/>
          <a:lstStyle/>
          <a:p>
            <a:pPr algn="r" indent="0" marL="0">
              <a:buNone/>
            </a:pPr>
            <a:r>
              <a:rPr lang="en-US" sz="1000" dirty="0">
                <a:solidFill>
                  <a:srgbClr val="56636B"/>
                </a:solidFill>
                <a:latin typeface="Arial" pitchFamily="34" charset="0"/>
                <a:ea typeface="Arial" pitchFamily="34" charset="-122"/>
                <a:cs typeface="Arial" pitchFamily="34" charset="-120"/>
              </a:rPr>
              <a:t>10 / 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18520" cy="914400"/>
        </p:xfrm>
        <a:graphic>
          <a:graphicData uri="http://schemas.openxmlformats.org/drawingml/2006/table">
            <a:tbl>
              <a:tblPr/>
              <a:tblGrid>
                <a:gridCol w="2148840"/>
                <a:gridCol w="4590288"/>
                <a:gridCol w="4279392"/>
              </a:tblGrid>
              <a:tr h="667512">
                <a:tc>
                  <a:txBody>
                    <a:bodyPr/>
                    <a:lstStyle/>
                    <a:p>
                      <a:pPr indent="0" marL="0">
                        <a:buNone/>
                      </a:pPr>
                      <a:r>
                        <a:rPr lang="en-US" sz="1700" b="1" dirty="0">
                          <a:solidFill>
                            <a:srgbClr val="FFFFFF"/>
                          </a:solidFill>
                          <a:latin typeface="Arial" pitchFamily="34" charset="0"/>
                          <a:ea typeface="Arial" pitchFamily="34" charset="-122"/>
                          <a:cs typeface="Arial" pitchFamily="34" charset="-120"/>
                        </a:rPr>
                        <a:t>Target / issue</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202B32"/>
                    </a:solidFill>
                  </a:tcPr>
                </a:tc>
                <a:tc>
                  <a:txBody>
                    <a:bodyPr/>
                    <a:lstStyle/>
                    <a:p>
                      <a:pPr indent="0" marL="0">
                        <a:buNone/>
                      </a:pPr>
                      <a:r>
                        <a:rPr lang="en-US" sz="1700" b="1" dirty="0">
                          <a:solidFill>
                            <a:srgbClr val="FFFFFF"/>
                          </a:solidFill>
                          <a:latin typeface="Arial" pitchFamily="34" charset="0"/>
                          <a:ea typeface="Arial" pitchFamily="34" charset="-122"/>
                          <a:cs typeface="Arial" pitchFamily="34" charset="-120"/>
                        </a:rPr>
                        <a:t>Adjustment</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202B32"/>
                    </a:solidFill>
                  </a:tcPr>
                </a:tc>
                <a:tc>
                  <a:txBody>
                    <a:bodyPr/>
                    <a:lstStyle/>
                    <a:p>
                      <a:pPr indent="0" marL="0">
                        <a:buNone/>
                      </a:pPr>
                      <a:r>
                        <a:rPr lang="en-US" sz="1700" b="1" dirty="0">
                          <a:solidFill>
                            <a:srgbClr val="FFFFFF"/>
                          </a:solidFill>
                          <a:latin typeface="Arial" pitchFamily="34" charset="0"/>
                          <a:ea typeface="Arial" pitchFamily="34" charset="-122"/>
                          <a:cs typeface="Arial" pitchFamily="34" charset="-120"/>
                        </a:rPr>
                        <a:t>Trade-off / constraint</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202B32"/>
                    </a:solidFill>
                  </a:tcPr>
                </a:tc>
              </a:tr>
              <a:tr h="667512">
                <a:tc>
                  <a:txBody>
                    <a:bodyPr/>
                    <a:lstStyle/>
                    <a:p>
                      <a:pPr indent="0" marL="0">
                        <a:buNone/>
                      </a:pPr>
                      <a:r>
                        <a:rPr lang="en-US" sz="1700" dirty="0">
                          <a:solidFill>
                            <a:srgbClr val="202B32"/>
                          </a:solidFill>
                          <a:latin typeface="Arial" pitchFamily="34" charset="0"/>
                          <a:ea typeface="Arial" pitchFamily="34" charset="-122"/>
                          <a:cs typeface="Arial" pitchFamily="34" charset="-120"/>
                        </a:rPr>
                        <a:t>More gasoline</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700" dirty="0">
                          <a:solidFill>
                            <a:srgbClr val="202B32"/>
                          </a:solidFill>
                          <a:latin typeface="Arial" pitchFamily="34" charset="0"/>
                          <a:ea typeface="Arial" pitchFamily="34" charset="-122"/>
                          <a:cs typeface="Arial" pitchFamily="34" charset="-120"/>
                        </a:rPr>
                        <a:t>Tune severity; improve atomisation</a:t>
                      </a:r>
                      <a:endParaRPr lang="en-US" sz="1700" dirty="0">
                        <a:latin typeface="Arial" charset="0"/>
                        <a:ea typeface="Arial" charset="0"/>
                        <a:cs typeface="Arial" charset="0"/>
                      </a:endParaRPr>
                    </a:p>
                    <a:p>
                      <a:pPr indent="0" marL="0">
                        <a:buNone/>
                      </a:pPr>
                      <a:r>
                        <a:rPr lang="en-US" sz="1700" dirty="0">
                          <a:solidFill>
                            <a:srgbClr val="202B32"/>
                          </a:solidFill>
                          <a:latin typeface="Arial" pitchFamily="34" charset="0"/>
                          <a:ea typeface="Arial" pitchFamily="34" charset="-122"/>
                          <a:cs typeface="Arial" pitchFamily="34" charset="-120"/>
                        </a:rPr>
                        <a:t>and rapid separation</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700" dirty="0">
                          <a:solidFill>
                            <a:srgbClr val="202B32"/>
                          </a:solidFill>
                          <a:latin typeface="Arial" pitchFamily="34" charset="0"/>
                          <a:ea typeface="Arial" pitchFamily="34" charset="-122"/>
                          <a:cs typeface="Arial" pitchFamily="34" charset="-120"/>
                        </a:rPr>
                        <a:t>Excess severity overcracks gasoline</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r h="667512">
                <a:tc>
                  <a:txBody>
                    <a:bodyPr/>
                    <a:lstStyle/>
                    <a:p>
                      <a:pPr indent="0" marL="0">
                        <a:buNone/>
                      </a:pPr>
                      <a:r>
                        <a:rPr lang="en-US" sz="1700" dirty="0">
                          <a:solidFill>
                            <a:srgbClr val="202B32"/>
                          </a:solidFill>
                          <a:latin typeface="Arial" pitchFamily="34" charset="0"/>
                          <a:ea typeface="Arial" pitchFamily="34" charset="-122"/>
                          <a:cs typeface="Arial" pitchFamily="34" charset="-120"/>
                        </a:rPr>
                        <a:t>More propylene</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700" dirty="0">
                          <a:solidFill>
                            <a:srgbClr val="202B32"/>
                          </a:solidFill>
                          <a:latin typeface="Arial" pitchFamily="34" charset="0"/>
                          <a:ea typeface="Arial" pitchFamily="34" charset="-122"/>
                          <a:cs typeface="Arial" pitchFamily="34" charset="-120"/>
                        </a:rPr>
                        <a:t>ZSM-5 additive; greater severity</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700" dirty="0">
                          <a:solidFill>
                            <a:srgbClr val="202B32"/>
                          </a:solidFill>
                          <a:latin typeface="Arial" pitchFamily="34" charset="0"/>
                          <a:ea typeface="Arial" pitchFamily="34" charset="-122"/>
                          <a:cs typeface="Arial" pitchFamily="34" charset="-120"/>
                        </a:rPr>
                        <a:t>Gasoline loss; gas recovery capacity</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r h="667512">
                <a:tc>
                  <a:txBody>
                    <a:bodyPr/>
                    <a:lstStyle/>
                    <a:p>
                      <a:pPr indent="0" marL="0">
                        <a:buNone/>
                      </a:pPr>
                      <a:r>
                        <a:rPr lang="en-US" sz="1700" dirty="0">
                          <a:solidFill>
                            <a:srgbClr val="202B32"/>
                          </a:solidFill>
                          <a:latin typeface="Arial" pitchFamily="34" charset="0"/>
                          <a:ea typeface="Arial" pitchFamily="34" charset="-122"/>
                          <a:cs typeface="Arial" pitchFamily="34" charset="-120"/>
                        </a:rPr>
                        <a:t>Less coke / dry gas</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700" dirty="0">
                          <a:solidFill>
                            <a:srgbClr val="202B32"/>
                          </a:solidFill>
                          <a:latin typeface="Arial" pitchFamily="34" charset="0"/>
                          <a:ea typeface="Arial" pitchFamily="34" charset="-122"/>
                          <a:cs typeface="Arial" pitchFamily="34" charset="-120"/>
                        </a:rPr>
                        <a:t>Reduce feed metals; manage catalyst</a:t>
                      </a:r>
                      <a:endParaRPr lang="en-US" sz="1700" dirty="0">
                        <a:latin typeface="Arial" charset="0"/>
                        <a:ea typeface="Arial" charset="0"/>
                        <a:cs typeface="Arial" charset="0"/>
                      </a:endParaRPr>
                    </a:p>
                    <a:p>
                      <a:pPr indent="0" marL="0">
                        <a:buNone/>
                      </a:pPr>
                      <a:r>
                        <a:rPr lang="en-US" sz="1700" dirty="0">
                          <a:solidFill>
                            <a:srgbClr val="202B32"/>
                          </a:solidFill>
                          <a:latin typeface="Arial" pitchFamily="34" charset="0"/>
                          <a:ea typeface="Arial" pitchFamily="34" charset="-122"/>
                          <a:cs typeface="Arial" pitchFamily="34" charset="-120"/>
                        </a:rPr>
                        <a:t>activity and steam stripping</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700" dirty="0">
                          <a:solidFill>
                            <a:srgbClr val="202B32"/>
                          </a:solidFill>
                          <a:latin typeface="Arial" pitchFamily="34" charset="0"/>
                          <a:ea typeface="Arial" pitchFamily="34" charset="-122"/>
                          <a:cs typeface="Arial" pitchFamily="34" charset="-120"/>
                        </a:rPr>
                        <a:t>Pretreatment cost; heat still needed</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r h="667512">
                <a:tc>
                  <a:txBody>
                    <a:bodyPr/>
                    <a:lstStyle/>
                    <a:p>
                      <a:pPr indent="0" marL="0">
                        <a:buNone/>
                      </a:pPr>
                      <a:r>
                        <a:rPr lang="en-US" sz="1700" dirty="0">
                          <a:solidFill>
                            <a:srgbClr val="202B32"/>
                          </a:solidFill>
                          <a:latin typeface="Arial" pitchFamily="34" charset="0"/>
                          <a:ea typeface="Arial" pitchFamily="34" charset="-122"/>
                          <a:cs typeface="Arial" pitchFamily="34" charset="-120"/>
                        </a:rPr>
                        <a:t>Stable heat balance</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700" dirty="0">
                          <a:solidFill>
                            <a:srgbClr val="202B32"/>
                          </a:solidFill>
                          <a:latin typeface="Arial" pitchFamily="34" charset="0"/>
                          <a:ea typeface="Arial" pitchFamily="34" charset="-122"/>
                          <a:cs typeface="Arial" pitchFamily="34" charset="-120"/>
                        </a:rPr>
                        <a:t>Coordinate catalyst circulation,</a:t>
                      </a:r>
                      <a:endParaRPr lang="en-US" sz="1700" dirty="0">
                        <a:latin typeface="Arial" charset="0"/>
                        <a:ea typeface="Arial" charset="0"/>
                        <a:cs typeface="Arial" charset="0"/>
                      </a:endParaRPr>
                    </a:p>
                    <a:p>
                      <a:pPr indent="0" marL="0">
                        <a:buNone/>
                      </a:pPr>
                      <a:r>
                        <a:rPr lang="en-US" sz="1700" dirty="0">
                          <a:solidFill>
                            <a:srgbClr val="202B32"/>
                          </a:solidFill>
                          <a:latin typeface="Arial" pitchFamily="34" charset="0"/>
                          <a:ea typeface="Arial" pitchFamily="34" charset="-122"/>
                          <a:cs typeface="Arial" pitchFamily="34" charset="-120"/>
                        </a:rPr>
                        <a:t>feed preheat and regeneration air</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c>
                  <a:txBody>
                    <a:bodyPr/>
                    <a:lstStyle/>
                    <a:p>
                      <a:pPr indent="0" marL="0">
                        <a:buNone/>
                      </a:pPr>
                      <a:r>
                        <a:rPr lang="en-US" sz="1700" dirty="0">
                          <a:solidFill>
                            <a:srgbClr val="202B32"/>
                          </a:solidFill>
                          <a:latin typeface="Arial" pitchFamily="34" charset="0"/>
                          <a:ea typeface="Arial" pitchFamily="34" charset="-122"/>
                          <a:cs typeface="Arial" pitchFamily="34" charset="-120"/>
                        </a:rPr>
                        <a:t>Regenerator temperature / air limits</a:t>
                      </a:r>
                      <a:endParaRPr lang="en-US" sz="1700" dirty="0">
                        <a:latin typeface="Arial" charset="0"/>
                        <a:ea typeface="Arial" charset="0"/>
                        <a:cs typeface="Arial" charset="0"/>
                      </a:endParaRPr>
                    </a:p>
                  </a:txBody>
                  <a:tcPr marL="118872" marR="118872" marT="118872" marB="118872">
                    <a:lnL w="8890" cap="flat" cmpd="sng" algn="ctr">
                      <a:solidFill>
                        <a:srgbClr val="CBD5DA"/>
                      </a:solidFill>
                      <a:prstDash val="solid"/>
                      <a:round/>
                      <a:headEnd type="none" w="med" len="med"/>
                      <a:tailEnd type="none" w="med" len="med"/>
                    </a:lnL>
                    <a:lnR w="8890" cap="flat" cmpd="sng" algn="ctr">
                      <a:solidFill>
                        <a:srgbClr val="CBD5DA"/>
                      </a:solidFill>
                      <a:prstDash val="solid"/>
                      <a:round/>
                      <a:headEnd type="none" w="med" len="med"/>
                      <a:tailEnd type="none" w="med" len="med"/>
                    </a:lnR>
                    <a:lnT w="8890" cap="flat" cmpd="sng" algn="ctr">
                      <a:solidFill>
                        <a:srgbClr val="CBD5DA"/>
                      </a:solidFill>
                      <a:prstDash val="solid"/>
                      <a:round/>
                      <a:headEnd type="none" w="med" len="med"/>
                      <a:tailEnd type="none" w="med" len="med"/>
                    </a:lnT>
                    <a:lnB w="8890" cap="flat" cmpd="sng" algn="ctr">
                      <a:solidFill>
                        <a:srgbClr val="CBD5DA"/>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548640" y="5202936"/>
            <a:ext cx="2103120" cy="329184"/>
          </a:xfrm>
          <a:prstGeom prst="rect">
            <a:avLst/>
          </a:prstGeom>
          <a:noFill/>
          <a:ln/>
        </p:spPr>
        <p:txBody>
          <a:bodyPr wrap="square" lIns="0" tIns="0" rIns="0" bIns="0" rtlCol="0" anchor="ctr"/>
          <a:lstStyle/>
          <a:p>
            <a:pPr indent="0" marL="0">
              <a:buNone/>
            </a:pPr>
            <a:r>
              <a:rPr lang="en-US" sz="2000" b="1" dirty="0">
                <a:solidFill>
                  <a:srgbClr val="BD5129"/>
                </a:solidFill>
                <a:latin typeface="Arial" pitchFamily="34" charset="0"/>
                <a:ea typeface="Arial" pitchFamily="34" charset="-122"/>
                <a:cs typeface="Arial" pitchFamily="34" charset="-120"/>
              </a:rPr>
              <a:t>References</a:t>
            </a:r>
            <a:endParaRPr lang="en-US" sz="2000" dirty="0"/>
          </a:p>
        </p:txBody>
      </p:sp>
      <p:sp>
        <p:nvSpPr>
          <p:cNvPr id="9" name="Text 5"/>
          <p:cNvSpPr txBox="1"/>
          <p:nvPr/>
        </p:nvSpPr>
        <p:spPr>
          <a:xfrm>
            <a:off x="548640" y="5623560"/>
            <a:ext cx="10991088" cy="630936"/>
          </a:xfrm>
          <a:prstGeom prst="rect">
            <a:avLst/>
          </a:prstGeom>
          <a:noFill/>
          <a:ln/>
        </p:spPr>
        <p:txBody>
          <a:bodyPr wrap="square" lIns="0" tIns="0" rIns="0" bIns="0" rtlCol="0" anchor="ctr"/>
          <a:lstStyle/>
          <a:p>
            <a:pPr indent="0" marL="0">
              <a:buNone/>
            </a:pPr>
            <a:r>
              <a:rPr lang="en-US" sz="1320" dirty="0">
                <a:solidFill>
                  <a:srgbClr val="56636B"/>
                </a:solidFill>
                <a:latin typeface="Arial" pitchFamily="34" charset="0"/>
                <a:ea typeface="Arial" pitchFamily="34" charset="-122"/>
                <a:cs typeface="Arial" pitchFamily="34" charset="-120"/>
              </a:rPr>
              <a:t>[L] Cracking and Reforming 1. Supplied Petroleum Refining Engineering lecture PDF, pp. 9–24.</a:t>
            </a:r>
            <a:endParaRPr lang="en-US" sz="1320" dirty="0"/>
          </a:p>
          <a:p>
            <a:pPr indent="0" marL="0">
              <a:buNone/>
            </a:pPr>
            <a:r>
              <a:rPr lang="en-US" sz="1320" dirty="0">
                <a:solidFill>
                  <a:srgbClr val="56636B"/>
                </a:solidFill>
                <a:latin typeface="Arial" pitchFamily="34" charset="0"/>
                <a:ea typeface="Arial" pitchFamily="34" charset="-122"/>
                <a:cs typeface="Arial" pitchFamily="34" charset="-120"/>
              </a:rPr>
              <a:t>[B] Fahim, Al-Sahhaf &amp; Elkilani (2010). Fundamentals of Petroleum Refining, Ch. 8, pp. 199–235.</a:t>
            </a:r>
            <a:endParaRPr lang="en-US" sz="1320" dirty="0"/>
          </a:p>
          <a:p>
            <a:pPr indent="0" marL="0">
              <a:buNone/>
            </a:pPr>
            <a:r>
              <a:rPr lang="en-US" sz="1320" dirty="0">
                <a:solidFill>
                  <a:srgbClr val="56636B"/>
                </a:solidFill>
                <a:latin typeface="Arial" pitchFamily="34" charset="0"/>
                <a:ea typeface="Arial" pitchFamily="34" charset="-122"/>
                <a:cs typeface="Arial" pitchFamily="34" charset="-120"/>
              </a:rPr>
              <a:t>Mechanism cross-check: Penn State FSC 432, “Ionic Chain Reactions” (link in notes).</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Course presentation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Catalytic Cracking Unit</dc:title>
  <dc:subject>Catalytic cracking unit</dc:subject>
  <dc:creator>Petroleum Refining Engineering</dc:creator>
  <cp:lastModifiedBy>Petroleum Refining Engineering</cp:lastModifiedBy>
  <cp:revision>1</cp:revision>
  <dcterms:created xsi:type="dcterms:W3CDTF">2026-09-29T17:12:16Z</dcterms:created>
  <dcterms:modified xsi:type="dcterms:W3CDTF">2026-09-29T17:12:16Z</dcterms:modified>
</cp:coreProperties>
</file>